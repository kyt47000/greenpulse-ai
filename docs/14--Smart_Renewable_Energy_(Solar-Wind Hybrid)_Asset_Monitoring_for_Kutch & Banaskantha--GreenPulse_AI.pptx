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84277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068036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30874950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1555564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91569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4174925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7100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05307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09728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95C71B-D864-CDEE-3C05-05C82EA1AF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6660021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8244458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8" y="685800"/>
            <a:ext cx="6095998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4270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63079280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8" y="685800"/>
            <a:ext cx="6095998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216236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1757935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8" y="685800"/>
            <a:ext cx="6095998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5FBD72-7D80-20AD-DE88-786AC83BE1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D84162-CC45-6FCE-7F78-34F5110148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436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7147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53155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746DEC-2450-89D6-9A70-E67B01FFD7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304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0560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794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E5820C-6EEC-4836-EC75-E6434B0645D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505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4786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05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6231B-1EAD-CA87-69CC-DCC05E6FC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6888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12447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214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95A99C-BB0D-F24C-C71C-D8BFFCD367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FB1F26-6ECB-7555-82C5-F61886ABBF2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252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5994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66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48A2BE-437A-2ECB-D79E-28B738587F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503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54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9500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3DDD82-574B-3D84-E238-282B9408E7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4913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4490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5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AFEBD7-B3E0-C896-5167-48EBF0AEA2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4953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6263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326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1A35BC-1ED7-9B19-D6BA-F4BAF57C6F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41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7647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2489A2-5EB1-953B-BAD9-1EA47675C0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070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5511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48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3DC1C4-0CAA-2A4F-D698-4552C1138C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934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41776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2258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5CDC37-E4B0-24C2-E7DD-A58A2387F4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171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765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8723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55CF3E-E511-7D0C-5BF9-F78C81DB28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931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4087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0628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7E1315-0EFC-4311-3B09-5CC72898BB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9251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41940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4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4D64E-8D8D-0DEC-768A-82EFAD2F85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4E53D7-C8A4-D02A-A8CF-55C3B88EB8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4B88D0-FAD3-97B2-634D-FC562AC261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81831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579578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3032203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85200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16574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4281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92289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6084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04430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9035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69981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26271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46053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080571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55439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6443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011671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477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669275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88749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87080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07337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22608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564074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297591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6596156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6058812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9544474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359375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4922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774041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053900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04270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0018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493046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799960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69201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29204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065189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474136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4403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00651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4129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0594199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6092612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059454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421876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58752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4922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965973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66904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72963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0314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55834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335004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78155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38377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21594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59974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94966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856899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5296669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028619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github.com/kyt47000/GreenPulse-AI" TargetMode="External"/><Relationship Id="rId4" Type="http://schemas.openxmlformats.org/officeDocument/2006/relationships/hyperlink" Target="https://github.com/kyt47000/GreenPulse-AI/blob/main/README.md" TargetMode="External"/><Relationship Id="rId5" Type="http://schemas.openxmlformats.org/officeDocument/2006/relationships/hyperlink" Target="https://kyt47000.github.io/GreenPulse-AI/" TargetMode="Externa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126509" name="Title 1"/>
          <p:cNvSpPr>
            <a:spLocks noGrp="1"/>
          </p:cNvSpPr>
          <p:nvPr>
            <p:ph type="ctr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/>
          <a:p>
            <a:pPr>
              <a:defRPr/>
            </a:pPr>
            <a:r>
              <a:rPr lang="en-US" sz="48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IBM Bob Gujarat State level Hackathon Project Submission</a:t>
            </a:r>
            <a:endParaRPr lang="en-US"/>
          </a:p>
        </p:txBody>
      </p:sp>
      <p:sp>
        <p:nvSpPr>
          <p:cNvPr id="56621829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200" b="1" i="1" u="none" strike="noStrike" cap="none" spc="0">
                <a:solidFill>
                  <a:schemeClr val="accent3"/>
                </a:solidFill>
                <a:latin typeface="IBM Plex Sans"/>
                <a:ea typeface="IBM Plex Sans"/>
                <a:cs typeface="IBM Plex Sans"/>
              </a:rPr>
              <a:t>“Exploring the Power of Agentic AI with IBM Granite and IBM Bob”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68052" name="TextBox 6"/>
          <p:cNvSpPr txBox="1"/>
          <p:nvPr/>
        </p:nvSpPr>
        <p:spPr bwMode="auto">
          <a:xfrm>
            <a:off x="1297748" y="826723"/>
            <a:ext cx="9628695" cy="82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defRPr/>
            </a:pPr>
            <a:r>
              <a:rPr lang="en-US" sz="2400" b="1">
                <a:latin typeface="IBM Plex Sans"/>
                <a:ea typeface="IBM Plex Sans"/>
                <a:cs typeface="IBM Plex Sans"/>
              </a:rPr>
              <a:t>Project Tile :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GreenPulse AI – </a:t>
            </a:r>
            <a:r>
              <a:rPr lang="en-US" sz="24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Agentic Renewable Energy 	  		 Intelligence Platform</a:t>
            </a:r>
            <a:endParaRPr sz="2800" b="0">
              <a:highlight>
                <a:srgbClr val="FFFF00"/>
              </a:highlight>
            </a:endParaRPr>
          </a:p>
        </p:txBody>
      </p:sp>
      <p:sp>
        <p:nvSpPr>
          <p:cNvPr id="1912308831" name="TextBox 3"/>
          <p:cNvSpPr txBox="1"/>
          <p:nvPr/>
        </p:nvSpPr>
        <p:spPr bwMode="auto">
          <a:xfrm>
            <a:off x="1297749" y="1735481"/>
            <a:ext cx="10283131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>
                <a:latin typeface="IBM Plex Sans"/>
                <a:ea typeface="IBM Plex Sans"/>
                <a:cs typeface="IBM Plex Sans"/>
              </a:rPr>
              <a:t>Domain of  Project : </a:t>
            </a:r>
            <a:r>
              <a:rPr lang="en-US" sz="24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Energy &amp; Sustainability</a:t>
            </a:r>
            <a:endParaRPr sz="2400" b="1">
              <a:highlight>
                <a:srgbClr val="FFFF00"/>
              </a:highlight>
              <a:latin typeface="IBM Plex Sans"/>
              <a:cs typeface="IBM Plex Sans"/>
            </a:endParaRPr>
          </a:p>
        </p:txBody>
      </p:sp>
      <p:graphicFrame>
        <p:nvGraphicFramePr>
          <p:cNvPr id="1159693754" name="Google Shape;96;p2"/>
          <p:cNvGraphicFramePr>
            <a:graphicFrameLocks xmlns:a="http://schemas.openxmlformats.org/drawingml/2006/main"/>
          </p:cNvGraphicFramePr>
          <p:nvPr/>
        </p:nvGraphicFramePr>
        <p:xfrm rot="0">
          <a:off x="1299256" y="2600314"/>
          <a:ext cx="9394988" cy="2167128"/>
        </p:xfrm>
        <a:graphic>
          <a:graphicData uri="http://schemas.openxmlformats.org/drawingml/2006/table">
            <a:tbl>
              <a:tblPr firstRow="0" firstCol="0" lastRow="0" lastCol="0" bandRow="0" bandCol="0">
                <a:noFill/>
              </a:tblPr>
              <a:tblGrid>
                <a:gridCol w="2064866"/>
                <a:gridCol w="2443374"/>
                <a:gridCol w="2511758"/>
                <a:gridCol w="2374988"/>
              </a:tblGrid>
              <a:tr h="973237"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>
                          <a:latin typeface="IBM Plex Sans"/>
                          <a:ea typeface="IBM Plex Sans"/>
                          <a:cs typeface="IBM Plex Sans"/>
                        </a:rPr>
                        <a:t>Student Name</a:t>
                      </a:r>
                      <a:endParaRPr sz="1800" u="none" strike="noStrike" cap="none"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>
                          <a:latin typeface="IBM Plex Sans"/>
                          <a:ea typeface="IBM Plex Sans"/>
                          <a:cs typeface="IBM Plex Sans"/>
                        </a:rPr>
                        <a:t>Recent Passport Photo</a:t>
                      </a:r>
                      <a:endParaRPr sz="1800" u="none" strike="noStrike" cap="none"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IBM Plex Sans"/>
                        <a:cs typeface="IBM Plex Sans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</a:tr>
              <a:tr h="1193891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>
                          <a:latin typeface="IBM Plex Sans"/>
                          <a:ea typeface="IBM Plex Sans"/>
                          <a:cs typeface="IBM Plex Sans"/>
                        </a:rPr>
                        <a:t>Yash Kayastha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>
                          <a:latin typeface="IBM Plex Sans"/>
                          <a:ea typeface="IBM Plex Sans"/>
                          <a:cs typeface="IBM Plex Sans"/>
                        </a:rPr>
                        <a:t>kyt47000@gmail.com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>
                          <a:latin typeface="IBM Plex Sans"/>
                          <a:ea typeface="IBM Plex Sans"/>
                          <a:cs typeface="IBM Plex Sans"/>
                        </a:rPr>
                        <a:t>7201862574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</a:tr>
              <a:tr h="1193891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>
                          <a:latin typeface="IBM Plex Sans"/>
                          <a:ea typeface="IBM Plex Sans"/>
                          <a:cs typeface="IBM Plex Sans"/>
                        </a:rPr>
                        <a:t>Paras Bhaliya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b="0" i="0" u="none" strike="noStrike" cap="none" spc="0">
                          <a:solidFill>
                            <a:schemeClr val="tx1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parasbhaliya2@gmail.com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b="0" i="0" u="none" strike="noStrike" cap="none" spc="0">
                          <a:solidFill>
                            <a:schemeClr val="tx1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7600645406</a:t>
                      </a:r>
                      <a:endParaRPr>
                        <a:latin typeface="IBM Plex Sans"/>
                        <a:cs typeface="IBM Plex Sans"/>
                      </a:endParaRPr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</a:tr>
            </a:tbl>
          </a:graphicData>
        </a:graphic>
      </p:graphicFrame>
      <p:pic>
        <p:nvPicPr>
          <p:cNvPr id="148508323" name=""/>
          <p:cNvPicPr>
            <a:picLocks noChangeAspect="1"/>
          </p:cNvPicPr>
          <p:nvPr/>
        </p:nvPicPr>
        <p:blipFill rotWithShape="1">
          <a:blip r:embed="rId3"/>
          <a:srcRect l="66076" t="11006" r="7292" b="48375"/>
          <a:stretch/>
        </p:blipFill>
        <p:spPr bwMode="auto">
          <a:xfrm flipH="0" flipV="0">
            <a:off x="4030714" y="4834386"/>
            <a:ext cx="782592" cy="895232"/>
          </a:xfrm>
          <a:prstGeom prst="rect">
            <a:avLst/>
          </a:prstGeom>
        </p:spPr>
      </p:pic>
      <p:pic>
        <p:nvPicPr>
          <p:cNvPr id="18821774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030714" y="3809999"/>
            <a:ext cx="782592" cy="7825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2213177" name="TextBox 1"/>
          <p:cNvSpPr txBox="1"/>
          <p:nvPr/>
        </p:nvSpPr>
        <p:spPr bwMode="auto">
          <a:xfrm flipH="0" flipV="0">
            <a:off x="576072" y="1161648"/>
            <a:ext cx="10618557" cy="701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0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Smart Renewable Energy (Solar-Wind Hybrid) Asset Monitoring for </a:t>
            </a:r>
            <a:r>
              <a:rPr lang="en-US" sz="20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Kutch &amp; Banaskantha</a:t>
            </a:r>
            <a:endParaRPr lang="en-US" sz="22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852326542" name="TextBox 2"/>
          <p:cNvSpPr txBox="1"/>
          <p:nvPr/>
        </p:nvSpPr>
        <p:spPr bwMode="auto">
          <a:xfrm>
            <a:off x="576072" y="704088"/>
            <a:ext cx="7219293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>
                <a:latin typeface="IBM Plex Sans"/>
                <a:ea typeface="IBM Plex Sans"/>
                <a:cs typeface="IBM Plex Sans"/>
              </a:rPr>
              <a:t>Problem Statement</a:t>
            </a:r>
            <a:r>
              <a:rPr lang="en-US" sz="2400" b="1">
                <a:latin typeface="IBM Plex Sans"/>
                <a:ea typeface="IBM Plex Sans"/>
                <a:cs typeface="IBM Plex Sans"/>
              </a:rPr>
              <a:t> : </a:t>
            </a:r>
            <a:endParaRPr sz="2400" b="1">
              <a:latin typeface="IBM Plex Sans"/>
              <a:cs typeface="IBM Plex Sans"/>
            </a:endParaRPr>
          </a:p>
        </p:txBody>
      </p:sp>
      <p:sp>
        <p:nvSpPr>
          <p:cNvPr id="1065032252" name="TextBox 3"/>
          <p:cNvSpPr txBox="1"/>
          <p:nvPr/>
        </p:nvSpPr>
        <p:spPr bwMode="auto">
          <a:xfrm flipH="0" flipV="0">
            <a:off x="576072" y="1954634"/>
            <a:ext cx="10621797" cy="579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1800" b="1">
                <a:latin typeface="IBM Plex Sans"/>
                <a:ea typeface="IBM Plex Sans"/>
                <a:cs typeface="IBM Plex Sans"/>
              </a:rPr>
              <a:t>Domain</a:t>
            </a:r>
            <a:endParaRPr lang="en-US" sz="1800" b="1">
              <a:latin typeface="IBM Plex Sans"/>
              <a:ea typeface="IBM Plex Sans"/>
              <a:cs typeface="IBM Plex Sans"/>
            </a:endParaRPr>
          </a:p>
          <a:p>
            <a:pPr>
              <a:defRPr/>
            </a:pPr>
            <a:r>
              <a:rPr lang="en-US" sz="14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Energy &amp; Sustainability</a:t>
            </a:r>
            <a:endParaRPr sz="2400" b="1">
              <a:highlight>
                <a:srgbClr val="FFFF00"/>
              </a:highlight>
              <a:latin typeface="IBM Plex Sans"/>
              <a:cs typeface="IBM Plex Sans"/>
            </a:endParaRPr>
          </a:p>
        </p:txBody>
      </p:sp>
      <p:sp>
        <p:nvSpPr>
          <p:cNvPr id="447161431" name=""/>
          <p:cNvSpPr txBox="1"/>
          <p:nvPr/>
        </p:nvSpPr>
        <p:spPr bwMode="auto">
          <a:xfrm rot="0" flipH="0" flipV="0">
            <a:off x="575351" y="2607199"/>
            <a:ext cx="10619637" cy="1859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800" b="1">
                <a:latin typeface="IBM Plex Sans"/>
                <a:ea typeface="IBM Plex Sans"/>
                <a:cs typeface="IBM Plex Sans"/>
              </a:rPr>
              <a:t>The Challenge </a:t>
            </a:r>
            <a:endParaRPr sz="1400">
              <a:latin typeface="IBM Plex Sans"/>
              <a:cs typeface="IBM Plex Sans"/>
            </a:endParaRPr>
          </a:p>
          <a:p>
            <a:pPr algn="l">
              <a:defRPr/>
            </a:pPr>
            <a:r>
              <a:rPr sz="1400">
                <a:latin typeface="IBM Plex Sans"/>
                <a:ea typeface="IBM Plex Sans"/>
                <a:cs typeface="IBM Plex Sans"/>
              </a:rPr>
              <a:t>Gujarat leads India in hybrid solar-wind renewable capacity, particularly in Kutch and Banaskantha, but scattered installations face inefficiencies from inconsistent maintenance scheduling, under-performance detection, and grid integration challenges. </a:t>
            </a:r>
            <a:endParaRPr sz="1400">
              <a:latin typeface="IBM Plex Sans"/>
              <a:ea typeface="IBM Plex Sans"/>
              <a:cs typeface="IBM Plex Sans"/>
            </a:endParaRPr>
          </a:p>
          <a:p>
            <a:pPr algn="l">
              <a:defRPr/>
            </a:pPr>
            <a:r>
              <a:rPr sz="1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Inconsistent Maintenance</a:t>
            </a:r>
            <a: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→ Reactive scheduling and delayed servicing</a:t>
            </a:r>
            <a:b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1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Asset Under-performance</a:t>
            </a:r>
            <a: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→ Difficulties in identifying anomalies and energy losses</a:t>
            </a:r>
            <a:b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1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Weather Variability</a:t>
            </a:r>
            <a: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→ Uncertain solar and wind generation</a:t>
            </a:r>
            <a:b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1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Grid Integration</a:t>
            </a:r>
            <a: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→ Challenges in balancing generation, storage, export and curtailment</a:t>
            </a:r>
            <a:b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1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Fragmented Data</a:t>
            </a:r>
            <a:r>
              <a:rPr sz="1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→ Multiple sensors, SCADA and monitoring systems with limited unified intelligence</a:t>
            </a:r>
            <a:endParaRPr sz="1400"/>
          </a:p>
        </p:txBody>
      </p:sp>
      <p:sp>
        <p:nvSpPr>
          <p:cNvPr id="2075172720" name=""/>
          <p:cNvSpPr/>
          <p:nvPr/>
        </p:nvSpPr>
        <p:spPr bwMode="auto">
          <a:xfrm flipH="0" flipV="0">
            <a:off x="576072" y="4582897"/>
            <a:ext cx="10621077" cy="5794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Target AI Agents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4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Asset Performance | Predictive Maintenance | Weather &amp; Generation Forecasting | Grid Optimization | Renewable Energy Dashboard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53986198" name=""/>
          <p:cNvSpPr/>
          <p:nvPr/>
        </p:nvSpPr>
        <p:spPr bwMode="auto">
          <a:xfrm flipH="0" flipV="0">
            <a:off x="576072" y="5241801"/>
            <a:ext cx="10621077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Core Problem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4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How can we transform scattered renewable-energy data into proactive, AI-driven decisions that improve asset performance, reliability, and grid integration?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00229" name="TextBox 1"/>
          <p:cNvSpPr txBox="1"/>
          <p:nvPr/>
        </p:nvSpPr>
        <p:spPr bwMode="auto">
          <a:xfrm flipH="0" flipV="0">
            <a:off x="576072" y="1234439"/>
            <a:ext cx="10623957" cy="396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20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GreenPulse AI </a:t>
            </a:r>
            <a:r>
              <a:rPr sz="20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- Agentic AI for Smarter Renewable Energy Management</a:t>
            </a:r>
            <a:endParaRPr sz="2000" b="1" i="0" u="none" strike="noStrike" cap="none" spc="0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2077744727" name="TextBox 2"/>
          <p:cNvSpPr txBox="1"/>
          <p:nvPr/>
        </p:nvSpPr>
        <p:spPr bwMode="auto">
          <a:xfrm>
            <a:off x="576072" y="704088"/>
            <a:ext cx="7220373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Proposed Solution</a:t>
            </a:r>
            <a:r>
              <a:rPr lang="en-US" sz="2400" b="1">
                <a:latin typeface="IBM Plex Sans"/>
                <a:ea typeface="IBM Plex Sans"/>
                <a:cs typeface="IBM Plex Sans"/>
              </a:rPr>
              <a:t> : </a:t>
            </a:r>
            <a:endParaRPr sz="2400" b="1">
              <a:latin typeface="IBM Plex Sans"/>
              <a:cs typeface="IBM Plex Sans"/>
            </a:endParaRPr>
          </a:p>
        </p:txBody>
      </p:sp>
      <p:sp>
        <p:nvSpPr>
          <p:cNvPr id="316161067" name=""/>
          <p:cNvSpPr/>
          <p:nvPr/>
        </p:nvSpPr>
        <p:spPr bwMode="auto">
          <a:xfrm flipH="0" flipV="0">
            <a:off x="576072" y="2238667"/>
            <a:ext cx="10627557" cy="310932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	GreenPulse AI</a:t>
            </a: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 is an IBM-powered platform that connects renewable-energy assets, real-time data, and autonomous AI agents to </a:t>
            </a: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detect issues, predict generation, optimize performance, and support faster decisions.</a:t>
            </a:r>
            <a:endParaRPr sz="1800" b="1" i="0" u="non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>
              <a:defRPr/>
            </a:pPr>
            <a:endParaRPr sz="1800" b="1" i="0" u="non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	Using </a:t>
            </a:r>
            <a:r>
              <a:rPr lang="en-US" sz="18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IBM Granite, watsonx.ai, and IBM Cloud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multiple specialized AI agents work together to predict maintenance needs, forecast renewable generation, and optimize grid integration through data-driven recommendations.</a:t>
            </a:r>
            <a:endParaRPr sz="2000"/>
          </a:p>
          <a:p>
            <a:pPr>
              <a:defRPr/>
            </a:pPr>
            <a:endParaRPr sz="1800" b="0" i="0" u="non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	The platform brings all insights into a </a:t>
            </a:r>
            <a:r>
              <a:rPr lang="en-US" sz="18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single intelligent dashboard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helping operators take faster action, reduce downtime, improve energy generation, and achieve smarter and more reliable renewable-energy management.</a:t>
            </a:r>
            <a:endParaRPr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61168" name="TextBox 2"/>
          <p:cNvSpPr txBox="1"/>
          <p:nvPr/>
        </p:nvSpPr>
        <p:spPr bwMode="auto">
          <a:xfrm>
            <a:off x="576072" y="704088"/>
            <a:ext cx="7226853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Tech Stack Used</a:t>
            </a:r>
            <a:r>
              <a:rPr lang="en-US" sz="2400" b="1">
                <a:latin typeface="IBM Plex Sans"/>
                <a:ea typeface="IBM Plex Sans"/>
                <a:cs typeface="IBM Plex Sans"/>
              </a:rPr>
              <a:t> : </a:t>
            </a:r>
            <a:endParaRPr sz="2400" b="1">
              <a:latin typeface="IBM Plex Sans"/>
              <a:cs typeface="IBM Plex Sans"/>
            </a:endParaRPr>
          </a:p>
        </p:txBody>
      </p:sp>
      <p:sp>
        <p:nvSpPr>
          <p:cNvPr id="1299585394" name=""/>
          <p:cNvSpPr/>
          <p:nvPr/>
        </p:nvSpPr>
        <p:spPr bwMode="auto">
          <a:xfrm flipH="0" flipV="0">
            <a:off x="638549" y="1418541"/>
            <a:ext cx="4467972" cy="14634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AI / LLM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IBM Granite 13B with IBM BOB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IBM watsonx.ai inference API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Multi-agent agentic architecture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Mock AI fallback (no-key mode)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35263894" name=""/>
          <p:cNvSpPr/>
          <p:nvPr/>
        </p:nvSpPr>
        <p:spPr bwMode="auto">
          <a:xfrm flipH="0" flipV="0">
            <a:off x="665930" y="3242453"/>
            <a:ext cx="4468692" cy="173772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Frontend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React 18 + TypeScript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Vite 5 + Recharts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React Router v6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useLiveStream SSE hook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IBM Plex Sans + Mono fonts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12615394" name=""/>
          <p:cNvSpPr/>
          <p:nvPr/>
        </p:nvSpPr>
        <p:spPr bwMode="auto">
          <a:xfrm flipH="0" flipV="0">
            <a:off x="6215811" y="3242453"/>
            <a:ext cx="3868870" cy="14634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Backend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Node.js + Express 4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TypeScript + ts-node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Server-Sent Events (SSE)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dataSourceAdapter pattern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31514029" name=""/>
          <p:cNvSpPr/>
          <p:nvPr/>
        </p:nvSpPr>
        <p:spPr bwMode="auto">
          <a:xfrm flipH="0" flipV="0">
            <a:off x="6215811" y="1418541"/>
            <a:ext cx="3554009" cy="14634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IBM Cloud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Event Streams (Kafka 3.x)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Databases for PostgreSQL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Code Engine (deploy target)</a:t>
            </a:r>
            <a:endParaRPr sz="1800">
              <a:latin typeface="IBM Plex Sans"/>
              <a:cs typeface="IBM Plex Sans"/>
            </a:endParaRPr>
          </a:p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• IAM API key authentication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709923" name=""/>
          <p:cNvSpPr txBox="1"/>
          <p:nvPr/>
        </p:nvSpPr>
        <p:spPr bwMode="auto">
          <a:xfrm rot="0" flipH="0" flipV="0">
            <a:off x="2968932" y="-8920219"/>
            <a:ext cx="625449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7118551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788541" y="1061357"/>
            <a:ext cx="6615276" cy="5510892"/>
          </a:xfrm>
          <a:prstGeom prst="rect">
            <a:avLst/>
          </a:prstGeom>
        </p:spPr>
      </p:pic>
      <p:sp>
        <p:nvSpPr>
          <p:cNvPr id="159045415" name="TextBox 2"/>
          <p:cNvSpPr txBox="1"/>
          <p:nvPr/>
        </p:nvSpPr>
        <p:spPr bwMode="auto">
          <a:xfrm>
            <a:off x="576072" y="475308"/>
            <a:ext cx="7233691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24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Architecture</a:t>
            </a:r>
            <a:endParaRPr sz="8000" b="1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736321" name="TextBox 2"/>
          <p:cNvSpPr txBox="1"/>
          <p:nvPr/>
        </p:nvSpPr>
        <p:spPr bwMode="auto">
          <a:xfrm>
            <a:off x="576072" y="578286"/>
            <a:ext cx="72221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IBM Bob Screenshots: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370279300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1762172" name="TextBox 2"/>
          <p:cNvSpPr txBox="1"/>
          <p:nvPr/>
        </p:nvSpPr>
        <p:spPr bwMode="auto">
          <a:xfrm>
            <a:off x="576072" y="578286"/>
            <a:ext cx="72221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IBM Bob Screenshots: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202189750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7639595" name="TextBox 2"/>
          <p:cNvSpPr txBox="1"/>
          <p:nvPr/>
        </p:nvSpPr>
        <p:spPr bwMode="auto">
          <a:xfrm>
            <a:off x="576072" y="578286"/>
            <a:ext cx="72221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IBM Bob Screenshots: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3572874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1426464" y="1161287"/>
            <a:ext cx="9345168" cy="52577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48227" name="TextBox 2"/>
          <p:cNvSpPr txBox="1"/>
          <p:nvPr/>
        </p:nvSpPr>
        <p:spPr bwMode="auto">
          <a:xfrm>
            <a:off x="576072" y="578286"/>
            <a:ext cx="72221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IBM Bob Screenshots: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827615243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854694" name="TextBox 2"/>
          <p:cNvSpPr txBox="1"/>
          <p:nvPr/>
        </p:nvSpPr>
        <p:spPr bwMode="auto">
          <a:xfrm>
            <a:off x="576072" y="578286"/>
            <a:ext cx="72221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IBM Bob Screenshots: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931535736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8060527" name="TextBox 2"/>
          <p:cNvSpPr txBox="1"/>
          <p:nvPr/>
        </p:nvSpPr>
        <p:spPr bwMode="auto">
          <a:xfrm>
            <a:off x="576072" y="704088"/>
            <a:ext cx="722433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24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Role of Agentic AI in GreenPulse AI</a:t>
            </a:r>
            <a:endParaRPr sz="8000" b="1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2087961986" name=""/>
          <p:cNvSpPr/>
          <p:nvPr/>
        </p:nvSpPr>
        <p:spPr bwMode="auto">
          <a:xfrm flipH="0" flipV="0">
            <a:off x="576072" y="1161648"/>
            <a:ext cx="11223948" cy="5794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600" b="0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Powered by IBM Granite 13B LLM &amp; IBM watsonx.ai — six specialized agents collaborate in real time to monitor, predict, and optimize 19 renewable energy assets across Kutch &amp; Banaskantha, Gujarat.</a:t>
            </a:r>
            <a:endParaRPr sz="2600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366942197" name=""/>
          <p:cNvSpPr/>
          <p:nvPr/>
        </p:nvSpPr>
        <p:spPr bwMode="auto">
          <a:xfrm flipH="0" flipV="0">
            <a:off x="576072" y="2015887"/>
            <a:ext cx="3613426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6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Weather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sz="1400" b="0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Analyzes irradiance, wind speed, dust index, extreme events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717142623" name=""/>
          <p:cNvSpPr/>
          <p:nvPr/>
        </p:nvSpPr>
        <p:spPr bwMode="auto">
          <a:xfrm flipH="0" flipV="0">
            <a:off x="576072" y="2880293"/>
            <a:ext cx="3614865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Forecast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Predicts solar &amp; wind output 48 h ahead  incl. dust storms &amp; cut-out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1258030375" name=""/>
          <p:cNvSpPr/>
          <p:nvPr/>
        </p:nvSpPr>
        <p:spPr bwMode="auto">
          <a:xfrm flipH="0" flipV="0">
            <a:off x="7740015" y="2015887"/>
            <a:ext cx="2693484" cy="3356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6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Key Capabilities</a:t>
            </a:r>
            <a:endParaRPr sz="2600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1622650133" name=""/>
          <p:cNvSpPr/>
          <p:nvPr/>
        </p:nvSpPr>
        <p:spPr bwMode="auto">
          <a:xfrm flipH="0" flipV="0">
            <a:off x="574632" y="3747067"/>
            <a:ext cx="3614865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Performance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Detects anomalies — output deficits, SCADA comm loss, thermal derating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526926665" name=""/>
          <p:cNvSpPr txBox="1"/>
          <p:nvPr/>
        </p:nvSpPr>
        <p:spPr bwMode="auto">
          <a:xfrm rot="0" flipH="0" flipV="0">
            <a:off x="7740015" y="2381421"/>
            <a:ext cx="4060724" cy="3718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 algn="l">
              <a:buFont typeface="Wingdings"/>
              <a:buChar char="§"/>
              <a:defRPr/>
            </a:pPr>
            <a:r>
              <a:rPr sz="1400">
                <a:latin typeface="IBM Plex Sans"/>
                <a:ea typeface="IBM Plex Sans"/>
                <a:cs typeface="IBM Plex Sans"/>
              </a:rPr>
              <a:t>Real-Time Context : Agents receive live sensor data every 3 seconds; every IBM Granite response is built from the current asset state, not static data</a:t>
            </a:r>
            <a:endParaRPr sz="1400">
              <a:latin typeface="IBM Plex Sans"/>
              <a:cs typeface="IBM Plex Sans"/>
            </a:endParaRPr>
          </a:p>
          <a:p>
            <a:pPr marL="283879" indent="-283879" algn="l">
              <a:buFont typeface="Wingdings"/>
              <a:buChar char="§"/>
              <a:defRPr/>
            </a:pPr>
            <a:r>
              <a:rPr sz="1400">
                <a:latin typeface="IBM Plex Sans"/>
                <a:ea typeface="IBM Plex Sans"/>
                <a:cs typeface="IBM Plex Sans"/>
              </a:rPr>
              <a:t>Agent Chaining : Each agent passes its finding to the next: Weather → Forecast → Performance → Maintenance → Grid → Dashboard</a:t>
            </a:r>
            <a:endParaRPr sz="1400">
              <a:latin typeface="IBM Plex Sans"/>
              <a:cs typeface="IBM Plex Sans"/>
            </a:endParaRPr>
          </a:p>
          <a:p>
            <a:pPr marL="283879" indent="-283879" algn="l">
              <a:buFont typeface="Wingdings"/>
              <a:buChar char="§"/>
              <a:defRPr/>
            </a:pPr>
            <a:r>
              <a:rPr sz="1400">
                <a:latin typeface="IBM Plex Sans"/>
                <a:ea typeface="IBM Plex Sans"/>
                <a:cs typeface="IBM Plex Sans"/>
              </a:rPr>
              <a:t>Explainable Decisions : Every recommendation includes WHAT was detected, WHY (sensor readings + thresholds), ACTION (with timeframe), and CONFIDENCE %</a:t>
            </a:r>
            <a:endParaRPr sz="1400">
              <a:latin typeface="IBM Plex Sans"/>
              <a:cs typeface="IBM Plex Sans"/>
            </a:endParaRPr>
          </a:p>
          <a:p>
            <a:pPr marL="283879" indent="-283879" algn="l">
              <a:buFont typeface="Wingdings"/>
              <a:buChar char="§"/>
              <a:defRPr/>
            </a:pPr>
            <a:r>
              <a:rPr sz="1400">
                <a:latin typeface="IBM Plex Sans"/>
                <a:ea typeface="IBM Plex Sans"/>
                <a:cs typeface="IBM Plex Sans"/>
              </a:rPr>
              <a:t>Proactive Intelligence : Detects WT-07 gearbox degradation days before failure; forecasts grid curtailment hours ahead — not just threshold alerts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39690866" name=""/>
          <p:cNvSpPr/>
          <p:nvPr/>
        </p:nvSpPr>
        <p:spPr bwMode="auto">
          <a:xfrm flipH="0" flipV="0">
            <a:off x="4118253" y="3807881"/>
            <a:ext cx="3517463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Dashboard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Orchestrates all agents — produces AI Copilot recommendations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125137870" name=""/>
          <p:cNvSpPr/>
          <p:nvPr/>
        </p:nvSpPr>
        <p:spPr bwMode="auto">
          <a:xfrm flipH="0" flipV="0">
            <a:off x="4125510" y="2880293"/>
            <a:ext cx="3615945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Grid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Manages export, storage &amp; curtailment — blackout response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382588202" name=""/>
          <p:cNvSpPr/>
          <p:nvPr/>
        </p:nvSpPr>
        <p:spPr bwMode="auto">
          <a:xfrm flipH="0" flipV="0">
            <a:off x="4118253" y="2015481"/>
            <a:ext cx="3616305" cy="7623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Maintenance Agent</a:t>
            </a:r>
            <a:endParaRPr sz="1000" b="0" i="0" u="none">
              <a:solidFill>
                <a:schemeClr val="tx1"/>
              </a:solidFill>
              <a:latin typeface="IBM Plex Sans"/>
              <a:cs typeface="IBM Plex Sans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Predicts failures from vibration, temperature &amp; RPM trends</a:t>
            </a:r>
            <a:endParaRPr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1632624018" name=""/>
          <p:cNvSpPr txBox="1"/>
          <p:nvPr/>
        </p:nvSpPr>
        <p:spPr bwMode="auto">
          <a:xfrm rot="0" flipH="0" flipV="0">
            <a:off x="574632" y="4876799"/>
            <a:ext cx="7062884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latin typeface="IBM Plex Serif"/>
                <a:ea typeface="IBM Plex Serif"/>
                <a:cs typeface="IBM Plex Serif"/>
              </a:rPr>
              <a:t>"Six specialized agents. One coordinated intelligence. Acting as a proactive digital operations engineer — autonomous, context-aware, and explainable."</a:t>
            </a:r>
            <a:endParaRPr b="1">
              <a:latin typeface="IBM Plex Serif"/>
              <a:cs typeface="IBM Plex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552134" name="TextBox 2"/>
          <p:cNvSpPr txBox="1"/>
          <p:nvPr/>
        </p:nvSpPr>
        <p:spPr bwMode="auto">
          <a:xfrm>
            <a:off x="576072" y="578286"/>
            <a:ext cx="72347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</a:t>
            </a:r>
            <a:r>
              <a:rPr sz="2400" b="1">
                <a:latin typeface="IBM Plex Sans"/>
                <a:cs typeface="IBM Plex Sans"/>
              </a:rPr>
              <a:t> (Landing Page)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5300037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356050" name="TextBox 2"/>
          <p:cNvSpPr txBox="1"/>
          <p:nvPr/>
        </p:nvSpPr>
        <p:spPr bwMode="auto">
          <a:xfrm>
            <a:off x="576072" y="578286"/>
            <a:ext cx="723405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</a:t>
            </a:r>
            <a:r>
              <a:rPr sz="2400" b="1">
                <a:latin typeface="IBM Plex Sans"/>
                <a:cs typeface="IBM Plex Sans"/>
              </a:rPr>
              <a:t> (Command Center)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359832036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11231" name="TextBox 2"/>
          <p:cNvSpPr txBox="1"/>
          <p:nvPr/>
        </p:nvSpPr>
        <p:spPr bwMode="auto">
          <a:xfrm>
            <a:off x="576072" y="578286"/>
            <a:ext cx="723297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</a:t>
            </a:r>
            <a:r>
              <a:rPr sz="2400" b="1">
                <a:latin typeface="IBM Plex Sans"/>
                <a:cs typeface="IBM Plex Sans"/>
              </a:rPr>
              <a:t> (Live Assets)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555587709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54042" name="TextBox 2"/>
          <p:cNvSpPr txBox="1"/>
          <p:nvPr/>
        </p:nvSpPr>
        <p:spPr bwMode="auto">
          <a:xfrm flipH="0" flipV="0">
            <a:off x="576072" y="578286"/>
            <a:ext cx="10982289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</a:t>
            </a:r>
            <a:r>
              <a:rPr sz="2400" b="1">
                <a:latin typeface="IBM Plex Sans"/>
                <a:cs typeface="IBM Plex Sans"/>
              </a:rPr>
              <a:t> (Weather Intelligence)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761141677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155537" name="TextBox 2"/>
          <p:cNvSpPr txBox="1"/>
          <p:nvPr/>
        </p:nvSpPr>
        <p:spPr bwMode="auto">
          <a:xfrm>
            <a:off x="576072" y="578286"/>
            <a:ext cx="723405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</a:t>
            </a:r>
            <a:r>
              <a:rPr sz="2400" b="1">
                <a:latin typeface="IBM Plex Sans"/>
                <a:cs typeface="IBM Plex Sans"/>
              </a:rPr>
              <a:t> (Alert Center)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1525629616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926707" name="TextBox 2"/>
          <p:cNvSpPr txBox="1"/>
          <p:nvPr/>
        </p:nvSpPr>
        <p:spPr bwMode="auto">
          <a:xfrm>
            <a:off x="576072" y="578286"/>
            <a:ext cx="723261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/>
            </a:pP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2400" b="1" i="0" u="none" strike="noStrike" cap="none" spc="0">
                <a:solidFill>
                  <a:srgbClr val="051D3A"/>
                </a:solidFill>
                <a:latin typeface="IBM Plex Sans"/>
                <a:ea typeface="IBM Plex Sans"/>
                <a:cs typeface="IBM Plex Sans"/>
              </a:rPr>
              <a:t>Project Output Screenshots: (AI Copliot)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247431973" name="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425086" y="1161648"/>
            <a:ext cx="9341826" cy="52547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057311" name="TextBox 2"/>
          <p:cNvSpPr txBox="1"/>
          <p:nvPr/>
        </p:nvSpPr>
        <p:spPr bwMode="auto">
          <a:xfrm>
            <a:off x="576072" y="704088"/>
            <a:ext cx="722901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24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Future Scope</a:t>
            </a:r>
            <a:endParaRPr sz="8000" b="1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819126281" name=""/>
          <p:cNvSpPr/>
          <p:nvPr/>
        </p:nvSpPr>
        <p:spPr bwMode="auto">
          <a:xfrm flipH="0" flipV="0">
            <a:off x="576072" y="1161648"/>
            <a:ext cx="11226468" cy="3356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From prototype to production — the roadmap for GreenPulse AI at scale across Gujarat's renewable energy grid.</a:t>
            </a:r>
            <a:endParaRPr sz="1600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sp>
        <p:nvSpPr>
          <p:cNvPr id="697788848" name=""/>
          <p:cNvSpPr txBox="1"/>
          <p:nvPr/>
        </p:nvSpPr>
        <p:spPr bwMode="auto">
          <a:xfrm rot="0" flipH="0" flipV="0">
            <a:off x="576072" y="5572305"/>
            <a:ext cx="1123222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600" b="1" i="0" u="none" strike="noStrike" cap="none" spc="0">
                <a:solidFill>
                  <a:schemeClr val="tx1"/>
                </a:solidFill>
                <a:latin typeface="IBM Plex Serif"/>
                <a:ea typeface="IBM Plex Serif"/>
                <a:cs typeface="IBM Plex Serif"/>
              </a:rPr>
              <a:t>"Every component of the production path is almost architected — the switch from prototype to live IBM Cloud infrastructure requires no code changes, only credentials."</a:t>
            </a:r>
            <a:endParaRPr sz="1600" b="1">
              <a:latin typeface="IBM Plex Sans"/>
              <a:cs typeface="IBM Plex Sans"/>
            </a:endParaRPr>
          </a:p>
        </p:txBody>
      </p:sp>
      <p:sp>
        <p:nvSpPr>
          <p:cNvPr id="1991177976" name=""/>
          <p:cNvSpPr txBox="1"/>
          <p:nvPr/>
        </p:nvSpPr>
        <p:spPr bwMode="auto">
          <a:xfrm rot="0" flipH="0" flipV="0">
            <a:off x="576072" y="1680460"/>
            <a:ext cx="5304153" cy="1219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IBM Plex Sans"/>
                <a:ea typeface="IBM Plex Sans"/>
                <a:cs typeface="IBM Plex Sans"/>
              </a:rPr>
              <a:t>IBM Cloud Event Streams (Live SCADA Data)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Replace the SCADA simulator with real-time sensor telemetry via IBM Cloud Event Streams (Apache Kafka). Each field asset — solar inverters, wind turbine controllers, hybrid battery systems — publishes readings to the greenpulse.asset-telemetry topic every few seconds. Zero frontend or route changes needed — just flip DATA_SOURCE=ibm-live in .env.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5415176" name=""/>
          <p:cNvSpPr txBox="1"/>
          <p:nvPr/>
        </p:nvSpPr>
        <p:spPr bwMode="auto">
          <a:xfrm rot="0" flipH="0" flipV="0">
            <a:off x="545298" y="2931898"/>
            <a:ext cx="5305232" cy="1036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IBM Cloud Databases — Time-Series Storage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Persist all asset telemetry in IBM Cloud Databases for PostgreSQL. Enables historical trend analysis, long-term degradation tracking, seasonal generation patterns, and regulatory reporting. The SQL schema (asset_telemetry table) is already defined and stubbed — ready to connect.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8743613" name=""/>
          <p:cNvSpPr txBox="1"/>
          <p:nvPr/>
        </p:nvSpPr>
        <p:spPr bwMode="auto">
          <a:xfrm rot="0" flipH="0" flipV="0">
            <a:off x="545298" y="4122523"/>
            <a:ext cx="5305232" cy="1219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Full IBM Granite LLM — Real AI Responses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Activate IBM Granite 13B via watsonx.ai by adding IBM_API_KEY and IBM_PROJECT_ID to the backend environment. All six agents and the AI Copilot instantly switch from mock responses to real LLM inference — with no code changes. Future upgrade path: Granite 3.x with function-calling for direct tool invocation by agents.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7458227" name=""/>
          <p:cNvSpPr txBox="1"/>
          <p:nvPr/>
        </p:nvSpPr>
        <p:spPr bwMode="auto">
          <a:xfrm rot="0" flipH="0" flipV="0">
            <a:off x="6040491" y="1680460"/>
            <a:ext cx="5585716" cy="1036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Real Weather Integration (Open-Meteo API)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Integrate live solar irradiance and wind speed data from Open-Meteo API for Kutch (lat 23.73°N, lon 69.86°E). Already stubbed in ibmLiveSource.ts — refresh every 60 seconds, feeding the Weather Agent with actual field conditions instead of simulated drift.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7063219" name=""/>
          <p:cNvSpPr txBox="1"/>
          <p:nvPr/>
        </p:nvSpPr>
        <p:spPr bwMode="auto">
          <a:xfrm rot="0" flipH="0" flipV="0">
            <a:off x="6009717" y="2931899"/>
            <a:ext cx="5586435" cy="1219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IBM Cloud Code Engine — Production Deployment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Deploy the Node.js backend as a containerized IBM Cloud Code Engine application — serverless, scales to zero when idle, zero infrastructure management. Combined with the existing GitHub Pages frontend, this gives a fully cloud-native, low-cost production stack with built-in IBM Cloud IAM security.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2564693" name=""/>
          <p:cNvSpPr txBox="1"/>
          <p:nvPr/>
        </p:nvSpPr>
        <p:spPr bwMode="auto">
          <a:xfrm rot="0" flipH="0" flipV="0">
            <a:off x="6009717" y="4214111"/>
            <a:ext cx="5586075" cy="1036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Mobile Alerts &amp; Operator Dashboard</a:t>
            </a:r>
            <a:endParaRPr>
              <a:latin typeface="IBM Plex Sans"/>
              <a:cs typeface="IBM Plex Sans"/>
            </a:endParaRPr>
          </a:p>
          <a:p>
            <a:pPr algn="l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Extend the platform with push notifications for critical alerts (CRITICAL/HIGH severity) via SMS or mobile app. Add a field engineer mobile view optimized for on-site inspection — showing asset location on the regional map, live sensor readings, and AI-recommended checklist for maintenance visits.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0734" name="TextBox 2"/>
          <p:cNvSpPr txBox="1"/>
          <p:nvPr/>
        </p:nvSpPr>
        <p:spPr bwMode="auto">
          <a:xfrm flipH="0" flipV="0">
            <a:off x="576072" y="1692531"/>
            <a:ext cx="8206094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6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Git Hub Link</a:t>
            </a:r>
            <a:endParaRPr sz="2600" b="1">
              <a:latin typeface="IBM Plex Sans"/>
              <a:cs typeface="IBM Plex Sans"/>
            </a:endParaRPr>
          </a:p>
        </p:txBody>
      </p:sp>
      <p:sp>
        <p:nvSpPr>
          <p:cNvPr id="1282546135" name=""/>
          <p:cNvSpPr txBox="1"/>
          <p:nvPr/>
        </p:nvSpPr>
        <p:spPr bwMode="auto">
          <a:xfrm rot="0" flipH="0" flipV="0">
            <a:off x="576071" y="2689242"/>
            <a:ext cx="10389943" cy="1006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20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Source Code:</a:t>
            </a:r>
            <a:r>
              <a:rPr sz="2000" b="0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        </a:t>
            </a:r>
            <a:r>
              <a:rPr sz="2000" b="0" i="0" u="sng">
                <a:solidFill>
                  <a:schemeClr val="tx1"/>
                </a:solidFill>
                <a:latin typeface="IBM Plex Sans"/>
                <a:ea typeface="IBM Plex Sans"/>
                <a:cs typeface="IBM Plex Sans"/>
                <a:hlinkClick r:id="rId3" tooltip=""/>
              </a:rPr>
              <a:t>https://github.com/kyt47000/GreenPulse-AI</a:t>
            </a:r>
            <a:endParaRPr sz="2400">
              <a:solidFill>
                <a:schemeClr val="tx1"/>
              </a:solidFill>
              <a:latin typeface="IBM Plex Sans"/>
              <a:cs typeface="IBM Plex Sans"/>
            </a:endParaRPr>
          </a:p>
          <a:p>
            <a:pPr algn="l">
              <a:defRPr/>
            </a:pPr>
            <a:r>
              <a:rPr sz="20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Documentation:</a:t>
            </a:r>
            <a:r>
              <a:rPr sz="2000" b="0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  </a:t>
            </a:r>
            <a:r>
              <a:rPr sz="2000" b="0" i="0" u="sng">
                <a:solidFill>
                  <a:schemeClr val="tx1"/>
                </a:solidFill>
                <a:latin typeface="IBM Plex Sans"/>
                <a:ea typeface="IBM Plex Sans"/>
                <a:cs typeface="IBM Plex Sans"/>
                <a:hlinkClick r:id="rId4" tooltip=""/>
              </a:rPr>
              <a:t>https://github.com/kyt47000/GreenPulseAI/blob/main/README.md</a:t>
            </a:r>
            <a:endParaRPr sz="2400">
              <a:solidFill>
                <a:schemeClr val="tx1"/>
              </a:solidFill>
              <a:latin typeface="IBM Plex Sans"/>
              <a:cs typeface="IBM Plex Sans"/>
            </a:endParaRPr>
          </a:p>
          <a:p>
            <a:pPr algn="l">
              <a:defRPr/>
            </a:pPr>
            <a:r>
              <a:rPr sz="2000" b="1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Demo:</a:t>
            </a:r>
            <a:r>
              <a:rPr sz="2000" b="0" i="0" u="none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	                 </a:t>
            </a:r>
            <a:r>
              <a:rPr sz="2000" b="0" i="0" u="sng">
                <a:solidFill>
                  <a:schemeClr val="tx1"/>
                </a:solidFill>
                <a:latin typeface="IBM Plex Sans"/>
                <a:ea typeface="IBM Plex Sans"/>
                <a:cs typeface="IBM Plex Sans"/>
                <a:hlinkClick r:id="rId5" tooltip=""/>
              </a:rPr>
              <a:t>  https://kyt47000.github.io/GreenPulse-AI/</a:t>
            </a:r>
            <a:endParaRPr sz="2400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691742" name="TextBox 2"/>
          <p:cNvSpPr txBox="1"/>
          <p:nvPr/>
        </p:nvSpPr>
        <p:spPr bwMode="auto">
          <a:xfrm>
            <a:off x="576072" y="704088"/>
            <a:ext cx="722865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Skills build profile screen shot</a:t>
            </a:r>
            <a:endParaRPr lang="en-US" sz="2400" b="1" i="0" u="none" strike="noStrike" cap="none" spc="0">
              <a:solidFill>
                <a:schemeClr val="tx1"/>
              </a:solidFill>
              <a:latin typeface="IBM Plex Sans"/>
              <a:cs typeface="IBM Plex Sans"/>
            </a:endParaRPr>
          </a:p>
        </p:txBody>
      </p:sp>
      <p:pic>
        <p:nvPicPr>
          <p:cNvPr id="544572835" name=""/>
          <p:cNvPicPr>
            <a:picLocks noChangeAspect="1"/>
          </p:cNvPicPr>
          <p:nvPr/>
        </p:nvPicPr>
        <p:blipFill rotWithShape="1">
          <a:blip r:embed="rId3"/>
          <a:srcRect l="0" t="32482" r="0" b="0"/>
          <a:stretch/>
        </p:blipFill>
        <p:spPr bwMode="auto">
          <a:xfrm flipH="0" flipV="0">
            <a:off x="786261" y="2336320"/>
            <a:ext cx="4499256" cy="1918376"/>
          </a:xfrm>
          <a:prstGeom prst="rect">
            <a:avLst/>
          </a:prstGeom>
        </p:spPr>
      </p:pic>
      <p:pic>
        <p:nvPicPr>
          <p:cNvPr id="1532637986" name=""/>
          <p:cNvPicPr>
            <a:picLocks noChangeAspect="1"/>
          </p:cNvPicPr>
          <p:nvPr/>
        </p:nvPicPr>
        <p:blipFill rotWithShape="1">
          <a:blip r:embed="rId4"/>
          <a:srcRect l="5763" t="29101" r="55468" b="38469"/>
          <a:stretch/>
        </p:blipFill>
        <p:spPr bwMode="auto">
          <a:xfrm flipH="0" flipV="0">
            <a:off x="6022358" y="2336320"/>
            <a:ext cx="4726556" cy="17791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76192" name="TextBox 2"/>
          <p:cNvSpPr txBox="1"/>
          <p:nvPr/>
        </p:nvSpPr>
        <p:spPr bwMode="auto">
          <a:xfrm>
            <a:off x="576072" y="704088"/>
            <a:ext cx="722793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Certificate Earned 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3966464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6071" y="1419591"/>
            <a:ext cx="5334144" cy="4018817"/>
          </a:xfrm>
          <a:prstGeom prst="rect">
            <a:avLst/>
          </a:prstGeom>
        </p:spPr>
      </p:pic>
      <p:pic>
        <p:nvPicPr>
          <p:cNvPr id="892253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156490" y="1393976"/>
            <a:ext cx="5418060" cy="40700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608750" name="TextBox 2"/>
          <p:cNvSpPr txBox="1"/>
          <p:nvPr/>
        </p:nvSpPr>
        <p:spPr bwMode="auto">
          <a:xfrm>
            <a:off x="576072" y="704088"/>
            <a:ext cx="7227932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chemeClr val="tx1"/>
                </a:solidFill>
                <a:latin typeface="IBM Plex Sans"/>
                <a:ea typeface="IBM Plex Sans"/>
                <a:cs typeface="IBM Plex Sans"/>
              </a:rPr>
              <a:t>Certificate Earned :</a:t>
            </a:r>
            <a:endParaRPr sz="2400" b="1">
              <a:latin typeface="IBM Plex Sans"/>
              <a:cs typeface="IBM Plex Sans"/>
            </a:endParaRPr>
          </a:p>
        </p:txBody>
      </p:sp>
      <p:pic>
        <p:nvPicPr>
          <p:cNvPr id="6906799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0096" y="1479841"/>
            <a:ext cx="5861538" cy="3898316"/>
          </a:xfrm>
          <a:prstGeom prst="rect">
            <a:avLst/>
          </a:prstGeom>
        </p:spPr>
      </p:pic>
      <p:pic>
        <p:nvPicPr>
          <p:cNvPr id="649350313" name=""/>
          <p:cNvPicPr>
            <a:picLocks noChangeAspect="1"/>
          </p:cNvPicPr>
          <p:nvPr/>
        </p:nvPicPr>
        <p:blipFill rotWithShape="1">
          <a:blip r:embed="rId4"/>
          <a:srcRect l="0" t="0" r="0" b="7400"/>
          <a:stretch/>
        </p:blipFill>
        <p:spPr bwMode="auto">
          <a:xfrm flipH="0" flipV="0">
            <a:off x="6095999" y="1479841"/>
            <a:ext cx="6013615" cy="38983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474335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IBM Plex Sans"/>
                <a:ea typeface="IBM Plex Sans"/>
                <a:cs typeface="IBM Plex Sans"/>
              </a:rPr>
              <a:t>Thank You</a:t>
            </a:r>
            <a:r>
              <a:rPr>
                <a:latin typeface="IBM Plex Sans"/>
                <a:ea typeface="IBM Plex Sans"/>
                <a:cs typeface="IBM Plex Sans"/>
              </a:rPr>
              <a:t>!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0836911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tx2"/>
                </a:solidFill>
                <a:latin typeface="IBM Plex Sans"/>
                <a:ea typeface="IBM Plex Sans"/>
                <a:cs typeface="IBM Plex Sans"/>
              </a:rPr>
              <a:t>Thank you for your time and interest.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2026-09-11T20:55:12Z</dcterms:modified>
</cp:coreProperties>
</file>