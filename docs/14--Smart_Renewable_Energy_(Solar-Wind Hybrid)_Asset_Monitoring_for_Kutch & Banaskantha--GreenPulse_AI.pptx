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05795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533348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1875433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9315084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175547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1121912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8081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4882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9316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079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4919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110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95C71B-D864-CDEE-3C05-05C82EA1AF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780852" name="Google Shape;101;p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73586129" name="Google Shape;102;p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8" y="685800"/>
            <a:ext cx="6095998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135492" name="Google Shape;101;p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89509747" name="Google Shape;102;p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8" y="685800"/>
            <a:ext cx="6095998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412238" name="Google Shape;101;p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88207105" name="Google Shape;102;p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8" y="685800"/>
            <a:ext cx="6095998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467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65098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9108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5FBD72-7D80-20AD-DE88-786AC83BE1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259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31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33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4162-CC45-6FCE-7F78-34F5110148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5473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518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7288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46DEC-2450-89D6-9A70-E67B01FFD7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454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9928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72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E5820C-6EEC-4836-EC75-E6434B0645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0567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92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1624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6231B-1EAD-CA87-69CC-DCC05E6FC2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5738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7635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32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95A99C-BB0D-F24C-C71C-D8BFFCD367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902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112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314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FB1F26-6ECB-7555-82C5-F61886ABBF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60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248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514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48A2BE-437A-2ECB-D79E-28B738587F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400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6737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288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3DDD82-574B-3D84-E238-282B9408E7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4849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66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870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AFEBD7-B3E0-C896-5167-48EBF0AEA2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2924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3442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952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1A35BC-1ED7-9B19-D6BA-F4BAF57C6F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438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1196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676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2489A2-5EB1-953B-BAD9-1EA47675C0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0722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4411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5228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3DC1C4-0CAA-2A4F-D698-4552C1138C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021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24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605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5CDC37-E4B0-24C2-E7DD-A58A2387F4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270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4585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2195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55CF3E-E511-7D0C-5BF9-F78C81DB28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3808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5150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26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7E1315-0EFC-4311-3B09-5CC72898BB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16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054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89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4D64E-8D8D-0DEC-768A-82EFAD2F8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366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4239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09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4E53D7-C8A4-D02A-A8CF-55C3B88EB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620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7256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196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4B88D0-FAD3-97B2-634D-FC562AC261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26646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957181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090091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05303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63198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8989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44643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09046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394303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60406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5242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52072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868417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9176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79334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2189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9144831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749438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26487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270921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32748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92354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34011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701570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240354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00466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7718711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2745312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293029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6579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1375735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912077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427976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88386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934984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388821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56819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55284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063613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249270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260359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3446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72125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778367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9736489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514222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3456048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9577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3803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159775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3870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905774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40021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17392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615889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60455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80008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47963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739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43187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260198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586819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802737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kyt47000/GreenPulse-AI" TargetMode="External"/><Relationship Id="rId4" Type="http://schemas.openxmlformats.org/officeDocument/2006/relationships/hyperlink" Target="https://github.com/kyt47000/GreenPulse-AI/blob/main/README.md" TargetMode="External"/><Relationship Id="rId5" Type="http://schemas.openxmlformats.org/officeDocument/2006/relationships/hyperlink" Target="https://kyt47000.github.io/GreenPulse-AI/" TargetMode="Externa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6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531161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IBM Bob Gujarat State level Hackathon Project Submission</a:t>
            </a:r>
            <a:endParaRPr lang="en-US"/>
          </a:p>
        </p:txBody>
      </p:sp>
      <p:sp>
        <p:nvSpPr>
          <p:cNvPr id="19045520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200" b="1" i="1" u="none" strike="noStrike" cap="none" spc="0">
                <a:solidFill>
                  <a:schemeClr val="accent3"/>
                </a:solidFill>
                <a:latin typeface="IBM Plex Sans"/>
                <a:ea typeface="IBM Plex Sans"/>
                <a:cs typeface="IBM Plex Sans"/>
              </a:rPr>
              <a:t>“Exploring the Power of Agentic AI with IBM Granite and IBM Bob”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777590" name="TextBox 6"/>
          <p:cNvSpPr txBox="1"/>
          <p:nvPr/>
        </p:nvSpPr>
        <p:spPr bwMode="auto">
          <a:xfrm>
            <a:off x="1297747" y="826723"/>
            <a:ext cx="9628695" cy="823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en-US" sz="2400" b="1">
                <a:latin typeface="IBM Plex Sans"/>
                <a:ea typeface="IBM Plex Sans"/>
                <a:cs typeface="IBM Plex Sans"/>
              </a:rPr>
              <a:t>Project Tile :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GreenPulse AI – </a:t>
            </a:r>
            <a:r>
              <a:rPr lang="en-US" sz="2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Agentic Renewable Energy 	  		 Intelligence Platform</a:t>
            </a:r>
            <a:endParaRPr sz="2800" b="0">
              <a:highlight>
                <a:srgbClr val="FFFF00"/>
              </a:highlight>
            </a:endParaRPr>
          </a:p>
        </p:txBody>
      </p:sp>
      <p:sp>
        <p:nvSpPr>
          <p:cNvPr id="1928046922" name="TextBox 3"/>
          <p:cNvSpPr txBox="1"/>
          <p:nvPr/>
        </p:nvSpPr>
        <p:spPr bwMode="auto">
          <a:xfrm>
            <a:off x="1297749" y="1735480"/>
            <a:ext cx="10283131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>
                <a:latin typeface="IBM Plex Sans"/>
                <a:ea typeface="IBM Plex Sans"/>
                <a:cs typeface="IBM Plex Sans"/>
              </a:rPr>
              <a:t>Domain of  Project : </a:t>
            </a:r>
            <a:r>
              <a:rPr lang="en-US" sz="2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Energy &amp; Sustainability</a:t>
            </a:r>
            <a:endParaRPr sz="2400" b="1">
              <a:highlight>
                <a:srgbClr val="FFFF00"/>
              </a:highlight>
              <a:latin typeface="IBM Plex Sans"/>
              <a:cs typeface="IBM Plex Sans"/>
            </a:endParaRPr>
          </a:p>
        </p:txBody>
      </p:sp>
      <p:graphicFrame>
        <p:nvGraphicFramePr>
          <p:cNvPr id="350033097" name="Google Shape;96;p2"/>
          <p:cNvGraphicFramePr>
            <a:graphicFrameLocks xmlns:a="http://schemas.openxmlformats.org/drawingml/2006/main"/>
          </p:cNvGraphicFramePr>
          <p:nvPr/>
        </p:nvGraphicFramePr>
        <p:xfrm rot="0">
          <a:off x="1299256" y="2600314"/>
          <a:ext cx="9394988" cy="2167128"/>
        </p:xfrm>
        <a:graphic>
          <a:graphicData uri="http://schemas.openxmlformats.org/drawingml/2006/table">
            <a:tbl>
              <a:tblPr firstRow="0" firstCol="0" lastRow="0" lastCol="0" bandRow="0" bandCol="0">
                <a:noFill/>
              </a:tblPr>
              <a:tblGrid>
                <a:gridCol w="2064866"/>
                <a:gridCol w="2443374"/>
                <a:gridCol w="2511757"/>
                <a:gridCol w="2374988"/>
              </a:tblGrid>
              <a:tr h="973237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u="none" strike="noStrike" cap="none">
                          <a:latin typeface="IBM Plex Sans"/>
                          <a:ea typeface="IBM Plex Sans"/>
                          <a:cs typeface="IBM Plex Sans"/>
                        </a:rPr>
                        <a:t>Student Name</a:t>
                      </a:r>
                      <a:endParaRPr sz="1800" u="none" strike="noStrike" cap="none">
                        <a:latin typeface="IBM Plex Sans"/>
                        <a:cs typeface="IBM Plex Sans"/>
                      </a:endParaRPr>
                    </a:p>
                  </a:txBody>
                  <a:tcPr marL="91449" marR="91449" marT="45724" marB="45724" anchor="ctr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12699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u="none" strike="noStrike" cap="none">
                          <a:latin typeface="IBM Plex Sans"/>
                          <a:ea typeface="IBM Plex Sans"/>
                          <a:cs typeface="IBM Plex Sans"/>
                        </a:rPr>
                        <a:t>Recent Passport Photo</a:t>
                      </a:r>
                      <a:endParaRPr sz="1800" u="none" strike="noStrike" cap="none">
                        <a:latin typeface="IBM Plex Sans"/>
                        <a:cs typeface="IBM Plex Sans"/>
                      </a:endParaRPr>
                    </a:p>
                  </a:txBody>
                  <a:tcPr marL="91449" marR="91449" marT="45724" marB="45724" anchor="ctr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12699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IBM Plex Sans"/>
                        <a:cs typeface="IBM Plex Sans"/>
                      </a:endParaRPr>
                    </a:p>
                  </a:txBody>
                  <a:tcPr marL="91449" marR="91449" marT="45724" marB="45724" anchor="ctr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12699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  <a:defRPr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IBM Plex Sans"/>
                        <a:cs typeface="IBM Plex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  <a:defRPr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IBM Plex Sans"/>
                        <a:cs typeface="IBM Plex Sans"/>
                      </a:endParaRPr>
                    </a:p>
                  </a:txBody>
                  <a:tcPr marL="91449" marR="91449" marT="45724" marB="45724" anchor="ctr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12699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</a:tr>
              <a:tr h="1193891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>
                          <a:latin typeface="IBM Plex Sans"/>
                          <a:ea typeface="IBM Plex Sans"/>
                          <a:cs typeface="IBM Plex Sans"/>
                        </a:rPr>
                        <a:t>Yash Kayastha</a:t>
                      </a:r>
                      <a:endParaRPr>
                        <a:latin typeface="IBM Plex Sans"/>
                        <a:cs typeface="IBM Plex Sans"/>
                      </a:endParaRPr>
                    </a:p>
                  </a:txBody>
                  <a:tcPr marL="91449" marR="91449" marT="45724" marB="45724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800">
                        <a:latin typeface="IBM Plex Sans"/>
                        <a:cs typeface="IBM Plex Sans"/>
                      </a:endParaRPr>
                    </a:p>
                  </a:txBody>
                  <a:tcPr marL="91449" marR="91449" marT="45724" marB="45724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>
                          <a:latin typeface="IBM Plex Sans"/>
                          <a:ea typeface="IBM Plex Sans"/>
                          <a:cs typeface="IBM Plex Sans"/>
                        </a:rPr>
                        <a:t>kyt47000@gmail.com</a:t>
                      </a:r>
                      <a:endParaRPr>
                        <a:latin typeface="IBM Plex Sans"/>
                        <a:cs typeface="IBM Plex Sans"/>
                      </a:endParaRPr>
                    </a:p>
                  </a:txBody>
                  <a:tcPr marL="91449" marR="91449" marT="45724" marB="45724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>
                          <a:latin typeface="IBM Plex Sans"/>
                          <a:ea typeface="IBM Plex Sans"/>
                          <a:cs typeface="IBM Plex Sans"/>
                        </a:rPr>
                        <a:t>7201862574</a:t>
                      </a:r>
                      <a:endParaRPr>
                        <a:latin typeface="IBM Plex Sans"/>
                        <a:cs typeface="IBM Plex Sans"/>
                      </a:endParaRPr>
                    </a:p>
                  </a:txBody>
                  <a:tcPr marL="91449" marR="91449" marT="45724" marB="45724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D0DEEF"/>
                    </a:solidFill>
                  </a:tcPr>
                </a:tc>
              </a:tr>
              <a:tr h="1193891"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>
                          <a:latin typeface="IBM Plex Sans"/>
                          <a:ea typeface="IBM Plex Sans"/>
                          <a:cs typeface="IBM Plex Sans"/>
                        </a:rPr>
                        <a:t>Paras Bhaliya</a:t>
                      </a:r>
                      <a:endParaRPr>
                        <a:latin typeface="IBM Plex Sans"/>
                        <a:cs typeface="IBM Plex Sans"/>
                      </a:endParaRPr>
                    </a:p>
                  </a:txBody>
                  <a:tcPr marL="91449" marR="91449" marT="45724" marB="45724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800">
                        <a:latin typeface="IBM Plex Sans"/>
                        <a:cs typeface="IBM Plex Sans"/>
                      </a:endParaRPr>
                    </a:p>
                  </a:txBody>
                  <a:tcPr marL="91449" marR="91449" marT="45724" marB="45724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tx1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parasbhaliya2@gmail.com</a:t>
                      </a:r>
                      <a:endParaRPr>
                        <a:latin typeface="IBM Plex Sans"/>
                        <a:cs typeface="IBM Plex Sans"/>
                      </a:endParaRPr>
                    </a:p>
                  </a:txBody>
                  <a:tcPr marL="91449" marR="91449" marT="45724" marB="45724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tx1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7600645406</a:t>
                      </a:r>
                      <a:endParaRPr>
                        <a:latin typeface="IBM Plex Sans"/>
                        <a:cs typeface="IBM Plex Sans"/>
                      </a:endParaRPr>
                    </a:p>
                  </a:txBody>
                  <a:tcPr marL="91449" marR="91449" marT="45724" marB="45724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pic>
        <p:nvPicPr>
          <p:cNvPr id="1338492112" name=""/>
          <p:cNvPicPr>
            <a:picLocks noChangeAspect="1"/>
          </p:cNvPicPr>
          <p:nvPr/>
        </p:nvPicPr>
        <p:blipFill rotWithShape="1">
          <a:blip r:embed="rId3"/>
          <a:srcRect l="66076" t="11006" r="7292" b="48375"/>
          <a:stretch/>
        </p:blipFill>
        <p:spPr bwMode="auto">
          <a:xfrm flipH="0" flipV="0">
            <a:off x="4030714" y="4834386"/>
            <a:ext cx="782592" cy="895232"/>
          </a:xfrm>
          <a:prstGeom prst="rect">
            <a:avLst/>
          </a:prstGeom>
        </p:spPr>
      </p:pic>
      <p:pic>
        <p:nvPicPr>
          <p:cNvPr id="45854832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030714" y="3809999"/>
            <a:ext cx="782592" cy="7825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203003" name="TextBox 1"/>
          <p:cNvSpPr txBox="1"/>
          <p:nvPr/>
        </p:nvSpPr>
        <p:spPr bwMode="auto">
          <a:xfrm flipH="0" flipV="0">
            <a:off x="576072" y="1161648"/>
            <a:ext cx="10618557" cy="701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Smart Renewable Energy (Solar-Wind Hybrid) Asset Monitoring for </a:t>
            </a:r>
            <a:r>
              <a:rPr lang="en-US" sz="20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Kutch &amp; Banaskantha</a:t>
            </a:r>
            <a:endParaRPr lang="en-US" sz="2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14301461" name="TextBox 2"/>
          <p:cNvSpPr txBox="1"/>
          <p:nvPr/>
        </p:nvSpPr>
        <p:spPr bwMode="auto">
          <a:xfrm>
            <a:off x="576072" y="704088"/>
            <a:ext cx="7219293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>
                <a:latin typeface="IBM Plex Sans"/>
                <a:ea typeface="IBM Plex Sans"/>
                <a:cs typeface="IBM Plex Sans"/>
              </a:rPr>
              <a:t>Problem Statement</a:t>
            </a:r>
            <a:r>
              <a:rPr lang="en-US" sz="2400" b="1">
                <a:latin typeface="IBM Plex Sans"/>
                <a:ea typeface="IBM Plex Sans"/>
                <a:cs typeface="IBM Plex Sans"/>
              </a:rPr>
              <a:t> : </a:t>
            </a:r>
            <a:endParaRPr sz="2400" b="1">
              <a:latin typeface="IBM Plex Sans"/>
              <a:cs typeface="IBM Plex Sans"/>
            </a:endParaRPr>
          </a:p>
        </p:txBody>
      </p:sp>
      <p:sp>
        <p:nvSpPr>
          <p:cNvPr id="2018132170" name="TextBox 3"/>
          <p:cNvSpPr txBox="1"/>
          <p:nvPr/>
        </p:nvSpPr>
        <p:spPr bwMode="auto">
          <a:xfrm flipH="0" flipV="0">
            <a:off x="576072" y="1954634"/>
            <a:ext cx="10621797" cy="579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800" b="1">
                <a:latin typeface="IBM Plex Sans"/>
                <a:ea typeface="IBM Plex Sans"/>
                <a:cs typeface="IBM Plex Sans"/>
              </a:rPr>
              <a:t>Domain</a:t>
            </a:r>
            <a:endParaRPr lang="en-US" sz="1800" b="1">
              <a:latin typeface="IBM Plex Sans"/>
              <a:ea typeface="IBM Plex Sans"/>
              <a:cs typeface="IBM Plex Sans"/>
            </a:endParaRPr>
          </a:p>
          <a:p>
            <a:pPr>
              <a:defRPr/>
            </a:pPr>
            <a:r>
              <a:rPr lang="en-US" sz="1400" b="0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Energy &amp; Sustainability</a:t>
            </a:r>
            <a:endParaRPr sz="2400" b="1">
              <a:highlight>
                <a:srgbClr val="FFFF00"/>
              </a:highlight>
              <a:latin typeface="IBM Plex Sans"/>
              <a:cs typeface="IBM Plex Sans"/>
            </a:endParaRPr>
          </a:p>
        </p:txBody>
      </p:sp>
      <p:sp>
        <p:nvSpPr>
          <p:cNvPr id="460461798" name=""/>
          <p:cNvSpPr txBox="1"/>
          <p:nvPr/>
        </p:nvSpPr>
        <p:spPr bwMode="auto">
          <a:xfrm rot="0" flipH="0" flipV="0">
            <a:off x="575351" y="2607199"/>
            <a:ext cx="10619637" cy="1859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800" b="1">
                <a:latin typeface="IBM Plex Sans"/>
                <a:ea typeface="IBM Plex Sans"/>
                <a:cs typeface="IBM Plex Sans"/>
              </a:rPr>
              <a:t>The Challenge </a:t>
            </a:r>
            <a:endParaRPr sz="1400">
              <a:latin typeface="IBM Plex Sans"/>
              <a:cs typeface="IBM Plex Sans"/>
            </a:endParaRPr>
          </a:p>
          <a:p>
            <a:pPr algn="l">
              <a:defRPr/>
            </a:pPr>
            <a:r>
              <a:rPr sz="1400">
                <a:latin typeface="IBM Plex Sans"/>
                <a:ea typeface="IBM Plex Sans"/>
                <a:cs typeface="IBM Plex Sans"/>
              </a:rPr>
              <a:t>Gujarat leads India in hybrid solar-wind renewable capacity, particularly in Kutch and Banaskantha, but scattered installations face inefficiencies from inconsistent maintenance scheduling, under-performance detection, and grid integration challenges. 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l"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Inconsistent Maintenance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→ Reactive scheduling and delayed servicing</a:t>
            </a:r>
            <a:b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Asset Under-performance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→ Difficulties in identifying anomalies and energy losses</a:t>
            </a:r>
            <a:b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Weather Variability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→ Uncertain solar and wind generation</a:t>
            </a:r>
            <a:b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Grid Integration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→ Challenges in balancing generation, storage, export and curtailment</a:t>
            </a:r>
            <a:b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Fragmented Data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→ Multiple sensors, SCADA and monitoring systems with limited unified intelligence</a:t>
            </a:r>
            <a:endParaRPr sz="1400"/>
          </a:p>
        </p:txBody>
      </p:sp>
      <p:sp>
        <p:nvSpPr>
          <p:cNvPr id="1769375444" name=""/>
          <p:cNvSpPr/>
          <p:nvPr/>
        </p:nvSpPr>
        <p:spPr bwMode="auto">
          <a:xfrm flipH="0" flipV="0">
            <a:off x="576072" y="4582897"/>
            <a:ext cx="10621077" cy="5794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Target AI Agents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400" b="0" i="1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Asset Performance | Predictive Maintenance | Weather &amp; Generation Forecasting | Grid Optimization | Renewable Energy Dashboard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89662519" name=""/>
          <p:cNvSpPr/>
          <p:nvPr/>
        </p:nvSpPr>
        <p:spPr bwMode="auto">
          <a:xfrm flipH="0" flipV="0">
            <a:off x="576072" y="5241801"/>
            <a:ext cx="10621077" cy="7928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Core Problem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How can we transform scattered renewable-energy data into proactive, AI-driven decisions that improve asset performance, reliability, and grid integration?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663497" name="TextBox 1"/>
          <p:cNvSpPr txBox="1"/>
          <p:nvPr/>
        </p:nvSpPr>
        <p:spPr bwMode="auto">
          <a:xfrm flipH="0" flipV="0">
            <a:off x="576072" y="1234439"/>
            <a:ext cx="10623957" cy="396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GreenPulse AI </a:t>
            </a:r>
            <a:r>
              <a:rPr sz="2000" b="1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- Agentic AI for Smarter Renewable Energy Management</a:t>
            </a:r>
            <a:endParaRPr sz="2000" b="1" i="0" u="none" strike="noStrike" cap="none" spc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40694618" name="TextBox 2"/>
          <p:cNvSpPr txBox="1"/>
          <p:nvPr/>
        </p:nvSpPr>
        <p:spPr bwMode="auto">
          <a:xfrm>
            <a:off x="576072" y="704088"/>
            <a:ext cx="7220373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Proposed Solution</a:t>
            </a:r>
            <a:r>
              <a:rPr lang="en-US" sz="2400" b="1">
                <a:latin typeface="IBM Plex Sans"/>
                <a:ea typeface="IBM Plex Sans"/>
                <a:cs typeface="IBM Plex Sans"/>
              </a:rPr>
              <a:t> : </a:t>
            </a:r>
            <a:endParaRPr sz="2400" b="1">
              <a:latin typeface="IBM Plex Sans"/>
              <a:cs typeface="IBM Plex Sans"/>
            </a:endParaRPr>
          </a:p>
        </p:txBody>
      </p:sp>
      <p:sp>
        <p:nvSpPr>
          <p:cNvPr id="628727309" name=""/>
          <p:cNvSpPr/>
          <p:nvPr/>
        </p:nvSpPr>
        <p:spPr bwMode="auto">
          <a:xfrm flipH="0" flipV="0">
            <a:off x="576072" y="2238667"/>
            <a:ext cx="10627557" cy="310932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	GreenPulse AI</a:t>
            </a: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 is an IBM-powered platform that connects renewable-energy assets, real-time data, and autonomous AI agents to </a:t>
            </a:r>
            <a:r>
              <a:rPr sz="1800" b="1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detect issues, predict generation, optimize performance, and support faster decisions.</a:t>
            </a:r>
            <a:endParaRPr sz="1800" b="1" i="0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>
              <a:defRPr/>
            </a:pPr>
            <a:endParaRPr sz="1800" b="1" i="0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	Using </a:t>
            </a:r>
            <a:r>
              <a:rPr lang="en-US" sz="18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IBM Granite, watsonx.ai, and IBM Cloud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, multiple specialized AI agents work together to predict maintenance needs, forecast renewable generation, and optimize grid integration through data-driven recommendations.</a:t>
            </a:r>
            <a:endParaRPr sz="2000"/>
          </a:p>
          <a:p>
            <a:pPr>
              <a:defRPr/>
            </a:pPr>
            <a:endParaRPr sz="1800" b="0" i="0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	The platform brings all insights into a </a:t>
            </a:r>
            <a:r>
              <a:rPr lang="en-US" sz="1800" b="1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single intelligent dashboard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, helping operators take faster action, reduce downtime, improve energy generation, and achieve smarter and more reliable renewable-energy management.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195579" name="TextBox 2"/>
          <p:cNvSpPr txBox="1"/>
          <p:nvPr/>
        </p:nvSpPr>
        <p:spPr bwMode="auto">
          <a:xfrm>
            <a:off x="576072" y="704088"/>
            <a:ext cx="7226853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Tech Stack Used</a:t>
            </a:r>
            <a:r>
              <a:rPr lang="en-US" sz="2400" b="1">
                <a:latin typeface="IBM Plex Sans"/>
                <a:ea typeface="IBM Plex Sans"/>
                <a:cs typeface="IBM Plex Sans"/>
              </a:rPr>
              <a:t> : </a:t>
            </a:r>
            <a:endParaRPr sz="2400" b="1">
              <a:latin typeface="IBM Plex Sans"/>
              <a:cs typeface="IBM Plex Sans"/>
            </a:endParaRPr>
          </a:p>
        </p:txBody>
      </p:sp>
      <p:sp>
        <p:nvSpPr>
          <p:cNvPr id="1761472209" name=""/>
          <p:cNvSpPr/>
          <p:nvPr/>
        </p:nvSpPr>
        <p:spPr bwMode="auto">
          <a:xfrm flipH="0" flipV="0">
            <a:off x="638549" y="1418541"/>
            <a:ext cx="4467972" cy="146340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AI / LLM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IBM Granite 13B with IBM BOB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IBM watsonx.ai inference API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Multi-agent agentic architecture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Mock AI fallback (no-key mode)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0937877" name=""/>
          <p:cNvSpPr/>
          <p:nvPr/>
        </p:nvSpPr>
        <p:spPr bwMode="auto">
          <a:xfrm flipH="0" flipV="0">
            <a:off x="665930" y="3242452"/>
            <a:ext cx="4468692" cy="173772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Frontend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React 18 + TypeScript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Vite 5 + Recharts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React Router v6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useLiveStream SSE hook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IBM Plex Sans + Mono fonts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68484173" name=""/>
          <p:cNvSpPr/>
          <p:nvPr/>
        </p:nvSpPr>
        <p:spPr bwMode="auto">
          <a:xfrm flipH="0" flipV="0">
            <a:off x="6215811" y="3242452"/>
            <a:ext cx="3868870" cy="146340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Backend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Node.js + Express 4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TypeScript + ts-node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Server-Sent Events (SSE)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dataSourceAdapter pattern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35547282" name=""/>
          <p:cNvSpPr/>
          <p:nvPr/>
        </p:nvSpPr>
        <p:spPr bwMode="auto">
          <a:xfrm flipH="0" flipV="0">
            <a:off x="6215811" y="1418541"/>
            <a:ext cx="3554009" cy="146340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IBM Cloud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Event Streams (Kafka 3.x)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Databases for PostgreSQL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Code Engine (deploy target)</a:t>
            </a:r>
            <a:endParaRPr sz="1800">
              <a:latin typeface="IBM Plex Sans"/>
              <a:cs typeface="IBM Plex Sans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• IAM API key authentication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904154" name=""/>
          <p:cNvSpPr txBox="1"/>
          <p:nvPr/>
        </p:nvSpPr>
        <p:spPr bwMode="auto">
          <a:xfrm rot="0" flipH="0" flipV="0">
            <a:off x="2968932" y="-8920219"/>
            <a:ext cx="625449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3432118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788541" y="1061357"/>
            <a:ext cx="6615276" cy="5510892"/>
          </a:xfrm>
          <a:prstGeom prst="rect">
            <a:avLst/>
          </a:prstGeom>
        </p:spPr>
      </p:pic>
      <p:sp>
        <p:nvSpPr>
          <p:cNvPr id="1671151923" name="TextBox 2"/>
          <p:cNvSpPr txBox="1"/>
          <p:nvPr/>
        </p:nvSpPr>
        <p:spPr bwMode="auto">
          <a:xfrm>
            <a:off x="576072" y="475308"/>
            <a:ext cx="7233691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400" b="1" i="0" u="none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Architecture</a:t>
            </a:r>
            <a:endParaRPr sz="8000" b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847381" name="TextBox 2"/>
          <p:cNvSpPr txBox="1"/>
          <p:nvPr/>
        </p:nvSpPr>
        <p:spPr bwMode="auto">
          <a:xfrm>
            <a:off x="576072" y="578286"/>
            <a:ext cx="7222172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/>
            </a:pP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IBM Bob Screenshots:</a:t>
            </a:r>
            <a:endParaRPr sz="2400" b="1">
              <a:latin typeface="IBM Plex Sans"/>
              <a:cs typeface="IBM Plex Sans"/>
            </a:endParaRPr>
          </a:p>
        </p:txBody>
      </p:sp>
      <p:pic>
        <p:nvPicPr>
          <p:cNvPr id="1390560170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1425086" y="1161648"/>
            <a:ext cx="9341826" cy="5254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288471" name="TextBox 2"/>
          <p:cNvSpPr txBox="1"/>
          <p:nvPr/>
        </p:nvSpPr>
        <p:spPr bwMode="auto">
          <a:xfrm>
            <a:off x="576072" y="578286"/>
            <a:ext cx="7222172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/>
            </a:pP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IBM Bob Screenshots:</a:t>
            </a:r>
            <a:endParaRPr sz="2400" b="1">
              <a:latin typeface="IBM Plex Sans"/>
              <a:cs typeface="IBM Plex Sans"/>
            </a:endParaRPr>
          </a:p>
        </p:txBody>
      </p:sp>
      <p:pic>
        <p:nvPicPr>
          <p:cNvPr id="198328118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25086" y="1161648"/>
            <a:ext cx="9341826" cy="5254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809841" name="TextBox 2"/>
          <p:cNvSpPr txBox="1"/>
          <p:nvPr/>
        </p:nvSpPr>
        <p:spPr bwMode="auto">
          <a:xfrm>
            <a:off x="576072" y="578286"/>
            <a:ext cx="7222172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/>
            </a:pP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IBM Bob Screenshots:</a:t>
            </a:r>
            <a:endParaRPr sz="2400" b="1">
              <a:latin typeface="IBM Plex Sans"/>
              <a:cs typeface="IBM Plex Sans"/>
            </a:endParaRPr>
          </a:p>
        </p:txBody>
      </p:sp>
      <p:pic>
        <p:nvPicPr>
          <p:cNvPr id="9666084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1426464" y="1161287"/>
            <a:ext cx="9345168" cy="52577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361853" name="TextBox 2"/>
          <p:cNvSpPr txBox="1"/>
          <p:nvPr/>
        </p:nvSpPr>
        <p:spPr bwMode="auto">
          <a:xfrm>
            <a:off x="576072" y="578286"/>
            <a:ext cx="7222172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/>
            </a:pP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IBM Bob Screenshots:</a:t>
            </a:r>
            <a:endParaRPr sz="2400" b="1">
              <a:latin typeface="IBM Plex Sans"/>
              <a:cs typeface="IBM Plex Sans"/>
            </a:endParaRPr>
          </a:p>
        </p:txBody>
      </p:sp>
      <p:pic>
        <p:nvPicPr>
          <p:cNvPr id="1546587997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1425086" y="1161648"/>
            <a:ext cx="9341826" cy="5254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923605" name="TextBox 2"/>
          <p:cNvSpPr txBox="1"/>
          <p:nvPr/>
        </p:nvSpPr>
        <p:spPr bwMode="auto">
          <a:xfrm>
            <a:off x="576072" y="578286"/>
            <a:ext cx="7222172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/>
            </a:pP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IBM Bob Screenshots:</a:t>
            </a:r>
            <a:endParaRPr sz="2400" b="1">
              <a:latin typeface="IBM Plex Sans"/>
              <a:cs typeface="IBM Plex Sans"/>
            </a:endParaRPr>
          </a:p>
        </p:txBody>
      </p:sp>
      <p:pic>
        <p:nvPicPr>
          <p:cNvPr id="348846228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1425086" y="1161648"/>
            <a:ext cx="9341826" cy="5254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968171" name="TextBox 2"/>
          <p:cNvSpPr txBox="1"/>
          <p:nvPr/>
        </p:nvSpPr>
        <p:spPr bwMode="auto">
          <a:xfrm>
            <a:off x="576072" y="704088"/>
            <a:ext cx="7224332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400" b="1" i="0" u="none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Role of Agentic AI in GreenPulse AI</a:t>
            </a:r>
            <a:endParaRPr sz="8000" b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489932" name=""/>
          <p:cNvSpPr/>
          <p:nvPr/>
        </p:nvSpPr>
        <p:spPr bwMode="auto">
          <a:xfrm flipH="0" flipV="0">
            <a:off x="576072" y="1161648"/>
            <a:ext cx="11223948" cy="5794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600" b="0" i="0" u="none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Powered by IBM Granite 13B LLM &amp; IBM watsonx.ai — six specialized agents collaborate in real time to monitor, predict, and optimize 19 renewable energy assets across Kutch &amp; Banaskantha, Gujarat.</a:t>
            </a:r>
            <a:endParaRPr sz="260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396207396" name=""/>
          <p:cNvSpPr/>
          <p:nvPr/>
        </p:nvSpPr>
        <p:spPr bwMode="auto">
          <a:xfrm flipH="0" flipV="0">
            <a:off x="576072" y="2015887"/>
            <a:ext cx="3613426" cy="7623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600" b="1" i="0" u="none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Weather Agent</a:t>
            </a:r>
            <a:endParaRPr sz="1000" b="0" i="0" u="none">
              <a:solidFill>
                <a:schemeClr val="tx1"/>
              </a:solidFill>
              <a:latin typeface="IBM Plex Sans"/>
              <a:cs typeface="IBM Plex Sans"/>
            </a:endParaRPr>
          </a:p>
          <a:p>
            <a:pPr>
              <a:defRPr/>
            </a:pPr>
            <a:r>
              <a:rPr sz="1400" b="0" i="0" u="none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Analyzes irradiance, wind speed, dust index, extreme events</a:t>
            </a:r>
            <a:endParaRPr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616290522" name=""/>
          <p:cNvSpPr/>
          <p:nvPr/>
        </p:nvSpPr>
        <p:spPr bwMode="auto">
          <a:xfrm flipH="0" flipV="0">
            <a:off x="576072" y="2880293"/>
            <a:ext cx="3614865" cy="7623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Forecast Agent</a:t>
            </a:r>
            <a:endParaRPr sz="1000" b="0" i="0" u="none">
              <a:solidFill>
                <a:schemeClr val="tx1"/>
              </a:solidFill>
              <a:latin typeface="IBM Plex Sans"/>
              <a:cs typeface="IBM Plex Sans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Predicts solar &amp; wind output 48 h ahead  incl. dust storms &amp; cut-out</a:t>
            </a:r>
            <a:endParaRPr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41809045" name=""/>
          <p:cNvSpPr/>
          <p:nvPr/>
        </p:nvSpPr>
        <p:spPr bwMode="auto">
          <a:xfrm flipH="0" flipV="0">
            <a:off x="7740015" y="2015887"/>
            <a:ext cx="2693484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600" b="1" i="0" u="none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Key Capabilities</a:t>
            </a:r>
            <a:endParaRPr sz="260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811972528" name=""/>
          <p:cNvSpPr/>
          <p:nvPr/>
        </p:nvSpPr>
        <p:spPr bwMode="auto">
          <a:xfrm flipH="0" flipV="0">
            <a:off x="574632" y="3747067"/>
            <a:ext cx="3614865" cy="7623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Performance Agent</a:t>
            </a:r>
            <a:endParaRPr sz="1000" b="0" i="0" u="none">
              <a:solidFill>
                <a:schemeClr val="tx1"/>
              </a:solidFill>
              <a:latin typeface="IBM Plex Sans"/>
              <a:cs typeface="IBM Plex Sans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Detects anomalies — output deficits, SCADA comm loss, thermal derating</a:t>
            </a:r>
            <a:endParaRPr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425672498" name=""/>
          <p:cNvSpPr txBox="1"/>
          <p:nvPr/>
        </p:nvSpPr>
        <p:spPr bwMode="auto">
          <a:xfrm rot="0" flipH="0" flipV="0">
            <a:off x="7740015" y="2381421"/>
            <a:ext cx="4060724" cy="3718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 algn="l">
              <a:buFont typeface="Wingdings"/>
              <a:buChar char="§"/>
              <a:defRPr/>
            </a:pPr>
            <a:r>
              <a:rPr sz="1400">
                <a:latin typeface="IBM Plex Sans"/>
                <a:ea typeface="IBM Plex Sans"/>
                <a:cs typeface="IBM Plex Sans"/>
              </a:rPr>
              <a:t>Real-Time Context : Agents receive live sensor data every 3 seconds; every IBM Granite response is built from the current asset state, not static data</a:t>
            </a:r>
            <a:endParaRPr sz="1400">
              <a:latin typeface="IBM Plex Sans"/>
              <a:cs typeface="IBM Plex Sans"/>
            </a:endParaRPr>
          </a:p>
          <a:p>
            <a:pPr marL="283879" indent="-283879" algn="l">
              <a:buFont typeface="Wingdings"/>
              <a:buChar char="§"/>
              <a:defRPr/>
            </a:pPr>
            <a:r>
              <a:rPr sz="1400">
                <a:latin typeface="IBM Plex Sans"/>
                <a:ea typeface="IBM Plex Sans"/>
                <a:cs typeface="IBM Plex Sans"/>
              </a:rPr>
              <a:t>Agent Chaining : Each agent passes its finding to the next: Weather → Forecast → Performance → Maintenance → Grid → Dashboard</a:t>
            </a:r>
            <a:endParaRPr sz="1400">
              <a:latin typeface="IBM Plex Sans"/>
              <a:cs typeface="IBM Plex Sans"/>
            </a:endParaRPr>
          </a:p>
          <a:p>
            <a:pPr marL="283879" indent="-283879" algn="l">
              <a:buFont typeface="Wingdings"/>
              <a:buChar char="§"/>
              <a:defRPr/>
            </a:pPr>
            <a:r>
              <a:rPr sz="1400">
                <a:latin typeface="IBM Plex Sans"/>
                <a:ea typeface="IBM Plex Sans"/>
                <a:cs typeface="IBM Plex Sans"/>
              </a:rPr>
              <a:t>Explainable Decisions : Every recommendation includes WHAT was detected, WHY (sensor readings + thresholds), ACTION (with timeframe), and CONFIDENCE %</a:t>
            </a:r>
            <a:endParaRPr sz="1400">
              <a:latin typeface="IBM Plex Sans"/>
              <a:cs typeface="IBM Plex Sans"/>
            </a:endParaRPr>
          </a:p>
          <a:p>
            <a:pPr marL="283879" indent="-283879" algn="l">
              <a:buFont typeface="Wingdings"/>
              <a:buChar char="§"/>
              <a:defRPr/>
            </a:pPr>
            <a:r>
              <a:rPr sz="1400">
                <a:latin typeface="IBM Plex Sans"/>
                <a:ea typeface="IBM Plex Sans"/>
                <a:cs typeface="IBM Plex Sans"/>
              </a:rPr>
              <a:t>Proactive Intelligence : Detects WT-07 gearbox degradation days before failure; forecasts grid curtailment hours ahead — not just threshold alerts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71822601" name=""/>
          <p:cNvSpPr/>
          <p:nvPr/>
        </p:nvSpPr>
        <p:spPr bwMode="auto">
          <a:xfrm flipH="0" flipV="0">
            <a:off x="4118253" y="3807880"/>
            <a:ext cx="3517463" cy="7623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Dashboard Agent</a:t>
            </a:r>
            <a:endParaRPr sz="1000" b="0" i="0" u="none">
              <a:solidFill>
                <a:schemeClr val="tx1"/>
              </a:solidFill>
              <a:latin typeface="IBM Plex Sans"/>
              <a:cs typeface="IBM Plex Sans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Orchestrates all agents — produces AI Copilot recommendations</a:t>
            </a:r>
            <a:endParaRPr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384909542" name=""/>
          <p:cNvSpPr/>
          <p:nvPr/>
        </p:nvSpPr>
        <p:spPr bwMode="auto">
          <a:xfrm flipH="0" flipV="0">
            <a:off x="4125510" y="2880293"/>
            <a:ext cx="3615945" cy="7623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Grid Agent</a:t>
            </a:r>
            <a:endParaRPr sz="1000" b="0" i="0" u="none">
              <a:solidFill>
                <a:schemeClr val="tx1"/>
              </a:solidFill>
              <a:latin typeface="IBM Plex Sans"/>
              <a:cs typeface="IBM Plex Sans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Manages export, storage &amp; curtailment — blackout response</a:t>
            </a:r>
            <a:endParaRPr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654090323" name=""/>
          <p:cNvSpPr/>
          <p:nvPr/>
        </p:nvSpPr>
        <p:spPr bwMode="auto">
          <a:xfrm flipH="0" flipV="0">
            <a:off x="4118253" y="2015481"/>
            <a:ext cx="3616305" cy="7623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Maintenance Agent</a:t>
            </a:r>
            <a:endParaRPr sz="1000" b="0" i="0" u="none">
              <a:solidFill>
                <a:schemeClr val="tx1"/>
              </a:solidFill>
              <a:latin typeface="IBM Plex Sans"/>
              <a:cs typeface="IBM Plex Sans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Predicts failures from vibration, temperature &amp; RPM trends</a:t>
            </a:r>
            <a:endParaRPr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973937744" name=""/>
          <p:cNvSpPr txBox="1"/>
          <p:nvPr/>
        </p:nvSpPr>
        <p:spPr bwMode="auto">
          <a:xfrm rot="0" flipH="0" flipV="0">
            <a:off x="574632" y="4876799"/>
            <a:ext cx="7062884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IBM Plex Serif"/>
                <a:ea typeface="IBM Plex Serif"/>
                <a:cs typeface="IBM Plex Serif"/>
              </a:rPr>
              <a:t>"Six specialized agents. One coordinated intelligence. Acting as a proactive digital operations engineer — autonomous, context-aware, and explainable."</a:t>
            </a:r>
            <a:endParaRPr b="1">
              <a:latin typeface="IBM Plex Serif"/>
              <a:cs typeface="IBM Plex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708633" name="TextBox 2"/>
          <p:cNvSpPr txBox="1"/>
          <p:nvPr/>
        </p:nvSpPr>
        <p:spPr bwMode="auto">
          <a:xfrm>
            <a:off x="576072" y="578286"/>
            <a:ext cx="7234772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/>
            </a:pP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Project Output Screenshots:</a:t>
            </a:r>
            <a:r>
              <a:rPr sz="2400" b="1">
                <a:latin typeface="IBM Plex Sans"/>
                <a:cs typeface="IBM Plex Sans"/>
              </a:rPr>
              <a:t> (Landing Page)</a:t>
            </a:r>
            <a:endParaRPr sz="2400" b="1">
              <a:latin typeface="IBM Plex Sans"/>
              <a:cs typeface="IBM Plex Sans"/>
            </a:endParaRPr>
          </a:p>
        </p:txBody>
      </p:sp>
      <p:pic>
        <p:nvPicPr>
          <p:cNvPr id="939061798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1425086" y="1161648"/>
            <a:ext cx="9341826" cy="5254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410305" name="TextBox 2"/>
          <p:cNvSpPr txBox="1"/>
          <p:nvPr/>
        </p:nvSpPr>
        <p:spPr bwMode="auto">
          <a:xfrm>
            <a:off x="576072" y="578286"/>
            <a:ext cx="7234052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/>
            </a:pP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Project Output Screenshots:</a:t>
            </a:r>
            <a:r>
              <a:rPr sz="2400" b="1">
                <a:latin typeface="IBM Plex Sans"/>
                <a:cs typeface="IBM Plex Sans"/>
              </a:rPr>
              <a:t> (Command Center)</a:t>
            </a:r>
            <a:endParaRPr sz="2400" b="1">
              <a:latin typeface="IBM Plex Sans"/>
              <a:cs typeface="IBM Plex Sans"/>
            </a:endParaRPr>
          </a:p>
        </p:txBody>
      </p:sp>
      <p:pic>
        <p:nvPicPr>
          <p:cNvPr id="1940556321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1425086" y="1161648"/>
            <a:ext cx="9341826" cy="5254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356022" name="TextBox 2"/>
          <p:cNvSpPr txBox="1"/>
          <p:nvPr/>
        </p:nvSpPr>
        <p:spPr bwMode="auto">
          <a:xfrm>
            <a:off x="576072" y="578286"/>
            <a:ext cx="7232972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/>
            </a:pP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Project Output Screenshots:</a:t>
            </a:r>
            <a:r>
              <a:rPr sz="2400" b="1">
                <a:latin typeface="IBM Plex Sans"/>
                <a:cs typeface="IBM Plex Sans"/>
              </a:rPr>
              <a:t> (Live Assets)</a:t>
            </a:r>
            <a:endParaRPr sz="2400" b="1">
              <a:latin typeface="IBM Plex Sans"/>
              <a:cs typeface="IBM Plex Sans"/>
            </a:endParaRPr>
          </a:p>
        </p:txBody>
      </p:sp>
      <p:pic>
        <p:nvPicPr>
          <p:cNvPr id="917414824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1425086" y="1161648"/>
            <a:ext cx="9341826" cy="5254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05503" name="TextBox 2"/>
          <p:cNvSpPr txBox="1"/>
          <p:nvPr/>
        </p:nvSpPr>
        <p:spPr bwMode="auto">
          <a:xfrm flipH="0" flipV="0">
            <a:off x="576072" y="578286"/>
            <a:ext cx="10982289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/>
            </a:pP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Project Output Screenshots:</a:t>
            </a:r>
            <a:r>
              <a:rPr sz="2400" b="1">
                <a:latin typeface="IBM Plex Sans"/>
                <a:cs typeface="IBM Plex Sans"/>
              </a:rPr>
              <a:t> (Weather Intelligence)</a:t>
            </a:r>
            <a:endParaRPr sz="2400" b="1">
              <a:latin typeface="IBM Plex Sans"/>
              <a:cs typeface="IBM Plex Sans"/>
            </a:endParaRPr>
          </a:p>
        </p:txBody>
      </p:sp>
      <p:pic>
        <p:nvPicPr>
          <p:cNvPr id="1947183955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1425086" y="1161648"/>
            <a:ext cx="9341826" cy="5254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549125" name="TextBox 2"/>
          <p:cNvSpPr txBox="1"/>
          <p:nvPr/>
        </p:nvSpPr>
        <p:spPr bwMode="auto">
          <a:xfrm>
            <a:off x="576072" y="578286"/>
            <a:ext cx="7234052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/>
            </a:pP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Project Output Screenshots:</a:t>
            </a:r>
            <a:r>
              <a:rPr sz="2400" b="1">
                <a:latin typeface="IBM Plex Sans"/>
                <a:cs typeface="IBM Plex Sans"/>
              </a:rPr>
              <a:t> (Alert Center)</a:t>
            </a:r>
            <a:endParaRPr sz="2400" b="1">
              <a:latin typeface="IBM Plex Sans"/>
              <a:cs typeface="IBM Plex Sans"/>
            </a:endParaRPr>
          </a:p>
        </p:txBody>
      </p:sp>
      <p:pic>
        <p:nvPicPr>
          <p:cNvPr id="348862327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1425086" y="1161648"/>
            <a:ext cx="9341826" cy="5254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183966" name="TextBox 2"/>
          <p:cNvSpPr txBox="1"/>
          <p:nvPr/>
        </p:nvSpPr>
        <p:spPr bwMode="auto">
          <a:xfrm>
            <a:off x="576072" y="578286"/>
            <a:ext cx="7232612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/>
            </a:pP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b="1" i="0" u="none" strike="noStrike" cap="none" spc="0">
                <a:solidFill>
                  <a:srgbClr val="051D3A"/>
                </a:solidFill>
                <a:latin typeface="IBM Plex Sans"/>
                <a:ea typeface="IBM Plex Sans"/>
                <a:cs typeface="IBM Plex Sans"/>
              </a:rPr>
              <a:t>Project Output Screenshots: (AI Copliot)</a:t>
            </a:r>
            <a:endParaRPr sz="2400" b="1">
              <a:latin typeface="IBM Plex Sans"/>
              <a:cs typeface="IBM Plex Sans"/>
            </a:endParaRPr>
          </a:p>
        </p:txBody>
      </p:sp>
      <p:pic>
        <p:nvPicPr>
          <p:cNvPr id="80430031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1425086" y="1161648"/>
            <a:ext cx="9341826" cy="5254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541348" name="TextBox 2"/>
          <p:cNvSpPr txBox="1"/>
          <p:nvPr/>
        </p:nvSpPr>
        <p:spPr bwMode="auto">
          <a:xfrm>
            <a:off x="576072" y="704088"/>
            <a:ext cx="7229012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400" b="1" i="0" u="none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Future Scope</a:t>
            </a:r>
            <a:endParaRPr sz="8000" b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56546781" name=""/>
          <p:cNvSpPr/>
          <p:nvPr/>
        </p:nvSpPr>
        <p:spPr bwMode="auto">
          <a:xfrm flipH="0" flipV="0">
            <a:off x="576072" y="1161648"/>
            <a:ext cx="11226468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From prototype to production — the roadmap for GreenPulse AI at scale across Gujarat's renewable energy grid.</a:t>
            </a:r>
            <a:endParaRPr sz="160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720636027" name=""/>
          <p:cNvSpPr txBox="1"/>
          <p:nvPr/>
        </p:nvSpPr>
        <p:spPr bwMode="auto">
          <a:xfrm rot="0" flipH="0" flipV="0">
            <a:off x="576072" y="5572305"/>
            <a:ext cx="11232228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1" i="0" u="none" strike="noStrike" cap="none" spc="0">
                <a:solidFill>
                  <a:schemeClr val="tx1"/>
                </a:solidFill>
                <a:latin typeface="IBM Plex Serif"/>
                <a:ea typeface="IBM Plex Serif"/>
                <a:cs typeface="IBM Plex Serif"/>
              </a:rPr>
              <a:t>"Every component of the production path is almost architected — the switch from prototype to live IBM Cloud infrastructure requires no code changes, only credentials."</a:t>
            </a:r>
            <a:endParaRPr sz="1600" b="1">
              <a:latin typeface="IBM Plex Sans"/>
              <a:cs typeface="IBM Plex Sans"/>
            </a:endParaRPr>
          </a:p>
        </p:txBody>
      </p:sp>
      <p:sp>
        <p:nvSpPr>
          <p:cNvPr id="1680267158" name=""/>
          <p:cNvSpPr txBox="1"/>
          <p:nvPr/>
        </p:nvSpPr>
        <p:spPr bwMode="auto">
          <a:xfrm rot="0" flipH="0" flipV="0">
            <a:off x="576072" y="1680460"/>
            <a:ext cx="5304153" cy="1219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 b="1">
                <a:latin typeface="IBM Plex Sans"/>
                <a:ea typeface="IBM Plex Sans"/>
                <a:cs typeface="IBM Plex Sans"/>
              </a:rPr>
              <a:t>IBM Cloud Event Streams (Live SCADA Data)</a:t>
            </a:r>
            <a:endParaRPr>
              <a:latin typeface="IBM Plex Sans"/>
              <a:cs typeface="IBM Plex Sans"/>
            </a:endParaRPr>
          </a:p>
          <a:p>
            <a:pPr algn="l"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Replace the SCADA simulator with real-time sensor telemetry via IBM Cloud Event Streams (Apache Kafka). Each field asset — solar inverters, wind turbine controllers, hybrid battery systems — publishes readings to the greenpulse.asset-telemetry topic every few seconds. Zero frontend or route changes needed — just flip DATA_SOURCE=ibm-live in .env.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6179036" name=""/>
          <p:cNvSpPr txBox="1"/>
          <p:nvPr/>
        </p:nvSpPr>
        <p:spPr bwMode="auto">
          <a:xfrm rot="0" flipH="0" flipV="0">
            <a:off x="545298" y="2931898"/>
            <a:ext cx="5305232" cy="1036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4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IBM Cloud Databases — Time-Series Storage</a:t>
            </a:r>
            <a:endParaRPr>
              <a:latin typeface="IBM Plex Sans"/>
              <a:cs typeface="IBM Plex Sans"/>
            </a:endParaRPr>
          </a:p>
          <a:p>
            <a:pPr algn="l"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Persist all asset telemetry in IBM Cloud Databases for PostgreSQL. Enables historical trend analysis, long-term degradation tracking, seasonal generation patterns, and regulatory reporting. The SQL schema (asset_telemetry table) is already defined and stubbed — ready to connect.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5308672" name=""/>
          <p:cNvSpPr txBox="1"/>
          <p:nvPr/>
        </p:nvSpPr>
        <p:spPr bwMode="auto">
          <a:xfrm rot="0" flipH="0" flipV="0">
            <a:off x="545298" y="4122523"/>
            <a:ext cx="5305232" cy="1219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4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Full IBM Granite LLM — Real AI Responses</a:t>
            </a:r>
            <a:endParaRPr>
              <a:latin typeface="IBM Plex Sans"/>
              <a:cs typeface="IBM Plex Sans"/>
            </a:endParaRPr>
          </a:p>
          <a:p>
            <a:pPr algn="l"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Activate IBM Granite 13B via watsonx.ai by adding IBM_API_KEY and IBM_PROJECT_ID to the backend environment. All six agents and the AI Copilot instantly switch from mock responses to real LLM inference — with no code changes. Future upgrade path: Granite 3.x with function-calling for direct tool invocation by agents.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52642801" name=""/>
          <p:cNvSpPr txBox="1"/>
          <p:nvPr/>
        </p:nvSpPr>
        <p:spPr bwMode="auto">
          <a:xfrm rot="0" flipH="0" flipV="0">
            <a:off x="6040491" y="1680460"/>
            <a:ext cx="5585716" cy="1036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4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Real Weather Integration (Open-Meteo API)</a:t>
            </a:r>
            <a:endParaRPr>
              <a:latin typeface="IBM Plex Sans"/>
              <a:cs typeface="IBM Plex Sans"/>
            </a:endParaRPr>
          </a:p>
          <a:p>
            <a:pPr algn="l"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Integrate live solar irradiance and wind speed data from Open-Meteo API for Kutch (lat 23.73°N, lon 69.86°E). Already stubbed in ibmLiveSource.ts — refresh every 60 seconds, feeding the Weather Agent with actual field conditions instead of simulated drift.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0489261" name=""/>
          <p:cNvSpPr txBox="1"/>
          <p:nvPr/>
        </p:nvSpPr>
        <p:spPr bwMode="auto">
          <a:xfrm rot="0" flipH="0" flipV="0">
            <a:off x="6009717" y="2931899"/>
            <a:ext cx="5586435" cy="1219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4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IBM Cloud Code Engine — Production Deployment</a:t>
            </a:r>
            <a:endParaRPr>
              <a:latin typeface="IBM Plex Sans"/>
              <a:cs typeface="IBM Plex Sans"/>
            </a:endParaRPr>
          </a:p>
          <a:p>
            <a:pPr algn="l"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Deploy the Node.js backend as a containerized IBM Cloud Code Engine application — serverless, scales to zero when idle, zero infrastructure management. Combined with the existing GitHub Pages frontend, this gives a fully cloud-native, low-cost production stack with built-in IBM Cloud IAM security.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3146637" name=""/>
          <p:cNvSpPr txBox="1"/>
          <p:nvPr/>
        </p:nvSpPr>
        <p:spPr bwMode="auto">
          <a:xfrm rot="0" flipH="0" flipV="0">
            <a:off x="6009717" y="4214111"/>
            <a:ext cx="5586075" cy="1036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4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Mobile Alerts &amp; Operator Dashboard</a:t>
            </a:r>
            <a:endParaRPr>
              <a:latin typeface="IBM Plex Sans"/>
              <a:cs typeface="IBM Plex Sans"/>
            </a:endParaRPr>
          </a:p>
          <a:p>
            <a:pPr algn="l"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Extend the platform with push notifications for critical alerts (CRITICAL/HIGH severity) via SMS or mobile app. Add a field engineer mobile view optimized for on-site inspection — showing asset location on the regional map, live sensor readings, and AI-recommended checklist for maintenance visits.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635672" name="TextBox 2"/>
          <p:cNvSpPr txBox="1"/>
          <p:nvPr/>
        </p:nvSpPr>
        <p:spPr bwMode="auto">
          <a:xfrm flipH="0" flipV="0">
            <a:off x="576072" y="1692531"/>
            <a:ext cx="8206094" cy="48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6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Git Hub Link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846439575" name=""/>
          <p:cNvSpPr txBox="1"/>
          <p:nvPr/>
        </p:nvSpPr>
        <p:spPr bwMode="auto">
          <a:xfrm rot="0" flipH="0" flipV="0">
            <a:off x="576071" y="2689242"/>
            <a:ext cx="10389943" cy="1006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000" b="1" i="0" u="none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Source Code:</a:t>
            </a:r>
            <a:r>
              <a:rPr sz="2000" b="0" i="0" u="none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        </a:t>
            </a:r>
            <a:r>
              <a:rPr sz="2000" b="0" i="0" u="sng">
                <a:solidFill>
                  <a:schemeClr val="tx1"/>
                </a:solidFill>
                <a:latin typeface="IBM Plex Sans"/>
                <a:ea typeface="IBM Plex Sans"/>
                <a:cs typeface="IBM Plex Sans"/>
                <a:hlinkClick r:id="rId3" tooltip=""/>
              </a:rPr>
              <a:t>https://github.com/kyt47000/GreenPulse-AI</a:t>
            </a:r>
            <a:endParaRPr sz="240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>
              <a:defRPr/>
            </a:pPr>
            <a:r>
              <a:rPr sz="2000" b="1" i="0" u="none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Documentation:</a:t>
            </a:r>
            <a:r>
              <a:rPr sz="2000" b="0" i="0" u="none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  </a:t>
            </a:r>
            <a:r>
              <a:rPr sz="2000" b="0" i="0" u="sng">
                <a:solidFill>
                  <a:schemeClr val="tx1"/>
                </a:solidFill>
                <a:latin typeface="IBM Plex Sans"/>
                <a:ea typeface="IBM Plex Sans"/>
                <a:cs typeface="IBM Plex Sans"/>
                <a:hlinkClick r:id="rId4" tooltip=""/>
              </a:rPr>
              <a:t>https://github.com/kyt47000/GreenPulseAI/blob/main/README.md</a:t>
            </a:r>
            <a:endParaRPr sz="240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>
              <a:defRPr/>
            </a:pPr>
            <a:r>
              <a:rPr sz="2000" b="1" i="0" u="none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Demo:</a:t>
            </a:r>
            <a:r>
              <a:rPr sz="2000" b="0" i="0" u="none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	                 </a:t>
            </a:r>
            <a:r>
              <a:rPr sz="2000" b="0" i="0" u="sng">
                <a:solidFill>
                  <a:schemeClr val="tx1"/>
                </a:solidFill>
                <a:latin typeface="IBM Plex Sans"/>
                <a:ea typeface="IBM Plex Sans"/>
                <a:cs typeface="IBM Plex Sans"/>
                <a:hlinkClick r:id="rId5" tooltip=""/>
              </a:rPr>
              <a:t>  https://kyt47000.github.io/GreenPulse-AI/</a:t>
            </a:r>
            <a:endParaRPr sz="240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976809" name="TextBox 2"/>
          <p:cNvSpPr txBox="1"/>
          <p:nvPr/>
        </p:nvSpPr>
        <p:spPr bwMode="auto">
          <a:xfrm>
            <a:off x="576072" y="704088"/>
            <a:ext cx="7228652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Skills build profile screen shot</a:t>
            </a:r>
            <a:endParaRPr lang="en-US" sz="2400" b="1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pic>
        <p:nvPicPr>
          <p:cNvPr id="1835798294" name=""/>
          <p:cNvPicPr>
            <a:picLocks noChangeAspect="1"/>
          </p:cNvPicPr>
          <p:nvPr/>
        </p:nvPicPr>
        <p:blipFill rotWithShape="1">
          <a:blip r:embed="rId3"/>
          <a:srcRect l="0" t="32482" r="0" b="0"/>
          <a:stretch/>
        </p:blipFill>
        <p:spPr bwMode="auto">
          <a:xfrm flipH="0" flipV="0">
            <a:off x="786261" y="2336320"/>
            <a:ext cx="4499256" cy="1918376"/>
          </a:xfrm>
          <a:prstGeom prst="rect">
            <a:avLst/>
          </a:prstGeom>
        </p:spPr>
      </p:pic>
      <p:pic>
        <p:nvPicPr>
          <p:cNvPr id="1592003231" name=""/>
          <p:cNvPicPr>
            <a:picLocks noChangeAspect="1"/>
          </p:cNvPicPr>
          <p:nvPr/>
        </p:nvPicPr>
        <p:blipFill rotWithShape="1">
          <a:blip r:embed="rId4"/>
          <a:srcRect l="5763" t="29101" r="55468" b="38469"/>
          <a:stretch/>
        </p:blipFill>
        <p:spPr bwMode="auto">
          <a:xfrm flipH="0" flipV="0">
            <a:off x="6022358" y="2336320"/>
            <a:ext cx="4726556" cy="17791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677277" name="TextBox 2"/>
          <p:cNvSpPr txBox="1"/>
          <p:nvPr/>
        </p:nvSpPr>
        <p:spPr bwMode="auto">
          <a:xfrm>
            <a:off x="576072" y="704088"/>
            <a:ext cx="7227932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Certificate Earned :</a:t>
            </a:r>
            <a:endParaRPr sz="2400" b="1">
              <a:latin typeface="IBM Plex Sans"/>
              <a:cs typeface="IBM Plex Sans"/>
            </a:endParaRPr>
          </a:p>
        </p:txBody>
      </p:sp>
      <p:pic>
        <p:nvPicPr>
          <p:cNvPr id="184001168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76071" y="1419591"/>
            <a:ext cx="5334144" cy="4018817"/>
          </a:xfrm>
          <a:prstGeom prst="rect">
            <a:avLst/>
          </a:prstGeom>
        </p:spPr>
      </p:pic>
      <p:pic>
        <p:nvPicPr>
          <p:cNvPr id="144384738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156490" y="1393976"/>
            <a:ext cx="5418060" cy="40700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395468" name="TextBox 2"/>
          <p:cNvSpPr txBox="1"/>
          <p:nvPr/>
        </p:nvSpPr>
        <p:spPr bwMode="auto">
          <a:xfrm>
            <a:off x="576072" y="704088"/>
            <a:ext cx="7227932" cy="45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Certificate Earned :</a:t>
            </a:r>
            <a:endParaRPr sz="2400" b="1">
              <a:latin typeface="IBM Plex Sans"/>
              <a:cs typeface="IBM Plex Sans"/>
            </a:endParaRPr>
          </a:p>
        </p:txBody>
      </p:sp>
      <p:pic>
        <p:nvPicPr>
          <p:cNvPr id="117361765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0096" y="1479841"/>
            <a:ext cx="5861538" cy="3898316"/>
          </a:xfrm>
          <a:prstGeom prst="rect">
            <a:avLst/>
          </a:prstGeom>
        </p:spPr>
      </p:pic>
      <p:pic>
        <p:nvPicPr>
          <p:cNvPr id="126811122" name=""/>
          <p:cNvPicPr>
            <a:picLocks noChangeAspect="1"/>
          </p:cNvPicPr>
          <p:nvPr/>
        </p:nvPicPr>
        <p:blipFill rotWithShape="1">
          <a:blip r:embed="rId4"/>
          <a:srcRect l="0" t="0" r="0" b="7400"/>
          <a:stretch/>
        </p:blipFill>
        <p:spPr bwMode="auto">
          <a:xfrm flipH="0" flipV="0">
            <a:off x="6095999" y="1479841"/>
            <a:ext cx="6013615" cy="38983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191793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latin typeface="IBM Plex Sans"/>
                <a:ea typeface="IBM Plex Sans"/>
                <a:cs typeface="IBM Plex Sans"/>
              </a:rPr>
              <a:t>Thank You</a:t>
            </a:r>
            <a:r>
              <a:rPr>
                <a:latin typeface="IBM Plex Sans"/>
                <a:ea typeface="IBM Plex Sans"/>
                <a:cs typeface="IBM Plex Sans"/>
              </a:rPr>
              <a:t>!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5349438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tx2"/>
                </a:solidFill>
                <a:latin typeface="IBM Plex Sans"/>
                <a:ea typeface="IBM Plex Sans"/>
                <a:cs typeface="IBM Plex Sans"/>
              </a:rPr>
              <a:t>Thank you for your time and interest.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24</Slides>
  <Notes>24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2026-09-12T11:42:10Z</dcterms:modified>
</cp:coreProperties>
</file>