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46F890A9-2807-4EBB-B81D-B2AA78EC7F39}">
  <a:tblStyle styleId="{46F890A9-2807-4EBB-B81D-B2AA78EC7F39}" styleName="Dark Style 2 - Accent 5/Accent 6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  <a:fill>
          <a:solidFill>
            <a:schemeClr val="accent5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12700">
              <a:noFill/>
            </a:ln>
          </a:bottom>
        </a:tcBdr>
        <a:fill>
          <a:solidFill>
            <a:schemeClr val="accent6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 /><Relationship Id="rId24" Type="http://schemas.openxmlformats.org/officeDocument/2006/relationships/tableStyles" Target="tableStyles.xml" /><Relationship Id="rId2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526223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4053096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506326469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12779262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514266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7383906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616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88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47411F-2828-3969-9BFF-5E19F03BCE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840755" name="Google Shape;88;p2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30763162" name="Google Shape;89;p2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865013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65564123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949490" name="Google Shape;101;p3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755556370" name="Google Shape;102;p3:notes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0999" y="685800"/>
            <a:ext cx="6095999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3539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069911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456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4E58F0-E75B-87AC-A485-990C5F5B655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798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29596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0547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AE8D212-175E-0F17-E42F-909EB53D254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268870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926757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441013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1304880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31883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510550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571206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581567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66815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327107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111264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95683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7690658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988460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6620690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8557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913097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8798565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163053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740594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0115596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393286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0604546" name="Slide Image Placeholder 1"/>
          <p:cNvSpPr/>
          <p:nvPr>
            <p:ph type="sldImg" idx="0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812995" name="Notes Placeholder 2"/>
          <p:cNvSpPr/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97711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2515603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87241426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5466015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087488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86079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5566909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7194640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956175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9582417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9895887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43341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979029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244672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6105742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3213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852460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6784630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08313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8426270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116833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72301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0623639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3560739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6692367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6621945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8852417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92260941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934895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867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4199565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2986487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811089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39221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4328633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1832769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27827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682128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2124214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2886075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469131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299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7630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2652185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6617446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06041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8630242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012784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9558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2001409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228092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518986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94098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73590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4356810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069490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810558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45953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82549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216593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6832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5968137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0398681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9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github.com/kyt47000/GreenPulse-AI" TargetMode="External"/><Relationship Id="rId4" Type="http://schemas.openxmlformats.org/officeDocument/2006/relationships/hyperlink" Target="https://github.com/kyt47000/GreenPulse-AI/blob/main/README.md" TargetMode="External"/><Relationship Id="rId5" Type="http://schemas.openxmlformats.org/officeDocument/2006/relationships/hyperlink" Target="https://kyt47000.github.io/GreenPulse-AI/" TargetMode="External"/><Relationship Id="rId6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332860" name="Title 1"/>
          <p:cNvSpPr>
            <a:spLocks noGrp="1"/>
          </p:cNvSpPr>
          <p:nvPr>
            <p:ph type="title"/>
          </p:nvPr>
        </p:nvSpPr>
        <p:spPr bwMode="auto"/>
        <p:txBody>
          <a:bodyPr>
            <a:normAutofit/>
          </a:bodyPr>
          <a:lstStyle/>
          <a:p>
            <a:pPr algn="ctr">
              <a:defRPr/>
            </a:pPr>
            <a:r>
              <a:rPr lang="en-US" sz="6600" b="1"/>
              <a:t>IBM University Engagement Project Submission</a:t>
            </a:r>
            <a:br>
              <a:rPr lang="en-US" b="1"/>
            </a:br>
            <a:endParaRPr lang="en-IN"/>
          </a:p>
        </p:txBody>
      </p:sp>
      <p:sp>
        <p:nvSpPr>
          <p:cNvPr id="138619163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1014729" y="3903662"/>
            <a:ext cx="10515600" cy="1500186"/>
          </a:xfrm>
        </p:spPr>
        <p:txBody>
          <a:bodyPr/>
          <a:lstStyle/>
          <a:p>
            <a:pPr algn="ctr">
              <a:defRPr/>
            </a:pPr>
            <a:r>
              <a:rPr lang="en-US" b="1" i="1"/>
              <a:t>“Exploring the Power of Agentic AI with IBM Granite</a:t>
            </a:r>
            <a:r>
              <a:rPr lang="en-US" b="1" i="1"/>
              <a:t>”</a:t>
            </a:r>
            <a:endParaRPr lang="en-IN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6097217" name="Google Shape;92;p2"/>
          <p:cNvSpPr/>
          <p:nvPr/>
        </p:nvSpPr>
        <p:spPr bwMode="auto">
          <a:xfrm>
            <a:off x="690624" y="4425369"/>
            <a:ext cx="10795794" cy="19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99013234" name="Google Shape;95;p2"/>
          <p:cNvSpPr txBox="1"/>
          <p:nvPr/>
        </p:nvSpPr>
        <p:spPr bwMode="auto">
          <a:xfrm>
            <a:off x="1102320" y="1174638"/>
            <a:ext cx="7426405" cy="451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  <a:defRPr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651772882" name="Google Shape;96;p2"/>
          <p:cNvGraphicFramePr>
            <a:graphicFrameLocks xmlns:a="http://schemas.openxmlformats.org/drawingml/2006/main"/>
          </p:cNvGraphicFramePr>
          <p:nvPr/>
        </p:nvGraphicFramePr>
        <p:xfrm rot="0">
          <a:off x="1299256" y="2600314"/>
          <a:ext cx="9394988" cy="2167128"/>
        </p:xfrm>
        <a:graphic>
          <a:graphicData uri="http://schemas.openxmlformats.org/drawingml/2006/table">
            <a:tbl>
              <a:tblPr firstRow="0" firstCol="0" lastRow="0" lastCol="0" bandRow="0" bandCol="0">
                <a:noFill/>
              </a:tblPr>
              <a:tblGrid>
                <a:gridCol w="2064866"/>
                <a:gridCol w="2443374"/>
                <a:gridCol w="2443374"/>
                <a:gridCol w="2443374"/>
              </a:tblGrid>
              <a:tr h="973237"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u="none" strike="noStrike" cap="none"/>
                        <a:t>Student Name</a:t>
                      </a:r>
                      <a:endParaRPr sz="1800" u="none" strike="noStrike" cap="none"/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  <a:defRPr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  <a:defRPr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  <a:defRPr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</a:endParaRPr>
                    </a:p>
                  </a:txBody>
                  <a:tcPr marL="91449" marR="91449" marT="45724" marB="45724" anchor="ctr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12699" algn="ctr">
                      <a:solidFill>
                        <a:srgbClr val="FFFFFF"/>
                      </a:solidFill>
                    </a:lnT>
                    <a:lnB w="38099" algn="ctr">
                      <a:solidFill>
                        <a:srgbClr val="FFFFFF"/>
                      </a:solidFill>
                    </a:lnB>
                    <a:solidFill>
                      <a:srgbClr val="5B9BD5"/>
                    </a:solidFill>
                  </a:tcPr>
                </a:tc>
              </a:tr>
              <a:tr h="1193891"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/>
                        <a:t>Yash Kayasth</a:t>
                      </a:r>
                      <a:endParaRPr/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endParaRPr sz="1800"/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/>
                        <a:t>Kyt47000@gmail.com</a:t>
                      </a:r>
                      <a:endParaRPr/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/>
                      </a:pPr>
                      <a:r>
                        <a:rPr/>
                        <a:t>7201862574</a:t>
                      </a:r>
                      <a:endParaRPr/>
                    </a:p>
                  </a:txBody>
                  <a:tcPr marL="91449" marR="91449" marT="45724" marB="45724">
                    <a:lnL w="12699" algn="ctr">
                      <a:solidFill>
                        <a:srgbClr val="FFFFFF"/>
                      </a:solidFill>
                    </a:lnL>
                    <a:lnR w="12699" algn="ctr">
                      <a:solidFill>
                        <a:srgbClr val="FFFFFF"/>
                      </a:solidFill>
                    </a:lnR>
                    <a:lnT w="38099" algn="ctr">
                      <a:solidFill>
                        <a:srgbClr val="FFFFFF"/>
                      </a:solidFill>
                    </a:lnT>
                    <a:lnB w="12699" algn="ctr">
                      <a:solidFill>
                        <a:srgbClr val="FFFFFF"/>
                      </a:solidFill>
                    </a:lnB>
                    <a:solidFill>
                      <a:srgbClr val="D0DEEF"/>
                    </a:solidFill>
                  </a:tcPr>
                </a:tc>
              </a:tr>
            </a:tbl>
          </a:graphicData>
        </a:graphic>
      </p:graphicFrame>
      <p:sp>
        <p:nvSpPr>
          <p:cNvPr id="976315031" name="TextBox 3"/>
          <p:cNvSpPr txBox="1"/>
          <p:nvPr/>
        </p:nvSpPr>
        <p:spPr bwMode="auto">
          <a:xfrm>
            <a:off x="1206163" y="1460722"/>
            <a:ext cx="10280972" cy="4575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/>
              <a:t>Domain of  Project – </a:t>
            </a:r>
            <a:r>
              <a:rPr lang="en-US" sz="2400" b="1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&amp; Sustainability</a:t>
            </a:r>
            <a:endParaRPr lang="en-IN" sz="2400" b="1">
              <a:highlight>
                <a:srgbClr val="FFFF00"/>
              </a:highlight>
            </a:endParaRPr>
          </a:p>
        </p:txBody>
      </p:sp>
      <p:sp>
        <p:nvSpPr>
          <p:cNvPr id="1434002370" name="TextBox 6"/>
          <p:cNvSpPr txBox="1"/>
          <p:nvPr/>
        </p:nvSpPr>
        <p:spPr bwMode="auto">
          <a:xfrm>
            <a:off x="1206162" y="551964"/>
            <a:ext cx="9585856" cy="824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en-US" sz="2400" b="1"/>
              <a:t>Project Tile – </a:t>
            </a:r>
            <a:r>
              <a:rPr lang="en-US" sz="24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GreenPulse AI – Agentic Renewable Energy Intelligence Platform</a:t>
            </a:r>
            <a:endParaRPr sz="2800" b="0"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5285607" name="TextBox 1"/>
          <p:cNvSpPr txBox="1"/>
          <p:nvPr/>
        </p:nvSpPr>
        <p:spPr bwMode="auto">
          <a:xfrm>
            <a:off x="576072" y="1234440"/>
            <a:ext cx="10614597" cy="4358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000" b="1"/>
              <a:t>Problem Statement : </a:t>
            </a:r>
            <a:r>
              <a:rPr lang="en-US" sz="2000" b="1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Smart Renewable Energy (Solar-Wind Hybrid) Asset Monitoring for </a:t>
            </a:r>
            <a:r>
              <a:rPr lang="en-US" sz="2000" b="1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Kutch &amp; Banaskantha</a:t>
            </a:r>
            <a:endParaRPr lang="en-US" sz="2000" b="1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000" b="1"/>
          </a:p>
          <a:p>
            <a:pPr>
              <a:defRPr/>
            </a:pPr>
            <a:r>
              <a:rPr lang="en-US" sz="2000" b="1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Domain: Energy &amp; Sustainability</a:t>
            </a:r>
            <a:endParaRPr lang="en-US" sz="2000" b="1"/>
          </a:p>
          <a:p>
            <a:pPr>
              <a:defRPr/>
            </a:pPr>
            <a:endParaRPr lang="en-US" sz="2000" b="1"/>
          </a:p>
          <a:p>
            <a:pPr>
              <a:defRPr/>
            </a:pPr>
            <a:r>
              <a:rPr lang="en-US" sz="2000" b="1"/>
              <a:t>The Challenge</a:t>
            </a:r>
            <a:r>
              <a:rPr lang="en-US" sz="2000"/>
              <a:t> </a:t>
            </a: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Gujarat leads India in hybrid solar-wind renewable capacity, particularly in Kutch and 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Banaskantha, but scattered installations face inefficiencies from inconsistent maintenance 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scheduling, underperformance detection, and grid integration challenges.</a:t>
            </a:r>
            <a:endParaRPr lang="en-US" sz="20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defRPr/>
            </a:pPr>
            <a:endParaRPr lang="en-US" sz="2000"/>
          </a:p>
          <a:p>
            <a:pPr>
              <a:defRPr/>
            </a:pPr>
            <a:r>
              <a:rPr lang="en-US" sz="2000" b="1"/>
              <a:t>The Objective</a:t>
            </a:r>
            <a:r>
              <a:rPr lang="en-US" sz="2000"/>
              <a:t> </a:t>
            </a:r>
            <a:endParaRPr sz="2000"/>
          </a:p>
          <a:p>
            <a:pPr>
              <a:defRPr/>
            </a:pPr>
            <a:r>
              <a:rPr lang="en-US" sz="20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Develop Agentic AI solutions that monitor renewable asset performance, predict </a:t>
            </a:r>
            <a:r>
              <a:rPr lang="en-US" sz="20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maintenance needs, and optimize grid integration for hybrid energy parks.</a:t>
            </a:r>
            <a:endParaRPr lang="en-US" sz="20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defRPr/>
            </a:pPr>
            <a:endParaRPr lang="en-IN" sz="2000"/>
          </a:p>
        </p:txBody>
      </p:sp>
      <p:sp>
        <p:nvSpPr>
          <p:cNvPr id="987949187" name="TextBox 2"/>
          <p:cNvSpPr txBox="1"/>
          <p:nvPr/>
        </p:nvSpPr>
        <p:spPr bwMode="auto">
          <a:xfrm>
            <a:off x="576072" y="704088"/>
            <a:ext cx="7217494" cy="4575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/>
              <a:t>Problem Statement</a:t>
            </a:r>
            <a:endParaRPr lang="en-IN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611137" name="TextBox 1"/>
          <p:cNvSpPr txBox="1"/>
          <p:nvPr/>
        </p:nvSpPr>
        <p:spPr bwMode="auto">
          <a:xfrm>
            <a:off x="576072" y="1234440"/>
            <a:ext cx="10609198" cy="496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Proposed Solution: GreenPulse AI – Agentic Renewable Energy Intelligence Platform</a:t>
            </a:r>
            <a:b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</a:b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The proposed solution is an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Agentic AI-powered renewable energy monitoring and optimization platform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built using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IBM Granite, IBM Cloud, IoT, SCADA and intelligent AI agents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to provide centralized, proactive, and data-driven management of solar and wind assets across Kutch and Banaskantha. The system can collect real-time field data through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IoT sensors, SCADA systems, smart meters, weather stations, inverters and wind-turbine controllers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and process it through a cloud-based AI platform. The solution consists of five specialized agents: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Asset Performance Monitoring Agent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detects underperforming assets and anomalies;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Predictive Maintenance Agent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analyzes equipment health and maintenance requirements;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Weather-Based Generation Forecasting Agent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predicts solar and wind generation;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Grid Integration Optimization Agent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recommends efficient power export, storage and curtailment actions; and the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Renewable Energy Dashboard Agent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combines insights from all agents and provides actionable recommendations to operators. At the ground level, required hardware includes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solar irradiance, temperature, humidity, wind-speed and wind-direction sensors, turbine vibration and RPM sensors, power/energy meters, inverter monitoring units, smart meters, IoT gateways and edge controllers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along with existing SCADA infrastructure. Required software and cloud tools include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IBM Granite/watsonx.ai, IBM Cloud, IoT data pipelines, databases, APIs, analytics services, React-based dashboards and an agent orchestration framework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Currently, the data and asset values shown in the application are mock/simulated data created only for prototype and hackathon demonstration purposes; they are not live readings from actual renewable-energy installations.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In a real-world deployment, the platform would connect to live field sensors, SCADA and weather systems. Overall, GreenPulse AI connects </a:t>
            </a:r>
            <a:r>
              <a:rPr sz="1600" b="1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physical renewable assets → IoT/SCADA data → IBM Granite-powered AI agents → intelligent recommendations</a:t>
            </a:r>
            <a:r>
              <a:rPr sz="16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enabling proactive maintenance, improved generation forecasting and smarter grid integration.</a:t>
            </a:r>
            <a:endParaRPr sz="1800"/>
          </a:p>
        </p:txBody>
      </p:sp>
      <p:sp>
        <p:nvSpPr>
          <p:cNvPr id="968723050" name="TextBox 2"/>
          <p:cNvSpPr txBox="1"/>
          <p:nvPr/>
        </p:nvSpPr>
        <p:spPr bwMode="auto">
          <a:xfrm>
            <a:off x="576072" y="704088"/>
            <a:ext cx="7214616" cy="461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 b="1"/>
              <a:t>Proposed Solution -</a:t>
            </a:r>
            <a:endParaRPr lang="en-IN" sz="24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125454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898" y="0"/>
            <a:ext cx="12100202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277777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898" y="0"/>
            <a:ext cx="12100202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8371768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605087" y="878864"/>
            <a:ext cx="6981824" cy="2352674"/>
          </a:xfrm>
          <a:prstGeom prst="rect">
            <a:avLst/>
          </a:prstGeom>
        </p:spPr>
      </p:pic>
      <p:sp>
        <p:nvSpPr>
          <p:cNvPr id="1735979087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00B050"/>
          </a:solidFill>
        </p:spPr>
        <p:txBody>
          <a:bodyPr/>
          <a:lstStyle/>
          <a:p>
            <a:pPr algn="ctr"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434345895" name=""/>
          <p:cNvSpPr txBox="1"/>
          <p:nvPr/>
        </p:nvSpPr>
        <p:spPr bwMode="auto">
          <a:xfrm rot="0" flipH="0" flipV="0">
            <a:off x="1357354" y="3533853"/>
            <a:ext cx="9562715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8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One Intelligent Control Layer </a:t>
            </a:r>
            <a:r>
              <a:rPr lang="en-US" sz="2800" b="1" i="0" u="none" strike="noStrike" cap="none" spc="0">
                <a:solidFill>
                  <a:srgbClr val="E6EDF3"/>
                </a:solidFill>
                <a:latin typeface="Arial"/>
                <a:ea typeface="Arial"/>
                <a:cs typeface="Arial"/>
              </a:rPr>
              <a:t>for Renewable Energy</a:t>
            </a:r>
            <a:endParaRPr sz="2800"/>
          </a:p>
        </p:txBody>
      </p:sp>
      <p:sp>
        <p:nvSpPr>
          <p:cNvPr id="1521443191" name=""/>
          <p:cNvSpPr txBox="1"/>
          <p:nvPr/>
        </p:nvSpPr>
        <p:spPr bwMode="auto">
          <a:xfrm rot="0" flipH="0" flipV="0">
            <a:off x="3108796" y="4341281"/>
            <a:ext cx="5737919" cy="1006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20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GreenPulse AI connects operational signals across assets, weather and grid into a single intelligent platform.</a:t>
            </a:r>
            <a:endParaRPr sz="2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251754" name="DashBorder"/>
          <p:cNvSpPr txBox="1"/>
          <p:nvPr/>
        </p:nvSpPr>
        <p:spPr bwMode="auto">
          <a:xfrm flipH="0" flipV="0">
            <a:off x="6299998" y="144000"/>
            <a:ext cx="5893199" cy="6651720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30363D"/>
              </a:solidFill>
            </a:endParaRPr>
          </a:p>
        </p:txBody>
      </p:sp>
      <p:sp>
        <p:nvSpPr>
          <p:cNvPr id="1425956920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FF000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1282811178" name=""/>
          <p:cNvSpPr txBox="1"/>
          <p:nvPr/>
        </p:nvSpPr>
        <p:spPr bwMode="auto">
          <a:xfrm rot="0" flipH="0" flipV="0">
            <a:off x="441489" y="814786"/>
            <a:ext cx="5721838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 b="1">
                <a:solidFill>
                  <a:srgbClr val="FF0000"/>
                </a:solidFill>
                <a:latin typeface="Caladea"/>
                <a:ea typeface="Caladea"/>
                <a:cs typeface="Caladea"/>
              </a:rPr>
              <a:t>The Problem</a:t>
            </a:r>
            <a:endParaRPr sz="2200" b="1">
              <a:solidFill>
                <a:srgbClr val="00B050"/>
              </a:solidFill>
              <a:latin typeface="Caladea"/>
              <a:cs typeface="Caladea"/>
            </a:endParaRPr>
          </a:p>
        </p:txBody>
      </p:sp>
      <p:sp>
        <p:nvSpPr>
          <p:cNvPr id="492251044" name=""/>
          <p:cNvSpPr txBox="1"/>
          <p:nvPr/>
        </p:nvSpPr>
        <p:spPr bwMode="auto">
          <a:xfrm rot="0" flipH="0" flipV="0">
            <a:off x="441489" y="1335776"/>
            <a:ext cx="5716798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Renewable Energy Is Growing.</a:t>
            </a:r>
            <a:endParaRPr sz="2000"/>
          </a:p>
          <a:p>
            <a:pPr>
              <a:defRPr/>
            </a:pPr>
            <a:r>
              <a:rPr lang="en-US" sz="20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Operational Complexity Is Growing Faster.</a:t>
            </a:r>
            <a:endParaRPr sz="2000"/>
          </a:p>
        </p:txBody>
      </p:sp>
      <p:sp>
        <p:nvSpPr>
          <p:cNvPr id="630947518" name="DashNav"/>
          <p:cNvSpPr txBox="1"/>
          <p:nvPr/>
        </p:nvSpPr>
        <p:spPr bwMode="auto">
          <a:xfrm>
            <a:off x="6574758" y="327172"/>
            <a:ext cx="5364000" cy="180000"/>
          </a:xfrm>
          <a:prstGeom prst="rect">
            <a:avLst/>
          </a:prstGeom>
          <a:noFill/>
        </p:spPr>
        <p:txBody>
          <a:bodyPr/>
          <a:lstStyle/>
          <a:p>
            <a:pPr algn="ctr">
              <a:defRPr/>
            </a:pPr>
            <a:r>
              <a:rPr lang="en-US" sz="1100" b="1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Gujarat, India</a:t>
            </a:r>
            <a:endParaRPr sz="1100"/>
          </a:p>
          <a:p>
            <a:pPr>
              <a:defRPr/>
            </a:pPr>
            <a:endParaRPr/>
          </a:p>
        </p:txBody>
      </p:sp>
      <p:pic>
        <p:nvPicPr>
          <p:cNvPr id="185683570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574758" y="4121557"/>
            <a:ext cx="5346222" cy="1593442"/>
          </a:xfrm>
          <a:prstGeom prst="rect">
            <a:avLst/>
          </a:prstGeom>
        </p:spPr>
      </p:pic>
      <p:pic>
        <p:nvPicPr>
          <p:cNvPr id="146411167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574758" y="969430"/>
            <a:ext cx="2564668" cy="2930905"/>
          </a:xfrm>
          <a:prstGeom prst="rect">
            <a:avLst/>
          </a:prstGeom>
        </p:spPr>
      </p:pic>
      <p:pic>
        <p:nvPicPr>
          <p:cNvPr id="104007794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139427" y="969430"/>
            <a:ext cx="2810958" cy="1428383"/>
          </a:xfrm>
          <a:prstGeom prst="rect">
            <a:avLst/>
          </a:prstGeom>
        </p:spPr>
      </p:pic>
      <p:pic>
        <p:nvPicPr>
          <p:cNvPr id="189843258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139427" y="2397814"/>
            <a:ext cx="2781554" cy="1502521"/>
          </a:xfrm>
          <a:prstGeom prst="rect">
            <a:avLst/>
          </a:prstGeom>
        </p:spPr>
      </p:pic>
      <p:sp>
        <p:nvSpPr>
          <p:cNvPr id="1363223566" name=""/>
          <p:cNvSpPr txBox="1"/>
          <p:nvPr/>
        </p:nvSpPr>
        <p:spPr bwMode="auto">
          <a:xfrm rot="0" flipH="0" flipV="0">
            <a:off x="899422" y="2134240"/>
            <a:ext cx="5508288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Delayed anomaly detection</a:t>
            </a:r>
            <a:endParaRPr lang="en-US" sz="1100">
              <a:solidFill>
                <a:srgbClr val="E6EDF3"/>
              </a:solidFill>
            </a:endParaRPr>
          </a:p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Manual inspection cycles miss early failures</a:t>
            </a:r>
            <a:endParaRPr sz="1100"/>
          </a:p>
        </p:txBody>
      </p:sp>
      <p:sp>
        <p:nvSpPr>
          <p:cNvPr id="1184416054" name=""/>
          <p:cNvSpPr txBox="1"/>
          <p:nvPr/>
        </p:nvSpPr>
        <p:spPr bwMode="auto">
          <a:xfrm rot="0" flipH="0" flipV="0">
            <a:off x="899422" y="2665442"/>
            <a:ext cx="5509250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Weather-driven generation uncertainty</a:t>
            </a:r>
            <a:endParaRPr lang="en-US" sz="1100">
              <a:solidFill>
                <a:srgbClr val="E6EDF3"/>
              </a:solidFill>
            </a:endParaRPr>
          </a:p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No forecast-to-operations link</a:t>
            </a:r>
            <a:endParaRPr sz="1100"/>
          </a:p>
        </p:txBody>
      </p:sp>
      <p:sp>
        <p:nvSpPr>
          <p:cNvPr id="1985343964" name=""/>
          <p:cNvSpPr txBox="1"/>
          <p:nvPr/>
        </p:nvSpPr>
        <p:spPr bwMode="auto">
          <a:xfrm rot="0" flipH="0" flipV="0">
            <a:off x="452786" y="5257146"/>
            <a:ext cx="5735399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200" b="1">
                <a:solidFill>
                  <a:srgbClr val="484F58"/>
                </a:solidFill>
              </a:rPr>
              <a:t>Assets  →  Raw Data  →  Fragmented Decisions  →  Lost Generation Value</a:t>
            </a:r>
            <a:endParaRPr sz="1200"/>
          </a:p>
        </p:txBody>
      </p:sp>
      <p:sp>
        <p:nvSpPr>
          <p:cNvPr id="912280460" name=""/>
          <p:cNvSpPr txBox="1"/>
          <p:nvPr/>
        </p:nvSpPr>
        <p:spPr bwMode="auto">
          <a:xfrm rot="0" flipH="0" flipV="0">
            <a:off x="899422" y="3233278"/>
            <a:ext cx="5509263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Reactive maintenance</a:t>
            </a:r>
            <a:endParaRPr lang="en-US" sz="1100">
              <a:solidFill>
                <a:srgbClr val="E6EDF3"/>
              </a:solidFill>
            </a:endParaRPr>
          </a:p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Equipment failures drive decisions, not data</a:t>
            </a:r>
            <a:endParaRPr sz="1100"/>
          </a:p>
        </p:txBody>
      </p:sp>
      <p:sp>
        <p:nvSpPr>
          <p:cNvPr id="263889393" name=""/>
          <p:cNvSpPr txBox="1"/>
          <p:nvPr/>
        </p:nvSpPr>
        <p:spPr bwMode="auto">
          <a:xfrm rot="0" flipH="0" flipV="0">
            <a:off x="899422" y="3801337"/>
            <a:ext cx="5508061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Grid integration challenges</a:t>
            </a:r>
            <a:endParaRPr lang="en-US" sz="1100">
              <a:solidFill>
                <a:srgbClr val="E6EDF3"/>
              </a:solidFill>
            </a:endParaRPr>
          </a:p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Curtailment risk during solar peak hours</a:t>
            </a:r>
            <a:endParaRPr sz="1100"/>
          </a:p>
        </p:txBody>
      </p:sp>
      <p:sp>
        <p:nvSpPr>
          <p:cNvPr id="354616271" name=""/>
          <p:cNvSpPr txBox="1"/>
          <p:nvPr/>
        </p:nvSpPr>
        <p:spPr bwMode="auto">
          <a:xfrm rot="0" flipH="0" flipV="0">
            <a:off x="899422" y="4414885"/>
            <a:ext cx="5507928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No unified operational view across solar, </a:t>
            </a:r>
            <a:endParaRPr lang="en-US" sz="1100">
              <a:solidFill>
                <a:srgbClr val="E6EDF3"/>
              </a:solidFill>
            </a:endParaRPr>
          </a:p>
          <a:p>
            <a:pPr algn="l">
              <a:defRPr/>
            </a:pPr>
            <a:r>
              <a:rPr lang="en-US" sz="1100">
                <a:solidFill>
                  <a:srgbClr val="E6EDF3"/>
                </a:solidFill>
              </a:rPr>
              <a:t>wind and hybrid assets in the same control layer</a:t>
            </a:r>
            <a:endParaRPr sz="1100"/>
          </a:p>
        </p:txBody>
      </p:sp>
      <p:pic>
        <p:nvPicPr>
          <p:cNvPr id="153412378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89115" y="2230549"/>
            <a:ext cx="234460" cy="234460"/>
          </a:xfrm>
          <a:prstGeom prst="rect">
            <a:avLst/>
          </a:prstGeom>
        </p:spPr>
      </p:pic>
      <p:pic>
        <p:nvPicPr>
          <p:cNvPr id="81417519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89115" y="2749295"/>
            <a:ext cx="234458" cy="234458"/>
          </a:xfrm>
          <a:prstGeom prst="rect">
            <a:avLst/>
          </a:prstGeom>
        </p:spPr>
      </p:pic>
      <p:pic>
        <p:nvPicPr>
          <p:cNvPr id="411033267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89115" y="3298815"/>
            <a:ext cx="234458" cy="234458"/>
          </a:xfrm>
          <a:prstGeom prst="rect">
            <a:avLst/>
          </a:prstGeom>
        </p:spPr>
      </p:pic>
      <p:pic>
        <p:nvPicPr>
          <p:cNvPr id="134658247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89115" y="3848334"/>
            <a:ext cx="234458" cy="234458"/>
          </a:xfrm>
          <a:prstGeom prst="rect">
            <a:avLst/>
          </a:prstGeom>
        </p:spPr>
      </p:pic>
      <p:pic>
        <p:nvPicPr>
          <p:cNvPr id="159384275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489115" y="4458666"/>
            <a:ext cx="234458" cy="234458"/>
          </a:xfrm>
          <a:prstGeom prst="rect">
            <a:avLst/>
          </a:prstGeom>
        </p:spPr>
      </p:pic>
      <p:sp>
        <p:nvSpPr>
          <p:cNvPr id="1656747808" name=""/>
          <p:cNvSpPr txBox="1"/>
          <p:nvPr/>
        </p:nvSpPr>
        <p:spPr bwMode="auto">
          <a:xfrm rot="0" flipH="0" flipV="0">
            <a:off x="361199" y="5683080"/>
            <a:ext cx="6048206" cy="624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600" b="1">
                <a:solidFill>
                  <a:srgbClr val="3FB950"/>
                </a:solidFill>
              </a:rPr>
              <a:t>💰  Every % of curtailment and every missed failure</a:t>
            </a:r>
            <a:endParaRPr sz="1600"/>
          </a:p>
          <a:p>
            <a:pPr algn="l">
              <a:defRPr/>
            </a:pPr>
            <a:r>
              <a:rPr lang="en-US" sz="1600" b="1">
                <a:solidFill>
                  <a:srgbClr val="3FB950"/>
                </a:solidFill>
              </a:rPr>
              <a:t>     translates directly to lost generation value</a:t>
            </a: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2099521" name="DashBorder"/>
          <p:cNvSpPr txBox="1"/>
          <p:nvPr/>
        </p:nvSpPr>
        <p:spPr bwMode="auto">
          <a:xfrm flipH="0" flipV="0">
            <a:off x="6299999" y="144000"/>
            <a:ext cx="5893200" cy="6651721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30363D"/>
              </a:solidFill>
            </a:endParaRPr>
          </a:p>
        </p:txBody>
      </p:sp>
      <p:sp>
        <p:nvSpPr>
          <p:cNvPr id="1979028431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00B05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1260164371" name=""/>
          <p:cNvSpPr txBox="1"/>
          <p:nvPr/>
        </p:nvSpPr>
        <p:spPr bwMode="auto">
          <a:xfrm rot="0" flipH="0" flipV="0">
            <a:off x="349903" y="1518950"/>
            <a:ext cx="5715719" cy="3965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2000" b="1">
                <a:solidFill>
                  <a:srgbClr val="E6EDF3"/>
                </a:solidFill>
              </a:rPr>
              <a:t>Agentic AI for Renewable Energy Intelligence</a:t>
            </a:r>
            <a:endParaRPr sz="2000"/>
          </a:p>
        </p:txBody>
      </p:sp>
      <p:sp>
        <p:nvSpPr>
          <p:cNvPr id="1560713250" name="Region"/>
          <p:cNvSpPr txBox="1"/>
          <p:nvPr/>
        </p:nvSpPr>
        <p:spPr bwMode="auto">
          <a:xfrm flipH="0" flipV="0">
            <a:off x="349903" y="2562980"/>
            <a:ext cx="5715000" cy="54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600">
                <a:solidFill>
                  <a:srgbClr val="7D8590"/>
                </a:solidFill>
              </a:rPr>
              <a:t>Smart Renewable Asset Intelligence</a:t>
            </a:r>
            <a:endParaRPr sz="2200"/>
          </a:p>
          <a:p>
            <a:pPr>
              <a:defRPr/>
            </a:pPr>
            <a:r>
              <a:rPr lang="en-US" sz="1600">
                <a:solidFill>
                  <a:srgbClr val="7D8590"/>
                </a:solidFill>
              </a:rPr>
              <a:t>Kutch &amp; Banaskantha, Gujarat, India</a:t>
            </a:r>
            <a:endParaRPr sz="2200"/>
          </a:p>
        </p:txBody>
      </p:sp>
      <p:sp>
        <p:nvSpPr>
          <p:cNvPr id="14089872" name="TagLine2"/>
          <p:cNvSpPr txBox="1"/>
          <p:nvPr/>
        </p:nvSpPr>
        <p:spPr bwMode="auto">
          <a:xfrm flipH="0" flipV="0">
            <a:off x="349903" y="2220350"/>
            <a:ext cx="5715000" cy="288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800" b="1">
                <a:solidFill>
                  <a:srgbClr val="3FB950"/>
                </a:solidFill>
              </a:rPr>
              <a:t>Monitor  →  Predict  →  Forecast  →  Optimize</a:t>
            </a:r>
            <a:endParaRPr sz="2000"/>
          </a:p>
        </p:txBody>
      </p:sp>
      <p:pic>
        <p:nvPicPr>
          <p:cNvPr id="193858542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49903" y="3880031"/>
            <a:ext cx="5715000" cy="1634755"/>
          </a:xfrm>
          <a:prstGeom prst="rect">
            <a:avLst/>
          </a:prstGeom>
        </p:spPr>
      </p:pic>
      <p:sp>
        <p:nvSpPr>
          <p:cNvPr id="2036960812" name="Proto"/>
          <p:cNvSpPr txBox="1"/>
          <p:nvPr/>
        </p:nvSpPr>
        <p:spPr bwMode="auto">
          <a:xfrm flipH="0" flipV="0">
            <a:off x="349903" y="6300000"/>
            <a:ext cx="5715000" cy="216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900">
                <a:solidFill>
                  <a:srgbClr val="484F58"/>
                </a:solidFill>
              </a:rPr>
              <a:t>⚠ Prototype · Demo Data</a:t>
            </a:r>
            <a:endParaRPr/>
          </a:p>
        </p:txBody>
      </p:sp>
      <p:pic>
        <p:nvPicPr>
          <p:cNvPr id="111593441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512163" y="677074"/>
            <a:ext cx="5468873" cy="1730165"/>
          </a:xfrm>
          <a:prstGeom prst="rect">
            <a:avLst/>
          </a:prstGeom>
        </p:spPr>
      </p:pic>
      <p:sp>
        <p:nvSpPr>
          <p:cNvPr id="33021682" name="DashNav"/>
          <p:cNvSpPr txBox="1"/>
          <p:nvPr/>
        </p:nvSpPr>
        <p:spPr bwMode="auto">
          <a:xfrm>
            <a:off x="6574759" y="327173"/>
            <a:ext cx="5364000" cy="180000"/>
          </a:xfrm>
          <a:prstGeom prst="rect">
            <a:avLst/>
          </a:prstGeom>
          <a:noFill/>
        </p:spPr>
        <p:txBody>
          <a:bodyPr/>
          <a:lstStyle/>
          <a:p>
            <a:pPr algn="l">
              <a:defRPr/>
            </a:pPr>
            <a:r>
              <a:rPr lang="en-US" sz="1100">
                <a:solidFill>
                  <a:srgbClr val="7D8590"/>
                </a:solidFill>
              </a:rPr>
              <a:t>⚡ Command Center  |  📡 Assets  |  🔧 Maintenance  |  📈 Forecast  |  🤖 Copilot</a:t>
            </a:r>
            <a:endParaRPr sz="2600"/>
          </a:p>
        </p:txBody>
      </p:sp>
      <p:sp>
        <p:nvSpPr>
          <p:cNvPr id="488408339" name=""/>
          <p:cNvSpPr txBox="1"/>
          <p:nvPr/>
        </p:nvSpPr>
        <p:spPr bwMode="auto">
          <a:xfrm rot="0" flipH="0" flipV="0">
            <a:off x="349902" y="814786"/>
            <a:ext cx="5730117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3600" b="1">
                <a:solidFill>
                  <a:srgbClr val="00B050"/>
                </a:solidFill>
                <a:latin typeface="Caladea"/>
                <a:ea typeface="Caladea"/>
                <a:cs typeface="Caladea"/>
              </a:rPr>
              <a:t>The Solution</a:t>
            </a:r>
            <a:endParaRPr sz="3600" b="1">
              <a:solidFill>
                <a:srgbClr val="00B050"/>
              </a:solidFill>
              <a:latin typeface="Caladea"/>
              <a:cs typeface="Caladea"/>
            </a:endParaRPr>
          </a:p>
        </p:txBody>
      </p:sp>
      <p:pic>
        <p:nvPicPr>
          <p:cNvPr id="10281714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141172" y="2562978"/>
            <a:ext cx="4351476" cy="39730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623891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BC8CFF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1569590636" name=""/>
          <p:cNvSpPr txBox="1"/>
          <p:nvPr/>
        </p:nvSpPr>
        <p:spPr bwMode="auto">
          <a:xfrm rot="0" flipH="0" flipV="0">
            <a:off x="441489" y="814786"/>
            <a:ext cx="5734438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200" b="1">
                <a:solidFill>
                  <a:srgbClr val="BC8CFF"/>
                </a:solidFill>
                <a:latin typeface="Caladea"/>
                <a:cs typeface="Caladea"/>
              </a:rPr>
              <a:t>Agentic AI Architecture</a:t>
            </a:r>
            <a:endParaRPr sz="2200" b="1">
              <a:solidFill>
                <a:srgbClr val="BC8CFF"/>
              </a:solidFill>
              <a:latin typeface="Caladea"/>
              <a:cs typeface="Caladea"/>
            </a:endParaRPr>
          </a:p>
        </p:txBody>
      </p:sp>
      <p:sp>
        <p:nvSpPr>
          <p:cNvPr id="183167510" name=""/>
          <p:cNvSpPr txBox="1"/>
          <p:nvPr/>
        </p:nvSpPr>
        <p:spPr bwMode="auto">
          <a:xfrm rot="0" flipH="0" flipV="0">
            <a:off x="441489" y="1335776"/>
            <a:ext cx="5718238" cy="701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20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Five Agents. One Coordinated</a:t>
            </a:r>
            <a:endParaRPr sz="2000"/>
          </a:p>
          <a:p>
            <a:pPr>
              <a:defRPr/>
            </a:pPr>
            <a:r>
              <a:rPr lang="en-US" sz="20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Energy Intelligence System.</a:t>
            </a:r>
            <a:endParaRPr sz="2000">
              <a:solidFill>
                <a:srgbClr val="38BDF8"/>
              </a:solidFill>
            </a:endParaRPr>
          </a:p>
        </p:txBody>
      </p:sp>
      <p:sp>
        <p:nvSpPr>
          <p:cNvPr id="733963052" name=""/>
          <p:cNvSpPr/>
          <p:nvPr/>
        </p:nvSpPr>
        <p:spPr bwMode="auto">
          <a:xfrm rot="0" flipH="0" flipV="0">
            <a:off x="5997494" y="2326297"/>
            <a:ext cx="3919903" cy="1886681"/>
          </a:xfrm>
          <a:prstGeom prst="flowChartAlternateProcess">
            <a:avLst/>
          </a:prstGeom>
          <a:solidFill>
            <a:schemeClr val="tx1"/>
          </a:solidFill>
          <a:ln w="12700" cap="flat" cmpd="sng" algn="ctr">
            <a:solidFill>
              <a:srgbClr val="FF7B72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17978426" name=""/>
          <p:cNvSpPr txBox="1"/>
          <p:nvPr/>
        </p:nvSpPr>
        <p:spPr bwMode="auto">
          <a:xfrm rot="0" flipH="0" flipV="0">
            <a:off x="6150531" y="3307372"/>
            <a:ext cx="3447955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Analyzes vibration, temp &amp; RPM signals</a:t>
            </a:r>
            <a:endParaRPr lang="en-US" sz="1400" b="0" i="0" u="none" strike="noStrike" cap="none" spc="0">
              <a:solidFill>
                <a:srgbClr val="7D859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Arial"/>
                <a:ea typeface="Arial"/>
                <a:cs typeface="Arial"/>
              </a:rPr>
              <a:t>Assigns health scores + failure risk %</a:t>
            </a:r>
            <a:endParaRPr lang="en-US" sz="1400" b="0" i="0" u="none" strike="noStrike" cap="none" spc="0">
              <a:solidFill>
                <a:srgbClr val="7D859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Arial"/>
                <a:ea typeface="Arial"/>
                <a:cs typeface="Arial"/>
              </a:rPr>
              <a:t>Prioritizes maintenance urgency</a:t>
            </a:r>
            <a:endParaRPr lang="en-US" sz="1400" b="0" i="0" u="none" strike="noStrike" cap="none" spc="0">
              <a:solidFill>
                <a:srgbClr val="7D8590"/>
              </a:solidFill>
              <a:latin typeface="Times New Roman"/>
              <a:cs typeface="Times New Roman"/>
            </a:endParaRPr>
          </a:p>
        </p:txBody>
      </p:sp>
      <p:sp>
        <p:nvSpPr>
          <p:cNvPr id="441562240" name=""/>
          <p:cNvSpPr txBox="1"/>
          <p:nvPr/>
        </p:nvSpPr>
        <p:spPr bwMode="auto">
          <a:xfrm rot="0" flipH="0" flipV="0">
            <a:off x="6133327" y="2940586"/>
            <a:ext cx="357779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Predictive Maintenance Agent</a:t>
            </a:r>
            <a:endParaRPr sz="1800"/>
          </a:p>
        </p:txBody>
      </p:sp>
      <p:sp>
        <p:nvSpPr>
          <p:cNvPr id="297738811" name="A1Num"/>
          <p:cNvSpPr txBox="1"/>
          <p:nvPr/>
        </p:nvSpPr>
        <p:spPr bwMode="auto">
          <a:xfrm>
            <a:off x="6151592" y="2488677"/>
            <a:ext cx="720000" cy="360000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pPr>
              <a:defRPr/>
            </a:pPr>
            <a:r>
              <a:rPr lang="en-US" sz="2800" b="1">
                <a:solidFill>
                  <a:srgbClr val="FF7B72"/>
                </a:solidFill>
              </a:rPr>
              <a:t>0</a:t>
            </a:r>
            <a:r>
              <a:rPr lang="en-US" sz="2800" b="1" i="0" u="none" strike="noStrike" cap="none" spc="0">
                <a:solidFill>
                  <a:srgbClr val="FF7B72"/>
                </a:solidFill>
                <a:latin typeface="+mn-lt"/>
                <a:ea typeface="+mn-ea"/>
                <a:cs typeface="+mn-cs"/>
              </a:rPr>
              <a:t>2</a:t>
            </a:r>
            <a:endParaRPr sz="2600"/>
          </a:p>
        </p:txBody>
      </p:sp>
      <p:sp>
        <p:nvSpPr>
          <p:cNvPr id="612782268" name=""/>
          <p:cNvSpPr/>
          <p:nvPr/>
        </p:nvSpPr>
        <p:spPr bwMode="auto">
          <a:xfrm rot="0" flipH="0" flipV="0">
            <a:off x="1998460" y="2326297"/>
            <a:ext cx="3919903" cy="1886681"/>
          </a:xfrm>
          <a:prstGeom prst="flowChartAlternateProcess">
            <a:avLst/>
          </a:prstGeom>
          <a:solidFill>
            <a:schemeClr val="tx1"/>
          </a:solidFill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76552396" name=""/>
          <p:cNvSpPr txBox="1"/>
          <p:nvPr/>
        </p:nvSpPr>
        <p:spPr bwMode="auto">
          <a:xfrm rot="0" flipH="0" flipV="0">
            <a:off x="2151497" y="3338144"/>
            <a:ext cx="3438235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sz="1400">
                <a:solidFill>
                  <a:srgbClr val="7D8590"/>
                </a:solidFill>
              </a:rPr>
              <a:t>Monitors 16 assets in real time</a:t>
            </a:r>
            <a:endParaRPr lang="en-US" sz="1400">
              <a:solidFill>
                <a:srgbClr val="7D8590"/>
              </a:solidFill>
            </a:endParaRPr>
          </a:p>
          <a:p>
            <a:pPr algn="l">
              <a:defRPr/>
            </a:pPr>
            <a:r>
              <a:rPr lang="en-US" sz="1400">
                <a:solidFill>
                  <a:srgbClr val="7D8590"/>
                </a:solidFill>
              </a:rPr>
              <a:t>Detects underperformance &amp; anomalies</a:t>
            </a:r>
            <a:endParaRPr lang="en-US" sz="1400">
              <a:solidFill>
                <a:srgbClr val="7D8590"/>
              </a:solidFill>
            </a:endParaRPr>
          </a:p>
          <a:p>
            <a:pPr algn="l">
              <a:defRPr/>
            </a:pPr>
            <a:r>
              <a:rPr lang="en-US" sz="1400">
                <a:solidFill>
                  <a:srgbClr val="7D8590"/>
                </a:solidFill>
              </a:rPr>
              <a:t>Calculates asset health scores</a:t>
            </a:r>
            <a:endParaRPr sz="1400"/>
          </a:p>
        </p:txBody>
      </p:sp>
      <p:sp>
        <p:nvSpPr>
          <p:cNvPr id="294818799" name=""/>
          <p:cNvSpPr txBox="1"/>
          <p:nvPr/>
        </p:nvSpPr>
        <p:spPr bwMode="auto">
          <a:xfrm rot="0" flipH="0" flipV="0">
            <a:off x="2134293" y="2971359"/>
            <a:ext cx="297809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lang="en-US" b="1">
                <a:solidFill>
                  <a:srgbClr val="E6EDF3"/>
                </a:solidFill>
              </a:rPr>
              <a:t>Asset Performance Agent</a:t>
            </a:r>
            <a:endParaRPr/>
          </a:p>
        </p:txBody>
      </p:sp>
      <p:sp>
        <p:nvSpPr>
          <p:cNvPr id="1234207432" name="A1Num"/>
          <p:cNvSpPr txBox="1"/>
          <p:nvPr/>
        </p:nvSpPr>
        <p:spPr bwMode="auto">
          <a:xfrm>
            <a:off x="2152557" y="2519451"/>
            <a:ext cx="720000" cy="36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800" b="1">
                <a:solidFill>
                  <a:srgbClr val="38BDF8"/>
                </a:solidFill>
              </a:rPr>
              <a:t>01</a:t>
            </a:r>
            <a:endParaRPr sz="2600"/>
          </a:p>
        </p:txBody>
      </p:sp>
      <p:sp>
        <p:nvSpPr>
          <p:cNvPr id="485463334" name=""/>
          <p:cNvSpPr/>
          <p:nvPr/>
        </p:nvSpPr>
        <p:spPr bwMode="auto">
          <a:xfrm rot="0" flipH="0" flipV="0">
            <a:off x="4134989" y="4493601"/>
            <a:ext cx="3919903" cy="1886681"/>
          </a:xfrm>
          <a:prstGeom prst="flowChartAlternateProcess">
            <a:avLst/>
          </a:prstGeom>
          <a:solidFill>
            <a:schemeClr val="tx1"/>
          </a:solidFill>
          <a:ln w="12700" cap="flat" cmpd="sng" algn="ctr">
            <a:solidFill>
              <a:srgbClr val="FFC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4260497" name=""/>
          <p:cNvSpPr txBox="1"/>
          <p:nvPr/>
        </p:nvSpPr>
        <p:spPr bwMode="auto">
          <a:xfrm rot="0" flipH="0" flipV="0">
            <a:off x="4288028" y="5474676"/>
            <a:ext cx="3459115" cy="716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Evaluates export + storage decisions</a:t>
            </a:r>
            <a:endParaRPr sz="1400"/>
          </a:p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Detects curtailment risk</a:t>
            </a:r>
            <a:endParaRPr lang="en-US" sz="1400" b="0" i="0" u="none" strike="noStrike" cap="none" spc="0">
              <a:solidFill>
                <a:srgbClr val="7D8590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300" b="0" i="0" u="none" strike="noStrike" cap="none" spc="0">
                <a:solidFill>
                  <a:srgbClr val="7D8590"/>
                </a:solidFill>
                <a:latin typeface="Arial"/>
                <a:ea typeface="Arial"/>
                <a:cs typeface="Arial"/>
              </a:rPr>
              <a:t> Generates real-time grid recommendations</a:t>
            </a:r>
            <a:endParaRPr lang="en-US" sz="1400" b="0" i="0" u="none" strike="noStrike" cap="none" spc="0">
              <a:solidFill>
                <a:srgbClr val="7D8590"/>
              </a:solidFill>
              <a:latin typeface="Times New Roman"/>
              <a:cs typeface="Times New Roman"/>
            </a:endParaRPr>
          </a:p>
        </p:txBody>
      </p:sp>
      <p:sp>
        <p:nvSpPr>
          <p:cNvPr id="1991263587" name=""/>
          <p:cNvSpPr txBox="1"/>
          <p:nvPr/>
        </p:nvSpPr>
        <p:spPr bwMode="auto">
          <a:xfrm rot="0" flipH="0" flipV="0">
            <a:off x="4270824" y="5107890"/>
            <a:ext cx="357815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1" i="0" u="none" strike="noStrike" cap="none" spc="0">
                <a:solidFill>
                  <a:srgbClr val="E6EDF3"/>
                </a:solidFill>
                <a:latin typeface="Arial"/>
                <a:ea typeface="Arial"/>
                <a:cs typeface="Arial"/>
              </a:rPr>
              <a:t>Predictive Maintenance Agent</a:t>
            </a:r>
            <a:endParaRPr sz="1800"/>
          </a:p>
        </p:txBody>
      </p:sp>
      <p:sp>
        <p:nvSpPr>
          <p:cNvPr id="1914894741" name="A1Num"/>
          <p:cNvSpPr txBox="1"/>
          <p:nvPr/>
        </p:nvSpPr>
        <p:spPr bwMode="auto">
          <a:xfrm>
            <a:off x="4289087" y="4655981"/>
            <a:ext cx="720000" cy="360000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pPr>
              <a:defRPr/>
            </a:pPr>
            <a:r>
              <a:rPr sz="2600" b="1">
                <a:solidFill>
                  <a:srgbClr val="FFC000"/>
                </a:solidFill>
              </a:rPr>
              <a:t>04</a:t>
            </a:r>
            <a:endParaRPr sz="2600" b="1">
              <a:solidFill>
                <a:srgbClr val="FFC000"/>
              </a:solidFill>
            </a:endParaRPr>
          </a:p>
        </p:txBody>
      </p:sp>
      <p:sp>
        <p:nvSpPr>
          <p:cNvPr id="268255585" name=""/>
          <p:cNvSpPr/>
          <p:nvPr/>
        </p:nvSpPr>
        <p:spPr bwMode="auto">
          <a:xfrm rot="0" flipH="0" flipV="0">
            <a:off x="135955" y="4493601"/>
            <a:ext cx="3919903" cy="1886681"/>
          </a:xfrm>
          <a:prstGeom prst="flowChartAlternateProcess">
            <a:avLst/>
          </a:prstGeom>
          <a:solidFill>
            <a:schemeClr val="tx1"/>
          </a:solidFill>
          <a:ln w="12700" cap="flat" cmpd="sng" algn="ctr">
            <a:solidFill>
              <a:srgbClr val="FF7B72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5993117" name=""/>
          <p:cNvSpPr txBox="1"/>
          <p:nvPr/>
        </p:nvSpPr>
        <p:spPr bwMode="auto">
          <a:xfrm rot="0" flipH="0" flipV="0">
            <a:off x="288992" y="5505449"/>
            <a:ext cx="3444715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Predicts solar + wind output</a:t>
            </a:r>
            <a:endParaRPr sz="1400"/>
          </a:p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Weather-integrated forecasting</a:t>
            </a:r>
            <a:endParaRPr sz="1400"/>
          </a:p>
          <a:p>
            <a:pPr>
              <a:defRPr/>
            </a:pPr>
            <a:r>
              <a:rPr lang="en-US" sz="14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6h · 24h · 7-day horizons</a:t>
            </a:r>
            <a:endParaRPr sz="1400"/>
          </a:p>
        </p:txBody>
      </p:sp>
      <p:sp>
        <p:nvSpPr>
          <p:cNvPr id="1334240820" name=""/>
          <p:cNvSpPr txBox="1"/>
          <p:nvPr/>
        </p:nvSpPr>
        <p:spPr bwMode="auto">
          <a:xfrm rot="0" flipH="0" flipV="0">
            <a:off x="271788" y="5138663"/>
            <a:ext cx="368770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Generation Forecast Agent</a:t>
            </a:r>
            <a:endParaRPr sz="1800"/>
          </a:p>
        </p:txBody>
      </p:sp>
      <p:sp>
        <p:nvSpPr>
          <p:cNvPr id="69889796" name="A1Num"/>
          <p:cNvSpPr txBox="1"/>
          <p:nvPr/>
        </p:nvSpPr>
        <p:spPr bwMode="auto">
          <a:xfrm>
            <a:off x="290053" y="4686754"/>
            <a:ext cx="720000" cy="36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800" b="1">
                <a:solidFill>
                  <a:srgbClr val="FF7B72"/>
                </a:solidFill>
              </a:rPr>
              <a:t>03</a:t>
            </a:r>
            <a:endParaRPr sz="2600">
              <a:solidFill>
                <a:srgbClr val="FF7B72"/>
              </a:solidFill>
            </a:endParaRPr>
          </a:p>
        </p:txBody>
      </p:sp>
      <p:sp>
        <p:nvSpPr>
          <p:cNvPr id="1508829460" name=""/>
          <p:cNvSpPr/>
          <p:nvPr/>
        </p:nvSpPr>
        <p:spPr bwMode="auto">
          <a:xfrm rot="0" flipH="0" flipV="0">
            <a:off x="8134024" y="4462827"/>
            <a:ext cx="3919903" cy="1886681"/>
          </a:xfrm>
          <a:prstGeom prst="flowChartAlternateProcess">
            <a:avLst/>
          </a:prstGeom>
          <a:solidFill>
            <a:schemeClr val="tx1"/>
          </a:solidFill>
          <a:ln w="12700" cap="flat" cmpd="sng" algn="ctr">
            <a:solidFill>
              <a:srgbClr val="38BDF8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49409285" name=""/>
          <p:cNvSpPr txBox="1"/>
          <p:nvPr/>
        </p:nvSpPr>
        <p:spPr bwMode="auto">
          <a:xfrm rot="0" flipH="0" flipV="0">
            <a:off x="8287062" y="5443902"/>
            <a:ext cx="3456595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2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Combines all agent outputs</a:t>
            </a:r>
            <a:endParaRPr sz="1200"/>
          </a:p>
          <a:p>
            <a:pPr>
              <a:defRPr/>
            </a:pPr>
            <a:r>
              <a:rPr lang="en-US" sz="12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Powers AI Copilot chat</a:t>
            </a:r>
            <a:endParaRPr sz="1200"/>
          </a:p>
          <a:p>
            <a:pPr>
              <a:defRPr/>
            </a:pPr>
            <a:r>
              <a:rPr lang="en-US" sz="12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Generates operator priorities</a:t>
            </a:r>
            <a:endParaRPr sz="1200"/>
          </a:p>
          <a:p>
            <a:pPr>
              <a:defRPr/>
            </a:pPr>
            <a:r>
              <a:rPr lang="en-US" sz="1200" b="0" i="0" u="none" strike="noStrike" cap="none" spc="0">
                <a:solidFill>
                  <a:srgbClr val="7D8590"/>
                </a:solidFill>
                <a:latin typeface="+mn-lt"/>
                <a:ea typeface="+mn-ea"/>
                <a:cs typeface="+mn-cs"/>
              </a:rPr>
              <a:t> Drives executive summary</a:t>
            </a:r>
            <a:endParaRPr sz="1200"/>
          </a:p>
        </p:txBody>
      </p:sp>
      <p:sp>
        <p:nvSpPr>
          <p:cNvPr id="1279124981" name=""/>
          <p:cNvSpPr txBox="1"/>
          <p:nvPr/>
        </p:nvSpPr>
        <p:spPr bwMode="auto">
          <a:xfrm rot="0" flipH="0" flipV="0">
            <a:off x="8269858" y="5077116"/>
            <a:ext cx="357959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18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Dashboard Agent</a:t>
            </a:r>
            <a:endParaRPr sz="1800"/>
          </a:p>
        </p:txBody>
      </p:sp>
      <p:sp>
        <p:nvSpPr>
          <p:cNvPr id="1256956188" name="A1Num"/>
          <p:cNvSpPr txBox="1"/>
          <p:nvPr/>
        </p:nvSpPr>
        <p:spPr bwMode="auto">
          <a:xfrm>
            <a:off x="8288122" y="4625207"/>
            <a:ext cx="720000" cy="360000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pPr>
              <a:defRPr/>
            </a:pPr>
            <a:r>
              <a:rPr sz="2600" b="1">
                <a:solidFill>
                  <a:srgbClr val="38BDF8"/>
                </a:solidFill>
              </a:rPr>
              <a:t>05</a:t>
            </a:r>
            <a:endParaRPr sz="2600" b="1">
              <a:solidFill>
                <a:srgbClr val="38BDF8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585139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BC8CFF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pic>
        <p:nvPicPr>
          <p:cNvPr id="209980875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0" y="144000"/>
            <a:ext cx="12191999" cy="665172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9219308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00B05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1822763437" name="SlideLbl"/>
          <p:cNvSpPr txBox="1"/>
          <p:nvPr/>
        </p:nvSpPr>
        <p:spPr bwMode="auto">
          <a:xfrm>
            <a:off x="540000" y="252000"/>
            <a:ext cx="4320000" cy="216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100" b="1">
                <a:solidFill>
                  <a:srgbClr val="3FB950"/>
                </a:solidFill>
              </a:rPr>
              <a:t>COMMAND CENTER</a:t>
            </a:r>
            <a:endParaRPr/>
          </a:p>
        </p:txBody>
      </p:sp>
      <p:sp>
        <p:nvSpPr>
          <p:cNvPr id="1890858434" name="SlideH"/>
          <p:cNvSpPr txBox="1"/>
          <p:nvPr/>
        </p:nvSpPr>
        <p:spPr bwMode="auto">
          <a:xfrm>
            <a:off x="540000" y="504000"/>
            <a:ext cx="5760000" cy="79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400" b="1">
                <a:solidFill>
                  <a:srgbClr val="E6EDF3"/>
                </a:solidFill>
              </a:rPr>
              <a:t>Everything the Operator Needs.</a:t>
            </a:r>
            <a:endParaRPr/>
          </a:p>
          <a:p>
            <a:pPr>
              <a:defRPr/>
            </a:pPr>
            <a:r>
              <a:rPr lang="en-US" sz="2400" b="1">
                <a:solidFill>
                  <a:srgbClr val="E6EDF3"/>
                </a:solidFill>
              </a:rPr>
              <a:t>One Command Center.</a:t>
            </a:r>
            <a:endParaRPr/>
          </a:p>
        </p:txBody>
      </p:sp>
      <p:sp>
        <p:nvSpPr>
          <p:cNvPr id="1309120876" name="SubH"/>
          <p:cNvSpPr txBox="1"/>
          <p:nvPr/>
        </p:nvSpPr>
        <p:spPr bwMode="auto">
          <a:xfrm>
            <a:off x="540000" y="1332000"/>
            <a:ext cx="5760000" cy="25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300">
                <a:solidFill>
                  <a:srgbClr val="7D8590"/>
                </a:solidFill>
              </a:rPr>
              <a:t>A unified operational view across solar, wind and hybrid assets.</a:t>
            </a:r>
            <a:endParaRPr/>
          </a:p>
        </p:txBody>
      </p:sp>
      <p:pic>
        <p:nvPicPr>
          <p:cNvPr id="202576607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59037" y="1947073"/>
            <a:ext cx="5468872" cy="1730164"/>
          </a:xfrm>
          <a:prstGeom prst="rect">
            <a:avLst/>
          </a:prstGeom>
        </p:spPr>
      </p:pic>
      <p:pic>
        <p:nvPicPr>
          <p:cNvPr id="135382215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59037" y="3857724"/>
            <a:ext cx="5468872" cy="2742625"/>
          </a:xfrm>
          <a:prstGeom prst="rect">
            <a:avLst/>
          </a:prstGeom>
        </p:spPr>
      </p:pic>
      <p:pic>
        <p:nvPicPr>
          <p:cNvPr id="200664317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223552" y="504000"/>
            <a:ext cx="5578924" cy="635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96774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FF000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710702009" name="SlideLbl"/>
          <p:cNvSpPr txBox="1"/>
          <p:nvPr/>
        </p:nvSpPr>
        <p:spPr bwMode="auto">
          <a:xfrm>
            <a:off x="540000" y="252000"/>
            <a:ext cx="4320000" cy="216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100" b="1" i="0" u="none" strike="noStrike" cap="none" spc="0">
                <a:solidFill>
                  <a:srgbClr val="FF7B72"/>
                </a:solidFill>
                <a:latin typeface="+mn-lt"/>
                <a:ea typeface="+mn-ea"/>
                <a:cs typeface="+mn-cs"/>
              </a:rPr>
              <a:t>PREDICTIVE MAINTENANCE</a:t>
            </a:r>
            <a:endParaRPr sz="1100"/>
          </a:p>
          <a:p>
            <a:pPr>
              <a:defRPr/>
            </a:pPr>
            <a:endParaRPr/>
          </a:p>
        </p:txBody>
      </p:sp>
      <p:sp>
        <p:nvSpPr>
          <p:cNvPr id="1620353323" name="SlideH"/>
          <p:cNvSpPr txBox="1"/>
          <p:nvPr/>
        </p:nvSpPr>
        <p:spPr bwMode="auto">
          <a:xfrm>
            <a:off x="540000" y="504000"/>
            <a:ext cx="5760000" cy="79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Detect Failure Before</a:t>
            </a:r>
            <a:endParaRPr sz="2400"/>
          </a:p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It Becomes Downtime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123209570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98474" y="1628976"/>
            <a:ext cx="4964641" cy="2509084"/>
          </a:xfrm>
          <a:prstGeom prst="rect">
            <a:avLst/>
          </a:prstGeom>
        </p:spPr>
      </p:pic>
      <p:pic>
        <p:nvPicPr>
          <p:cNvPr id="122486275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848179" y="590549"/>
            <a:ext cx="4664245" cy="4679949"/>
          </a:xfrm>
          <a:prstGeom prst="rect">
            <a:avLst/>
          </a:prstGeom>
        </p:spPr>
      </p:pic>
      <p:pic>
        <p:nvPicPr>
          <p:cNvPr id="106224530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22268" y="4333874"/>
            <a:ext cx="4940846" cy="1609550"/>
          </a:xfrm>
          <a:prstGeom prst="rect">
            <a:avLst/>
          </a:prstGeom>
        </p:spPr>
      </p:pic>
      <p:pic>
        <p:nvPicPr>
          <p:cNvPr id="99367845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5848179" y="5378101"/>
            <a:ext cx="4664245" cy="11306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872968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00B0F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2085960130" name="SlideLbl"/>
          <p:cNvSpPr txBox="1"/>
          <p:nvPr/>
        </p:nvSpPr>
        <p:spPr bwMode="auto">
          <a:xfrm>
            <a:off x="540000" y="252000"/>
            <a:ext cx="4320000" cy="216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100" b="1" i="0" u="none" strike="noStrike" cap="none" spc="0">
                <a:solidFill>
                  <a:srgbClr val="58A6FF"/>
                </a:solidFill>
                <a:latin typeface="+mn-lt"/>
                <a:ea typeface="+mn-ea"/>
                <a:cs typeface="+mn-cs"/>
              </a:rPr>
              <a:t>GRID OPTIMIZATION</a:t>
            </a:r>
            <a:endParaRPr sz="1100"/>
          </a:p>
          <a:p>
            <a:pPr>
              <a:defRPr/>
            </a:pPr>
            <a:endParaRPr/>
          </a:p>
        </p:txBody>
      </p:sp>
      <p:sp>
        <p:nvSpPr>
          <p:cNvPr id="50851790" name="SlideH"/>
          <p:cNvSpPr txBox="1"/>
          <p:nvPr/>
        </p:nvSpPr>
        <p:spPr bwMode="auto">
          <a:xfrm>
            <a:off x="540000" y="504000"/>
            <a:ext cx="5760000" cy="79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Turn Renewable Variability</a:t>
            </a:r>
            <a:endParaRPr sz="2400"/>
          </a:p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Into a Grid Decision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63170204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04874" y="1519236"/>
            <a:ext cx="5695124" cy="3079937"/>
          </a:xfrm>
          <a:prstGeom prst="rect">
            <a:avLst/>
          </a:prstGeom>
        </p:spPr>
      </p:pic>
      <p:pic>
        <p:nvPicPr>
          <p:cNvPr id="12289155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6300000" y="1516891"/>
            <a:ext cx="5166657" cy="3067808"/>
          </a:xfrm>
          <a:prstGeom prst="rect">
            <a:avLst/>
          </a:prstGeom>
        </p:spPr>
      </p:pic>
      <p:pic>
        <p:nvPicPr>
          <p:cNvPr id="13256682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58961" y="4612756"/>
            <a:ext cx="10907695" cy="30029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420935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1903718519" name="SlideLbl"/>
          <p:cNvSpPr txBox="1"/>
          <p:nvPr/>
        </p:nvSpPr>
        <p:spPr bwMode="auto">
          <a:xfrm>
            <a:off x="540000" y="252000"/>
            <a:ext cx="4320000" cy="216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100" b="1" i="0" u="none" strike="noStrike" cap="none" spc="0">
                <a:solidFill>
                  <a:srgbClr val="F59E0B"/>
                </a:solidFill>
                <a:latin typeface="+mn-lt"/>
                <a:ea typeface="+mn-ea"/>
                <a:cs typeface="+mn-cs"/>
              </a:rPr>
              <a:t>GENERATION FORECAST + WEATHER INTELLIGENCE</a:t>
            </a:r>
            <a:endParaRPr sz="1100"/>
          </a:p>
          <a:p>
            <a:pPr>
              <a:defRPr/>
            </a:pPr>
            <a:endParaRPr/>
          </a:p>
        </p:txBody>
      </p:sp>
      <p:sp>
        <p:nvSpPr>
          <p:cNvPr id="498155559" name="SlideH"/>
          <p:cNvSpPr txBox="1"/>
          <p:nvPr/>
        </p:nvSpPr>
        <p:spPr bwMode="auto">
          <a:xfrm>
            <a:off x="540000" y="504000"/>
            <a:ext cx="5760000" cy="79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Predict Tomorrow's Generation</a:t>
            </a:r>
            <a:endParaRPr sz="2400"/>
          </a:p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Before Tomorrow Arrives</a:t>
            </a:r>
            <a:endParaRPr sz="2400"/>
          </a:p>
          <a:p>
            <a:pPr>
              <a:defRPr/>
            </a:pPr>
            <a:endParaRPr/>
          </a:p>
        </p:txBody>
      </p:sp>
      <p:pic>
        <p:nvPicPr>
          <p:cNvPr id="830230611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39999" y="1524988"/>
            <a:ext cx="4346387" cy="2015435"/>
          </a:xfrm>
          <a:prstGeom prst="rect">
            <a:avLst/>
          </a:prstGeom>
        </p:spPr>
      </p:pic>
      <p:pic>
        <p:nvPicPr>
          <p:cNvPr id="1253955807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40000" y="3612311"/>
            <a:ext cx="4346387" cy="2479050"/>
          </a:xfrm>
          <a:prstGeom prst="rect">
            <a:avLst/>
          </a:prstGeom>
        </p:spPr>
      </p:pic>
      <p:pic>
        <p:nvPicPr>
          <p:cNvPr id="210115793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4949858" y="1115952"/>
            <a:ext cx="4331624" cy="1979219"/>
          </a:xfrm>
          <a:prstGeom prst="rect">
            <a:avLst/>
          </a:prstGeom>
        </p:spPr>
      </p:pic>
      <p:pic>
        <p:nvPicPr>
          <p:cNvPr id="60702029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949858" y="3183505"/>
            <a:ext cx="4331624" cy="1626025"/>
          </a:xfrm>
          <a:prstGeom prst="rect">
            <a:avLst/>
          </a:prstGeom>
        </p:spPr>
      </p:pic>
      <p:pic>
        <p:nvPicPr>
          <p:cNvPr id="633041656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9426269" y="1255502"/>
            <a:ext cx="2427682" cy="2353213"/>
          </a:xfrm>
          <a:prstGeom prst="rect">
            <a:avLst/>
          </a:prstGeom>
        </p:spPr>
      </p:pic>
      <p:pic>
        <p:nvPicPr>
          <p:cNvPr id="1943978341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419009" y="3757163"/>
            <a:ext cx="2434942" cy="2360251"/>
          </a:xfrm>
          <a:prstGeom prst="rect">
            <a:avLst/>
          </a:prstGeom>
        </p:spPr>
      </p:pic>
      <p:pic>
        <p:nvPicPr>
          <p:cNvPr id="2105495709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4957227" y="4881742"/>
            <a:ext cx="4352830" cy="17318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159293629" name=""/>
          <p:cNvGraphicFramePr>
            <a:graphicFrameLocks xmlns:a="http://schemas.openxmlformats.org/drawingml/2006/main"/>
          </p:cNvGraphicFramePr>
          <p:nvPr/>
        </p:nvGraphicFramePr>
        <p:xfrm rot="0">
          <a:off x="2302216" y="1296000"/>
          <a:ext cx="6847216" cy="3412796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{46F890A9-2807-4EBB-B81D-B2AA78EC7F39}</a:tableStyleId>
              </a:tblPr>
              <a:tblGrid>
                <a:gridCol w="3531438"/>
                <a:gridCol w="3531438"/>
              </a:tblGrid>
              <a:tr h="280396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BC8CFF"/>
                          </a:solidFill>
                          <a:latin typeface="+mn-lt"/>
                          <a:ea typeface="+mn-ea"/>
                          <a:cs typeface="+mn-cs"/>
                        </a:rPr>
                        <a:t>Multi-Agent Intelligence</a:t>
                      </a: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58A6FF"/>
                          </a:solidFill>
                          <a:latin typeface="+mn-lt"/>
                          <a:ea typeface="+mn-ea"/>
                          <a:cs typeface="+mn-cs"/>
                        </a:rPr>
                        <a:t>Explainable Recommendations</a:t>
                      </a: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</a:tr>
              <a:tr h="1215052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Specialized agents collaborate across weather, forecasting, performance, maintenance and grid domains. Each agent brings focused expertise — not a single model trying to do everything.</a:t>
                      </a:r>
                      <a:endParaRPr sz="1200"/>
                    </a:p>
                    <a:p>
                      <a:pPr>
                        <a:defRPr/>
                      </a:pP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Every recommendation shows:</a:t>
                      </a:r>
                      <a:endParaRPr sz="1200"/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WHAT detected  →  WHY it matters  →  ACTION to take  →  CONFIDENCE level</a:t>
                      </a:r>
                      <a:endParaRPr sz="1200"/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Operators and judges understand the AI's value immediately.</a:t>
                      </a:r>
                      <a:endParaRPr sz="1200"/>
                    </a:p>
                    <a:p>
                      <a:pPr>
                        <a:defRPr/>
                      </a:pP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</a:tr>
              <a:tr h="280396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F59E0B"/>
                          </a:solidFill>
                          <a:latin typeface="+mn-lt"/>
                          <a:ea typeface="+mn-ea"/>
                          <a:cs typeface="+mn-cs"/>
                        </a:rPr>
                        <a:t>Connected Operational Context</a:t>
                      </a: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3FB950"/>
                          </a:solidFill>
                          <a:latin typeface="+mn-lt"/>
                          <a:ea typeface="+mn-ea"/>
                          <a:cs typeface="+mn-cs"/>
                        </a:rPr>
                        <a:t>IBM Technology Foundation</a:t>
                      </a: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</a:tr>
              <a:tr h="1712550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Asset signals + weather + grid demand + maintenance history combined into one analytical context. GreenPulse AI sees the whole picture, not isolated metrics.</a:t>
                      </a:r>
                      <a:endParaRPr sz="1200"/>
                    </a:p>
                    <a:p>
                      <a:pPr>
                        <a:defRPr/>
                      </a:pP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IBM Granite 13B — enterprise-grade LLM for generation + reasoning</a:t>
                      </a:r>
                      <a:endParaRPr sz="1200"/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IBM watsonx.ai — managed model inference</a:t>
                      </a:r>
                      <a:endParaRPr sz="1200"/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IBM Cloud — production-ready deployment</a:t>
                      </a:r>
                      <a:endParaRPr sz="1200"/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7D8590"/>
                          </a:solidFill>
                          <a:latin typeface="+mn-lt"/>
                          <a:ea typeface="+mn-ea"/>
                          <a:cs typeface="+mn-cs"/>
                        </a:rPr>
                        <a:t>Mock fallback — always functional without credentials</a:t>
                      </a:r>
                      <a:endParaRPr sz="1200"/>
                    </a:p>
                  </a:txBody>
                  <a:tcPr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6349" algn="ctr">
                      <a:noFill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1227149754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00B05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2015854702" name="SlideLbl"/>
          <p:cNvSpPr txBox="1"/>
          <p:nvPr/>
        </p:nvSpPr>
        <p:spPr bwMode="auto">
          <a:xfrm>
            <a:off x="540000" y="252000"/>
            <a:ext cx="4320000" cy="216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100" b="1" i="0" u="none" strike="noStrike" cap="none" spc="0">
                <a:solidFill>
                  <a:srgbClr val="3FB950"/>
                </a:solidFill>
                <a:latin typeface="+mn-lt"/>
                <a:ea typeface="+mn-ea"/>
                <a:cs typeface="+mn-cs"/>
              </a:rPr>
              <a:t>INNOVATION + IMPACT</a:t>
            </a:r>
            <a:endParaRPr sz="1100"/>
          </a:p>
          <a:p>
            <a:pPr>
              <a:defRPr/>
            </a:pPr>
            <a:endParaRPr/>
          </a:p>
        </p:txBody>
      </p:sp>
      <p:sp>
        <p:nvSpPr>
          <p:cNvPr id="1391176794" name="SlideH"/>
          <p:cNvSpPr txBox="1"/>
          <p:nvPr/>
        </p:nvSpPr>
        <p:spPr bwMode="auto">
          <a:xfrm>
            <a:off x="540000" y="504000"/>
            <a:ext cx="5760000" cy="79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Why GreenPulse AI Is Different</a:t>
            </a:r>
            <a:endParaRPr sz="2400"/>
          </a:p>
        </p:txBody>
      </p:sp>
      <p:pic>
        <p:nvPicPr>
          <p:cNvPr id="187375655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121309" y="4636697"/>
            <a:ext cx="5896107" cy="22885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2246898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00B05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957956452" name="SlideLbl"/>
          <p:cNvSpPr txBox="1"/>
          <p:nvPr/>
        </p:nvSpPr>
        <p:spPr bwMode="auto">
          <a:xfrm>
            <a:off x="540000" y="252000"/>
            <a:ext cx="4320000" cy="216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100" b="1" i="0" u="none" strike="noStrike" cap="none" spc="0">
                <a:solidFill>
                  <a:srgbClr val="3FB950"/>
                </a:solidFill>
                <a:latin typeface="+mn-lt"/>
                <a:ea typeface="+mn-ea"/>
                <a:cs typeface="+mn-cs"/>
              </a:rPr>
              <a:t>FUTURE ROADMAP + CLOSING</a:t>
            </a:r>
            <a:endParaRPr sz="1100"/>
          </a:p>
          <a:p>
            <a:pPr>
              <a:defRPr/>
            </a:pPr>
            <a:endParaRPr/>
          </a:p>
        </p:txBody>
      </p:sp>
      <p:sp>
        <p:nvSpPr>
          <p:cNvPr id="301926680" name="SlideH"/>
          <p:cNvSpPr txBox="1"/>
          <p:nvPr/>
        </p:nvSpPr>
        <p:spPr bwMode="auto">
          <a:xfrm flipH="0" flipV="0">
            <a:off x="540000" y="504000"/>
            <a:ext cx="6991980" cy="79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From Hackathon Prototype to</a:t>
            </a:r>
            <a:endParaRPr sz="2400"/>
          </a:p>
          <a:p>
            <a:pPr>
              <a:defRPr/>
            </a:pPr>
            <a:r>
              <a:rPr lang="en-US" sz="2400" b="1" i="0" u="none" strike="noStrike" cap="none" spc="0">
                <a:solidFill>
                  <a:srgbClr val="E6EDF3"/>
                </a:solidFill>
                <a:latin typeface="+mn-lt"/>
                <a:ea typeface="+mn-ea"/>
                <a:cs typeface="+mn-cs"/>
              </a:rPr>
              <a:t>Renewable Energy Operations Platform</a:t>
            </a:r>
            <a:endParaRPr sz="2400"/>
          </a:p>
          <a:p>
            <a:pPr>
              <a:defRPr/>
            </a:pPr>
            <a:endParaRPr/>
          </a:p>
        </p:txBody>
      </p:sp>
      <p:sp>
        <p:nvSpPr>
          <p:cNvPr id="1406180205" name="Rd1Bg"/>
          <p:cNvSpPr txBox="1"/>
          <p:nvPr/>
        </p:nvSpPr>
        <p:spPr bwMode="auto">
          <a:xfrm>
            <a:off x="432000" y="1620000"/>
            <a:ext cx="3420000" cy="378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3FB950"/>
              </a:solidFill>
            </a:endParaRPr>
          </a:p>
        </p:txBody>
      </p:sp>
      <p:sp>
        <p:nvSpPr>
          <p:cNvPr id="1189650689" name="Rd1Lbl"/>
          <p:cNvSpPr txBox="1"/>
          <p:nvPr/>
        </p:nvSpPr>
        <p:spPr bwMode="auto">
          <a:xfrm>
            <a:off x="540000" y="1692000"/>
            <a:ext cx="3240000" cy="25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300" b="1">
                <a:solidFill>
                  <a:srgbClr val="3FB950"/>
                </a:solidFill>
              </a:rPr>
              <a:t>TODAY</a:t>
            </a:r>
            <a:endParaRPr/>
          </a:p>
        </p:txBody>
      </p:sp>
      <p:sp>
        <p:nvSpPr>
          <p:cNvPr id="1896941090" name="Rd1Sub"/>
          <p:cNvSpPr txBox="1"/>
          <p:nvPr/>
        </p:nvSpPr>
        <p:spPr bwMode="auto">
          <a:xfrm>
            <a:off x="540000" y="1980000"/>
            <a:ext cx="3240000" cy="18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000">
                <a:solidFill>
                  <a:srgbClr val="7D8590"/>
                </a:solidFill>
              </a:rPr>
              <a:t>Hackathon Prototype</a:t>
            </a:r>
            <a:endParaRPr/>
          </a:p>
        </p:txBody>
      </p:sp>
      <p:sp>
        <p:nvSpPr>
          <p:cNvPr id="1678682566" name="Rd1D"/>
          <p:cNvSpPr txBox="1"/>
          <p:nvPr/>
        </p:nvSpPr>
        <p:spPr bwMode="auto">
          <a:xfrm>
            <a:off x="540000" y="2304000"/>
            <a:ext cx="3240000" cy="288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16 simulated assets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5 specialized AI agents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IBM Granite integration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Command Center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Predictive maintenance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Generation forecasting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Grid optimization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AI Copilot chat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Agent activity timeline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Alert management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Gujarat schematic map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Architecture page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3FB950"/>
                </a:solidFill>
              </a:rPr>
              <a:t>✓  Demo scenarios</a:t>
            </a:r>
            <a:endParaRPr sz="2200"/>
          </a:p>
        </p:txBody>
      </p:sp>
      <p:sp>
        <p:nvSpPr>
          <p:cNvPr id="1282325608" name="Arr1"/>
          <p:cNvSpPr txBox="1"/>
          <p:nvPr/>
        </p:nvSpPr>
        <p:spPr bwMode="auto">
          <a:xfrm>
            <a:off x="3996000" y="3348000"/>
            <a:ext cx="432000" cy="360000"/>
          </a:xfrm>
          <a:prstGeom prst="rect">
            <a:avLst/>
          </a:prstGeom>
          <a:noFill/>
        </p:spPr>
        <p:txBody>
          <a:bodyPr/>
          <a:lstStyle/>
          <a:p>
            <a:pPr algn="ctr">
              <a:defRPr/>
            </a:pPr>
            <a:r>
              <a:rPr lang="en-US" sz="2400">
                <a:solidFill>
                  <a:srgbClr val="484F58"/>
                </a:solidFill>
              </a:rPr>
              <a:t>→</a:t>
            </a:r>
            <a:endParaRPr/>
          </a:p>
        </p:txBody>
      </p:sp>
      <p:sp>
        <p:nvSpPr>
          <p:cNvPr id="1837630002" name="Rd2Bg"/>
          <p:cNvSpPr txBox="1"/>
          <p:nvPr/>
        </p:nvSpPr>
        <p:spPr bwMode="auto">
          <a:xfrm>
            <a:off x="4500000" y="1620000"/>
            <a:ext cx="3420000" cy="378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58A6FF"/>
              </a:solidFill>
            </a:endParaRPr>
          </a:p>
        </p:txBody>
      </p:sp>
      <p:sp>
        <p:nvSpPr>
          <p:cNvPr id="1912775877" name="Rd2Lbl"/>
          <p:cNvSpPr txBox="1"/>
          <p:nvPr/>
        </p:nvSpPr>
        <p:spPr bwMode="auto">
          <a:xfrm>
            <a:off x="4608000" y="1692000"/>
            <a:ext cx="3240000" cy="25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300" b="1">
                <a:solidFill>
                  <a:srgbClr val="58A6FF"/>
                </a:solidFill>
              </a:rPr>
              <a:t>NEXT</a:t>
            </a:r>
            <a:endParaRPr/>
          </a:p>
        </p:txBody>
      </p:sp>
      <p:sp>
        <p:nvSpPr>
          <p:cNvPr id="1113778380" name="Rd2Sub"/>
          <p:cNvSpPr txBox="1"/>
          <p:nvPr/>
        </p:nvSpPr>
        <p:spPr bwMode="auto">
          <a:xfrm>
            <a:off x="4608000" y="1980000"/>
            <a:ext cx="3240000" cy="18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000">
                <a:solidFill>
                  <a:srgbClr val="7D8590"/>
                </a:solidFill>
              </a:rPr>
              <a:t>Production Deployment</a:t>
            </a:r>
            <a:endParaRPr/>
          </a:p>
        </p:txBody>
      </p:sp>
      <p:sp>
        <p:nvSpPr>
          <p:cNvPr id="2049889664" name="Rd2D"/>
          <p:cNvSpPr txBox="1"/>
          <p:nvPr/>
        </p:nvSpPr>
        <p:spPr bwMode="auto">
          <a:xfrm>
            <a:off x="4608000" y="2304000"/>
            <a:ext cx="3240000" cy="288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Real SCADA integration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IoT sensor data streams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Live weather APIs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     (NASA POWER / ERA5)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Digital asset twins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Battery optimization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Real-time grid APIs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Verified GPS maapping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58A6FF"/>
                </a:solidFill>
              </a:rPr>
              <a:t>→  Multi-user roles</a:t>
            </a:r>
            <a:endParaRPr sz="2200"/>
          </a:p>
        </p:txBody>
      </p:sp>
      <p:sp>
        <p:nvSpPr>
          <p:cNvPr id="886247263" name="Arr2"/>
          <p:cNvSpPr txBox="1"/>
          <p:nvPr/>
        </p:nvSpPr>
        <p:spPr bwMode="auto">
          <a:xfrm>
            <a:off x="8064000" y="3348000"/>
            <a:ext cx="432000" cy="360000"/>
          </a:xfrm>
          <a:prstGeom prst="rect">
            <a:avLst/>
          </a:prstGeom>
          <a:noFill/>
        </p:spPr>
        <p:txBody>
          <a:bodyPr/>
          <a:lstStyle/>
          <a:p>
            <a:pPr algn="ctr">
              <a:defRPr/>
            </a:pPr>
            <a:r>
              <a:rPr lang="en-US" sz="2400">
                <a:solidFill>
                  <a:srgbClr val="484F58"/>
                </a:solidFill>
              </a:rPr>
              <a:t>→</a:t>
            </a:r>
            <a:endParaRPr/>
          </a:p>
        </p:txBody>
      </p:sp>
      <p:sp>
        <p:nvSpPr>
          <p:cNvPr id="2109606041" name="Rd3Bg"/>
          <p:cNvSpPr txBox="1"/>
          <p:nvPr/>
        </p:nvSpPr>
        <p:spPr bwMode="auto">
          <a:xfrm>
            <a:off x="8568000" y="1620000"/>
            <a:ext cx="3420000" cy="3780000"/>
          </a:xfrm>
          <a:prstGeom prst="rect">
            <a:avLst/>
          </a:prstGeom>
          <a:solidFill>
            <a:srgbClr val="161B22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BC8CFF"/>
              </a:solidFill>
            </a:endParaRPr>
          </a:p>
        </p:txBody>
      </p:sp>
      <p:sp>
        <p:nvSpPr>
          <p:cNvPr id="1448558564" name="Rd3Lbl"/>
          <p:cNvSpPr txBox="1"/>
          <p:nvPr/>
        </p:nvSpPr>
        <p:spPr bwMode="auto">
          <a:xfrm>
            <a:off x="8676000" y="1692000"/>
            <a:ext cx="3240000" cy="252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300" b="1">
                <a:solidFill>
                  <a:srgbClr val="BC8CFF"/>
                </a:solidFill>
              </a:rPr>
              <a:t>SCALE</a:t>
            </a:r>
            <a:endParaRPr/>
          </a:p>
        </p:txBody>
      </p:sp>
      <p:sp>
        <p:nvSpPr>
          <p:cNvPr id="1604968474" name="Rd3Sub"/>
          <p:cNvSpPr txBox="1"/>
          <p:nvPr/>
        </p:nvSpPr>
        <p:spPr bwMode="auto">
          <a:xfrm>
            <a:off x="8676000" y="1980000"/>
            <a:ext cx="3240000" cy="18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000">
                <a:solidFill>
                  <a:srgbClr val="7D8590"/>
                </a:solidFill>
              </a:rPr>
              <a:t>Enterprise Platform</a:t>
            </a:r>
            <a:endParaRPr/>
          </a:p>
        </p:txBody>
      </p:sp>
      <p:sp>
        <p:nvSpPr>
          <p:cNvPr id="92245072" name="Rd3D"/>
          <p:cNvSpPr txBox="1"/>
          <p:nvPr/>
        </p:nvSpPr>
        <p:spPr bwMode="auto">
          <a:xfrm>
            <a:off x="8676000" y="2304000"/>
            <a:ext cx="3240000" cy="2880000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Multi-site portfolio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Cross-region intelligence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Federated forecasting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Autonomous workflows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Carbon tracking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Grid operator APIs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Utility-scale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     deployment</a:t>
            </a:r>
            <a:endParaRPr sz="2200"/>
          </a:p>
          <a:p>
            <a:pPr>
              <a:defRPr/>
            </a:pPr>
            <a:r>
              <a:rPr lang="en-US" sz="1200">
                <a:solidFill>
                  <a:srgbClr val="BC8CFF"/>
                </a:solidFill>
              </a:rPr>
              <a:t>→  Real-time markets</a:t>
            </a:r>
            <a:endParaRPr sz="2200"/>
          </a:p>
        </p:txBody>
      </p:sp>
      <p:sp>
        <p:nvSpPr>
          <p:cNvPr id="1425835984" name=""/>
          <p:cNvSpPr/>
          <p:nvPr/>
        </p:nvSpPr>
        <p:spPr bwMode="auto">
          <a:xfrm rot="0" flipH="0" flipV="0">
            <a:off x="432000" y="5625141"/>
            <a:ext cx="11556000" cy="1204103"/>
          </a:xfrm>
          <a:prstGeom prst="rect">
            <a:avLst/>
          </a:prstGeom>
          <a:solidFill>
            <a:srgbClr val="161B22"/>
          </a:solidFill>
          <a:ln w="12700" cap="flat" cmpd="sng" algn="ctr">
            <a:solidFill>
              <a:srgbClr val="161B22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>
              <a:defRPr/>
            </a:pPr>
            <a:r>
              <a:rPr sz="1800" b="1" i="0" u="non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Conclusion</a:t>
            </a:r>
            <a:endParaRPr sz="2200">
              <a:solidFill>
                <a:schemeClr val="accent4"/>
              </a:solidFill>
            </a:endParaRPr>
          </a:p>
          <a:p>
            <a:pPr>
              <a:defRPr/>
            </a:pPr>
            <a:endParaRPr sz="700">
              <a:solidFill>
                <a:schemeClr val="accent4"/>
              </a:solidFill>
            </a:endParaRPr>
          </a:p>
          <a:p>
            <a:pPr algn="ctr">
              <a:defRPr/>
            </a:pPr>
            <a:r>
              <a:rPr sz="1600" b="0" i="0" u="non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GreenPulse AI uses </a:t>
            </a:r>
            <a:r>
              <a:rPr sz="1600" b="1" i="0" u="non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Agentic AI and IBM Granite</a:t>
            </a:r>
            <a:r>
              <a:rPr sz="1600" b="0" i="0" u="non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 to monitor renewable assets, predict maintenance needs, forecast generation, and optimize grid decisions. It provides a smart, unified platform for </a:t>
            </a:r>
            <a:r>
              <a:rPr sz="1600" b="1" i="0" u="non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more efficient and sustainable renewable-energy management</a:t>
            </a:r>
            <a:r>
              <a:rPr sz="1600" b="0" i="0" u="none">
                <a:solidFill>
                  <a:schemeClr val="accent4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 sz="2200">
              <a:solidFill>
                <a:schemeClr val="accent4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D111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3409133" name="AccentBar"/>
          <p:cNvSpPr txBox="1"/>
          <p:nvPr/>
        </p:nvSpPr>
        <p:spPr bwMode="auto">
          <a:xfrm>
            <a:off x="0" y="0"/>
            <a:ext cx="12193200" cy="144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>
            <a:pPr>
              <a:defRPr/>
            </a:pPr>
            <a:endParaRPr lang="en-US" sz="800">
              <a:solidFill>
                <a:srgbClr val="F85149"/>
              </a:solidFill>
            </a:endParaRPr>
          </a:p>
        </p:txBody>
      </p:sp>
      <p:sp>
        <p:nvSpPr>
          <p:cNvPr id="1075283890" name=""/>
          <p:cNvSpPr/>
          <p:nvPr/>
        </p:nvSpPr>
        <p:spPr bwMode="auto">
          <a:xfrm rot="0" flipH="0" flipV="0">
            <a:off x="3796222" y="2444149"/>
            <a:ext cx="4600754" cy="2480093"/>
          </a:xfrm>
          <a:prstGeom prst="flowChartAlternateProcess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7200" b="1"/>
              <a:t>Thank You !</a:t>
            </a:r>
            <a:endParaRPr sz="7200" b="1"/>
          </a:p>
        </p:txBody>
      </p:sp>
      <p:sp>
        <p:nvSpPr>
          <p:cNvPr id="381219193" name=""/>
          <p:cNvSpPr/>
          <p:nvPr/>
        </p:nvSpPr>
        <p:spPr bwMode="auto">
          <a:xfrm rot="0" flipH="0" flipV="0">
            <a:off x="2241670" y="5121933"/>
            <a:ext cx="7709858" cy="1168160"/>
          </a:xfrm>
          <a:prstGeom prst="flowChartAlternateProcess">
            <a:avLst/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just">
              <a:defRPr/>
            </a:pPr>
            <a:r>
              <a:rPr sz="16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Source Code:</a:t>
            </a: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  </a:t>
            </a:r>
            <a:r>
              <a:rPr sz="1600" b="0" i="0" u="sng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hlinkClick r:id="rId3" tooltip=""/>
              </a:rPr>
              <a:t>https://github.com/kyt47000/GreenPulse-AI</a:t>
            </a:r>
            <a:endParaRPr sz="2200">
              <a:solidFill>
                <a:schemeClr val="bg1"/>
              </a:solidFill>
            </a:endParaRPr>
          </a:p>
          <a:p>
            <a:pPr algn="just">
              <a:defRPr/>
            </a:pPr>
            <a:r>
              <a:rPr sz="16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Documentation:</a:t>
            </a: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</a:t>
            </a:r>
            <a:r>
              <a:rPr sz="1600" b="0" i="0" u="sng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hlinkClick r:id="rId4" tooltip=""/>
              </a:rPr>
              <a:t>https://github.com/kyt47000/GreenPulse-AI/blob/main/README.md</a:t>
            </a:r>
            <a:endParaRPr sz="2200">
              <a:solidFill>
                <a:schemeClr val="bg1"/>
              </a:solidFill>
            </a:endParaRPr>
          </a:p>
          <a:p>
            <a:pPr algn="just">
              <a:defRPr/>
            </a:pPr>
            <a:r>
              <a:rPr sz="16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Demo:</a:t>
            </a:r>
            <a:r>
              <a:rPr sz="16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           </a:t>
            </a:r>
            <a:r>
              <a:rPr sz="1600" b="0" i="0" u="sng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hlinkClick r:id="rId5" tooltip=""/>
              </a:rPr>
              <a:t>https://kyt47000.github.io/GreenPulse-AI/</a:t>
            </a:r>
            <a:endParaRPr sz="2200">
              <a:solidFill>
                <a:schemeClr val="bg1"/>
              </a:solidFill>
            </a:endParaRPr>
          </a:p>
        </p:txBody>
      </p:sp>
      <p:pic>
        <p:nvPicPr>
          <p:cNvPr id="1457608817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4712710" y="305069"/>
            <a:ext cx="2767778" cy="28294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500" advClick="1">
        <p159:morph option="byObject"/>
      </p:transition>
    </mc:Choice>
    <mc:Fallback>
      <p:transition spd="fast" advClick="1">
        <p:fade/>
      </p:transition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18</Slides>
  <Notes>18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kyt47000;Yash Kayastha</dc:creator>
  <dc:description/>
  <cp:lastModifiedBy/>
  <cp:revision>8</cp:revision>
  <dcterms:modified xsi:type="dcterms:W3CDTF">2026-09-02T15:50:25Z</dcterms:modified>
</cp:coreProperties>
</file>