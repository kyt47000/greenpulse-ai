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a81aaf02c7d4c59" /><Relationship Type="http://schemas.openxmlformats.org/package/2006/relationships/metadata/core-properties" Target="/docProps/core.xml" Id="R9d0e49dea5244b83" /><Relationship Type="http://schemas.openxmlformats.org/officeDocument/2006/relationships/extended-properties" Target="/docProps/app.xml" Id="R57e4b755a7924777" /><Relationship Type="http://schemas.openxmlformats.org/officeDocument/2006/relationships/custom-properties" Target="/docProps/custom.xml" Id="Rd2db598325f94433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254e28a1038b4038"/>
  </p:notesMasterIdLst>
  <p:sldIdLst>
    <p:sldId id="256" r:id="R7542e02be6614399"/>
    <p:sldId id="257" r:id="R9be324ca26d34b69"/>
    <p:sldId id="258" r:id="R18929450bd6347d8"/>
    <p:sldId id="259" r:id="R8d2ea8e506d0460b"/>
    <p:sldId id="260" r:id="R72bb5a185488491c"/>
    <p:sldId id="261" r:id="Ra308553dce684f66"/>
    <p:sldId id="262" r:id="Rda3340053f8c4dd4"/>
    <p:sldId id="263" r:id="R8bb42aee47b84bde"/>
    <p:sldId id="264" r:id="R7f25cdf287f54eeb"/>
    <p:sldId id="265" r:id="R6b8f7baceae24f38"/>
    <p:sldId id="266" r:id="R1c043945e4a649fe"/>
    <p:sldId id="267" r:id="R2e45ea1a72f94d6a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7542e02be6614399" /><Relationship Type="http://schemas.openxmlformats.org/officeDocument/2006/relationships/notesMaster" Target="/ppt/notesMasters/notesMaster1.xml" Id="R254e28a1038b4038" /><Relationship Type="http://schemas.openxmlformats.org/officeDocument/2006/relationships/slide" Target="/ppt/slides/slide2.xml" Id="R9be324ca26d34b69" /><Relationship Type="http://schemas.openxmlformats.org/officeDocument/2006/relationships/slide" Target="/ppt/slides/slide3.xml" Id="R18929450bd6347d8" /><Relationship Type="http://schemas.openxmlformats.org/officeDocument/2006/relationships/slide" Target="/ppt/slides/slide4.xml" Id="R8d2ea8e506d0460b" /><Relationship Type="http://schemas.openxmlformats.org/officeDocument/2006/relationships/slide" Target="/ppt/slides/slide5.xml" Id="R72bb5a185488491c" /><Relationship Type="http://schemas.openxmlformats.org/officeDocument/2006/relationships/slide" Target="/ppt/slides/slide6.xml" Id="Ra308553dce684f66" /><Relationship Type="http://schemas.openxmlformats.org/officeDocument/2006/relationships/slide" Target="/ppt/slides/slide7.xml" Id="Rda3340053f8c4dd4" /><Relationship Type="http://schemas.openxmlformats.org/officeDocument/2006/relationships/slide" Target="/ppt/slides/slide8.xml" Id="R8bb42aee47b84bde" /><Relationship Type="http://schemas.openxmlformats.org/officeDocument/2006/relationships/slide" Target="/ppt/slides/slide9.xml" Id="R7f25cdf287f54eeb" /><Relationship Type="http://schemas.openxmlformats.org/officeDocument/2006/relationships/slide" Target="/ppt/slides/slide10.xml" Id="R6b8f7baceae24f38" /><Relationship Type="http://schemas.openxmlformats.org/officeDocument/2006/relationships/slide" Target="/ppt/slides/slide11.xml" Id="R1c043945e4a649fe" /><Relationship Type="http://schemas.openxmlformats.org/officeDocument/2006/relationships/slide" Target="/ppt/slides/slide12.xml" Id="R2e45ea1a72f94d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c4756e7aa0343f9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bb62534a80b46fa" /><Relationship Type="http://schemas.openxmlformats.org/officeDocument/2006/relationships/slide" Target="/ppt/slides/slide1.xml" Id="Rc1ee61d9904c4b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56e671f2a4d43b7" /><Relationship Type="http://schemas.openxmlformats.org/officeDocument/2006/relationships/slide" Target="/ppt/slides/slide2.xml" Id="R4a90db7aa2f945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32753268b6f4ff3" /><Relationship Type="http://schemas.openxmlformats.org/officeDocument/2006/relationships/slide" Target="/ppt/slides/slide3.xml" Id="Rfaccb3a8d9da40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30dcf04467d48bc" /><Relationship Type="http://schemas.openxmlformats.org/officeDocument/2006/relationships/slide" Target="/ppt/slides/slide4.xml" Id="R773055b85f334a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c61adfd79c2411f" /><Relationship Type="http://schemas.openxmlformats.org/officeDocument/2006/relationships/slide" Target="/ppt/slides/slide5.xml" Id="Rac9f737a869348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b887d20deb34612" /><Relationship Type="http://schemas.openxmlformats.org/officeDocument/2006/relationships/slide" Target="/ppt/slides/slide6.xml" Id="R65b7b772da254ac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b7ae84fa0064345" /><Relationship Type="http://schemas.openxmlformats.org/officeDocument/2006/relationships/slide" Target="/ppt/slides/slide7.xml" Id="R33822dd5b073498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270e3f99d91437e" /><Relationship Type="http://schemas.openxmlformats.org/officeDocument/2006/relationships/slide" Target="/ppt/slides/slide8.xml" Id="R61d3909ca12341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6c1955e3b6e4be3" /><Relationship Type="http://schemas.openxmlformats.org/officeDocument/2006/relationships/slide" Target="/ppt/slides/slide9.xml" Id="Reaa7bf0491d54a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278ceadcbe94e8f" /><Relationship Type="http://schemas.openxmlformats.org/officeDocument/2006/relationships/slide" Target="/ppt/slides/slide10.xml" Id="R57dbaf217d2d4c7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8bab5cd38d7431a" /><Relationship Type="http://schemas.openxmlformats.org/officeDocument/2006/relationships/slide" Target="/ppt/slides/slide11.xml" Id="R6d0c5598b02d49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557a80aea204a24" /><Relationship Type="http://schemas.openxmlformats.org/officeDocument/2006/relationships/slide" Target="/ppt/slides/slide12.xml" Id="Rcfb3316e6063435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 — TITLE</a:t>
            </a:r>
          </a:p>
          <a:p xmlns:a="http://schemas.openxmlformats.org/drawingml/2006/main">
            <a:r>
              <a:rPr lang="en-US"/>
              <a:t>Open with the live application. Say: 'GreenPulse AI is an agentic AI platform that turns raw operational data from renewable energy assets into intelligent, explainable action — monitoring, predicting failures, forecasting generation, and optimizing grid integration.' Point to the dashboard mockup on the right — 'This is the actual application we built.'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 — THE PROBLEM</a:t>
            </a:r>
          </a:p>
          <a:p xmlns:a="http://schemas.openxmlformats.org/drawingml/2006/main">
            <a:r>
              <a:rPr lang="en-US"/>
              <a:t>Gujarat's renewable installations are among the largest in Asia. The challenge is not capacity — it is intelligence. Operators lack a unified, predictive view. By the time an anomaly is detected manually, efficiency has already been lost. Point to each problem card as you speak.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3 — THE SOLUTION</a:t>
            </a:r>
          </a:p>
          <a:p xmlns:a="http://schemas.openxmlformats.org/drawingml/2006/main">
            <a:r>
              <a:rPr lang="en-US"/>
              <a:t>GreenPulse AI places one intelligent layer between raw operational data and operator decisions. Show the Command Center mockup — 'This is the actual application we built. Five specialized AI agents run continuously in the background, each focused on a different operational domain.'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4 — FIVE AGENTS</a:t>
            </a:r>
          </a:p>
          <a:p xmlns:a="http://schemas.openxmlformats.org/drawingml/2006/main">
            <a:r>
              <a:rPr lang="en-US"/>
              <a:t>Each agent is a specialized module with a defined purpose. They are not a single model doing everything — they collaborate. The key insight: renewable energy operations requires multiple types of intelligence working together. IBM Granite LLM powers the natural-language reasoning behind each agent.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5 — AGENT COLLABORATION</a:t>
            </a:r>
          </a:p>
          <a:p xmlns:a="http://schemas.openxmlformats.org/drawingml/2006/main">
            <a:r>
              <a:rPr lang="en-US"/>
              <a:t>This is where you prove the project is genuinely agentic. Walk through each step of the WT-07 scenario. Each agent hands a structured output to the next. IBM Granite LLM generates the final natural-language recommendation. The right panel shows the actual agent activity timeline from the application.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6 — COMMAND CENTER</a:t>
            </a:r>
          </a:p>
          <a:p xmlns:a="http://schemas.openxmlformats.org/drawingml/2006/main">
            <a:r>
              <a:rPr lang="en-US"/>
              <a:t>Open the actual application here. This is the Command Center. Point to each section: KPI cards at top, generation chart, grid balance, alert feed. Emphasize: operators get everything they need in one screen — no context-switching between tools.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7 — PREDICTIVE MAINTENANCE</a:t>
            </a:r>
          </a:p>
          <a:p xmlns:a="http://schemas.openxmlformats.org/drawingml/2006/main">
            <a:r>
              <a:rPr lang="en-US"/>
              <a:t>Focus on WT-07. This is the hero scenario of the demo. Show the actual application Predictive Maintenance page. Vibration trend is the key signal — it crossed the threshold 37% above safe range. IBM Granite explains the diagnosis in plain language. The priority queue on the right shows how the AI ranks maintenance needs.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8 — FORECASTING</a:t>
            </a:r>
          </a:p>
          <a:p xmlns:a="http://schemas.openxmlformats.org/drawingml/2006/main">
            <a:r>
              <a:rPr lang="en-US"/>
              <a:t>Show the Generation Forecast page and Weather Intelligence page. The key insight: GreenPulse AI doesn't just show current generation — it predicts tomorrow's output based on weather data. The weather-to-generation pipeline is one of the platform's most valuable capabilities for grid operators.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9 — GRID OPTIMIZATION</a:t>
            </a:r>
          </a:p>
          <a:p xmlns:a="http://schemas.openxmlformats.org/drawingml/2006/main">
            <a:r>
              <a:rPr lang="en-US"/>
              <a:t>This is Scenario 2 of the demo. Show the Grid Optimization page and click 'Apply AI Recommendation' to demonstrate the before/after toggle. The curtailment drops from 45 MW to 2 MW. This is concrete, measurable impact. The AI explains its reasoning at every step.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10 — HACKATHON DEMO</a:t>
            </a:r>
          </a:p>
          <a:p xmlns:a="http://schemas.openxmlformats.org/drawingml/2006/main">
            <a:r>
              <a:rPr lang="en-US"/>
              <a:t>This is your 2-minute demo. Navigate the application live: 1) Start at Agent Activity page, click 'Run WT-07 Demo Scenario', watch agents fire in sequence. 2) Go to Predictive Maintenance — show WT-07 card. 3) Open Asset Detail — show vibration trend. 4) Open AI Copilot — ask 'Why is WT-07 underperforming?' 5) Show Grid Optimization — apply recommendation. This demonstrates the complete DATA → AGENTS → DECISION → ACTION pipeline.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11 — INNOVATION</a:t>
            </a:r>
          </a:p>
          <a:p xmlns:a="http://schemas.openxmlformats.org/drawingml/2006/main">
            <a:r>
              <a:rPr lang="en-US"/>
              <a:t>Focus on the four differentiators. If you have time, open the AI Copilot page and ask a question live — it demonstrates explainability immediately. The WHAT/WHY/ACTION/CONFIDENCE structure is visible in every AI card in the application.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12 — CLOSING</a:t>
            </a:r>
          </a:p>
          <a:p xmlns:a="http://schemas.openxmlformats.org/drawingml/2006/main">
            <a:r>
              <a:rPr lang="en-US"/>
              <a:t>End with the product on screen. Return to the Command Center or Home page of the application. The closing message: 'We built a working prototype in one hackathon session. With real SCADA integration and IoT sensor streams, GreenPulse AI becomes a production-grade renewable energy intelligence platform. Thank you.'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5d20270590414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595579f42d40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df8bbf0e944a6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a006f6432f4d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2e62b89365456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22989cb14c6411e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bdbd3e45f4e72" /><Relationship Type="http://schemas.openxmlformats.org/officeDocument/2006/relationships/notesSlide" Target="/ppt/notesSlides/notesSlide1.xml" Id="R6c1f7c9c8fcd4a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310286bcd4e30" /><Relationship Type="http://schemas.openxmlformats.org/officeDocument/2006/relationships/notesSlide" Target="/ppt/notesSlides/notesSlide2.xml" Id="R220e41f255f94a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0ad1296db94dd9" /><Relationship Type="http://schemas.openxmlformats.org/officeDocument/2006/relationships/notesSlide" Target="/ppt/notesSlides/notesSlide3.xml" Id="R7f896df667854e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adecc8bd34e0d" /><Relationship Type="http://schemas.openxmlformats.org/officeDocument/2006/relationships/notesSlide" Target="/ppt/notesSlides/notesSlide4.xml" Id="R30bf43488f3a40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8b130bc0c4eef" /><Relationship Type="http://schemas.openxmlformats.org/officeDocument/2006/relationships/notesSlide" Target="/ppt/notesSlides/notesSlide5.xml" Id="R6146ab4ba4fe43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ca1e1898704b4d" /><Relationship Type="http://schemas.openxmlformats.org/officeDocument/2006/relationships/notesSlide" Target="/ppt/notesSlides/notesSlide6.xml" Id="R3fd152cfd4384d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29dfdb593f43a8" /><Relationship Type="http://schemas.openxmlformats.org/officeDocument/2006/relationships/notesSlide" Target="/ppt/notesSlides/notesSlide7.xml" Id="R13f1eb20bcad4f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55f39b5fb43bb" /><Relationship Type="http://schemas.openxmlformats.org/officeDocument/2006/relationships/notesSlide" Target="/ppt/notesSlides/notesSlide8.xml" Id="Rfd0c5fd29fe749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73cc35c04747fe" /><Relationship Type="http://schemas.openxmlformats.org/officeDocument/2006/relationships/notesSlide" Target="/ppt/notesSlides/notesSlide9.xml" Id="R6520070333d84a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3cb253fed4ea2" /><Relationship Type="http://schemas.openxmlformats.org/officeDocument/2006/relationships/notesSlide" Target="/ppt/notesSlides/notesSlide10.xml" Id="R6dfb1374fafc46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52b000a304060" /><Relationship Type="http://schemas.openxmlformats.org/officeDocument/2006/relationships/notesSlide" Target="/ppt/notesSlides/notesSlide11.xml" Id="R7dc386f64e5348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a853d895146bf" /><Relationship Type="http://schemas.openxmlformats.org/officeDocument/2006/relationships/notesSlide" Target="/ppt/notesSlides/notesSlide12.xml" Id="R2fcb76f1860247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00" name="Green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B95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FB950"/>
              </a:solidFill>
            </a:endParaRPr>
          </a:p>
        </p:txBody>
      </p:sp>
      <p:sp>
        <p:nvSpPr>
          <p:cNvPr id="100001" name="DashMock"/>
          <p:cNvSpPr txBox="1"/>
          <p:nvPr/>
        </p:nvSpPr>
        <p:spPr>
          <a:xfrm xmlns:a="http://schemas.openxmlformats.org/drawingml/2006/main">
            <a:off x="6300000" y="360000"/>
            <a:ext cx="5580000" cy="59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61B22"/>
              </a:solidFill>
            </a:endParaRPr>
          </a:p>
        </p:txBody>
      </p:sp>
      <p:sp>
        <p:nvSpPr>
          <p:cNvPr id="100002" name="DashBorder"/>
          <p:cNvSpPr txBox="1"/>
          <p:nvPr/>
        </p:nvSpPr>
        <p:spPr>
          <a:xfrm xmlns:a="http://schemas.openxmlformats.org/drawingml/2006/main">
            <a:off x="6300000" y="360000"/>
            <a:ext cx="5580000" cy="59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003" name="DashBar1"/>
          <p:cNvSpPr txBox="1"/>
          <p:nvPr/>
        </p:nvSpPr>
        <p:spPr>
          <a:xfrm xmlns:a="http://schemas.openxmlformats.org/drawingml/2006/main">
            <a:off x="6408000" y="540000"/>
            <a:ext cx="5364000" cy="2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C2128"/>
              </a:solidFill>
            </a:endParaRPr>
          </a:p>
        </p:txBody>
      </p:sp>
      <p:sp>
        <p:nvSpPr>
          <p:cNvPr id="100004" name="DashNav"/>
          <p:cNvSpPr txBox="1"/>
          <p:nvPr/>
        </p:nvSpPr>
        <p:spPr>
          <a:xfrm xmlns:a="http://schemas.openxmlformats.org/drawingml/2006/main">
            <a:off x="6408000" y="558000"/>
            <a:ext cx="5364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700">
                <a:solidFill>
                  <a:srgbClr val="7D8590"/>
                </a:solidFill>
              </a:rPr>
              <a:t>⚡ Command Center  |  📡 Assets  |  🔧 Maintenance  |  📈 Forecast  |  🤖 Copilot</a:t>
            </a:r>
          </a:p>
        </p:txBody>
      </p:sp>
      <p:sp>
        <p:nvSpPr>
          <p:cNvPr id="100005" name="KPI1"/>
          <p:cNvSpPr txBox="1"/>
          <p:nvPr/>
        </p:nvSpPr>
        <p:spPr>
          <a:xfrm xmlns:a="http://schemas.openxmlformats.org/drawingml/2006/main">
            <a:off x="6408000" y="864000"/>
            <a:ext cx="122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006" name="KPI1T"/>
          <p:cNvSpPr txBox="1"/>
          <p:nvPr/>
        </p:nvSpPr>
        <p:spPr>
          <a:xfrm xmlns:a="http://schemas.openxmlformats.org/drawingml/2006/main">
            <a:off x="6408000" y="864000"/>
            <a:ext cx="1224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3FB950"/>
                </a:solidFill>
              </a:rPr>
              <a:t>CURRENT GEN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3FB950"/>
                </a:solidFill>
              </a:rPr>
              <a:t>572 MW</a:t>
            </a:r>
          </a:p>
        </p:txBody>
      </p:sp>
      <p:sp>
        <p:nvSpPr>
          <p:cNvPr id="100007" name="KPI2"/>
          <p:cNvSpPr txBox="1"/>
          <p:nvPr/>
        </p:nvSpPr>
        <p:spPr>
          <a:xfrm xmlns:a="http://schemas.openxmlformats.org/drawingml/2006/main">
            <a:off x="7740000" y="864000"/>
            <a:ext cx="122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008" name="KPI2T"/>
          <p:cNvSpPr txBox="1"/>
          <p:nvPr/>
        </p:nvSpPr>
        <p:spPr>
          <a:xfrm xmlns:a="http://schemas.openxmlformats.org/drawingml/2006/main">
            <a:off x="7740000" y="864000"/>
            <a:ext cx="1224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58A6FF"/>
                </a:solidFill>
              </a:rPr>
              <a:t>PERF SCORE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58A6FF"/>
                </a:solidFill>
              </a:rPr>
              <a:t>88.4%</a:t>
            </a:r>
          </a:p>
        </p:txBody>
      </p:sp>
      <p:sp>
        <p:nvSpPr>
          <p:cNvPr id="100009" name="KPI3"/>
          <p:cNvSpPr txBox="1"/>
          <p:nvPr/>
        </p:nvSpPr>
        <p:spPr>
          <a:xfrm xmlns:a="http://schemas.openxmlformats.org/drawingml/2006/main">
            <a:off x="9072000" y="864000"/>
            <a:ext cx="122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010" name="KPI3T"/>
          <p:cNvSpPr txBox="1"/>
          <p:nvPr/>
        </p:nvSpPr>
        <p:spPr>
          <a:xfrm xmlns:a="http://schemas.openxmlformats.org/drawingml/2006/main">
            <a:off x="9072000" y="864000"/>
            <a:ext cx="1224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E6EDF3"/>
                </a:solidFill>
              </a:rPr>
              <a:t>ASSETS ONLINE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E6EDF3"/>
                </a:solidFill>
              </a:rPr>
              <a:t>14 / 16</a:t>
            </a:r>
          </a:p>
        </p:txBody>
      </p:sp>
      <p:sp>
        <p:nvSpPr>
          <p:cNvPr id="100011" name="KPI4"/>
          <p:cNvSpPr txBox="1"/>
          <p:nvPr/>
        </p:nvSpPr>
        <p:spPr>
          <a:xfrm xmlns:a="http://schemas.openxmlformats.org/drawingml/2006/main">
            <a:off x="10404000" y="864000"/>
            <a:ext cx="122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85149"/>
              </a:solidFill>
            </a:endParaRPr>
          </a:p>
        </p:txBody>
      </p:sp>
      <p:sp>
        <p:nvSpPr>
          <p:cNvPr id="100012" name="KPI4T"/>
          <p:cNvSpPr txBox="1"/>
          <p:nvPr/>
        </p:nvSpPr>
        <p:spPr>
          <a:xfrm xmlns:a="http://schemas.openxmlformats.org/drawingml/2006/main">
            <a:off x="10404000" y="864000"/>
            <a:ext cx="1224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85149"/>
                </a:solidFill>
              </a:rPr>
              <a:t>ALERTS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F85149"/>
                </a:solidFill>
              </a:rPr>
              <a:t>3 HIGH</a:t>
            </a:r>
          </a:p>
        </p:txBody>
      </p:sp>
      <p:sp>
        <p:nvSpPr>
          <p:cNvPr id="100013" name="ChartBg"/>
          <p:cNvSpPr txBox="1"/>
          <p:nvPr/>
        </p:nvSpPr>
        <p:spPr>
          <a:xfrm xmlns:a="http://schemas.openxmlformats.org/drawingml/2006/main">
            <a:off x="6408000" y="1620000"/>
            <a:ext cx="2592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014" name="ChartTitle"/>
          <p:cNvSpPr txBox="1"/>
          <p:nvPr/>
        </p:nvSpPr>
        <p:spPr>
          <a:xfrm xmlns:a="http://schemas.openxmlformats.org/drawingml/2006/main">
            <a:off x="6444000" y="1656000"/>
            <a:ext cx="25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900">
                <a:solidFill>
                  <a:srgbClr val="7D8590"/>
                </a:solidFill>
              </a:rPr>
              <a:t>☀️ Solar + 🌬️ Wind — 24h</a:t>
            </a:r>
          </a:p>
        </p:txBody>
      </p:sp>
      <p:sp>
        <p:nvSpPr>
          <p:cNvPr id="100015" name="ChartArea"/>
          <p:cNvSpPr txBox="1"/>
          <p:nvPr/>
        </p:nvSpPr>
        <p:spPr>
          <a:xfrm xmlns:a="http://schemas.openxmlformats.org/drawingml/2006/main">
            <a:off x="6444000" y="1872000"/>
            <a:ext cx="2520000" cy="12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2200">
                <a:solidFill>
                  <a:srgbClr val="F59E0B"/>
                </a:solidFill>
              </a:rPr>
              <a:t>▁▂▄▅▇█▇▆▅▃▂▁  ▁▁▂▃▄▅▆▆▅▃▂▁</a:t>
            </a:r>
          </a:p>
        </p:txBody>
      </p:sp>
      <p:sp>
        <p:nvSpPr>
          <p:cNvPr id="100016" name="AlertBg"/>
          <p:cNvSpPr txBox="1"/>
          <p:nvPr/>
        </p:nvSpPr>
        <p:spPr>
          <a:xfrm xmlns:a="http://schemas.openxmlformats.org/drawingml/2006/main">
            <a:off x="9108000" y="1620000"/>
            <a:ext cx="2664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017" name="AlertTitle"/>
          <p:cNvSpPr txBox="1"/>
          <p:nvPr/>
        </p:nvSpPr>
        <p:spPr>
          <a:xfrm xmlns:a="http://schemas.openxmlformats.org/drawingml/2006/main">
            <a:off x="9144000" y="1656000"/>
            <a:ext cx="25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900">
                <a:solidFill>
                  <a:srgbClr val="7D8590"/>
                </a:solidFill>
              </a:rPr>
              <a:t>🔔 Active Alerts</a:t>
            </a:r>
          </a:p>
        </p:txBody>
      </p:sp>
      <p:sp>
        <p:nvSpPr>
          <p:cNvPr id="100018" name="Alert1"/>
          <p:cNvSpPr txBox="1"/>
          <p:nvPr/>
        </p:nvSpPr>
        <p:spPr>
          <a:xfrm xmlns:a="http://schemas.openxmlformats.org/drawingml/2006/main">
            <a:off x="9144000" y="1908000"/>
            <a:ext cx="25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F85149"/>
                </a:solidFill>
              </a:rPr>
              <a:t>🔴 WT-08  CRITICAL — Offline</a:t>
            </a:r>
          </a:p>
        </p:txBody>
      </p:sp>
      <p:sp>
        <p:nvSpPr>
          <p:cNvPr id="100019" name="Alert2"/>
          <p:cNvSpPr txBox="1"/>
          <p:nvPr/>
        </p:nvSpPr>
        <p:spPr>
          <a:xfrm xmlns:a="http://schemas.openxmlformats.org/drawingml/2006/main">
            <a:off x="9144000" y="2160000"/>
            <a:ext cx="25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FF7B72"/>
                </a:solidFill>
              </a:rPr>
              <a:t>🟠 WT-07  HIGH — Gearbox degradation</a:t>
            </a:r>
          </a:p>
        </p:txBody>
      </p:sp>
      <p:sp>
        <p:nvSpPr>
          <p:cNvPr id="100020" name="Alert3"/>
          <p:cNvSpPr txBox="1"/>
          <p:nvPr/>
        </p:nvSpPr>
        <p:spPr>
          <a:xfrm xmlns:a="http://schemas.openxmlformats.org/drawingml/2006/main">
            <a:off x="9144000" y="2412000"/>
            <a:ext cx="25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E3B341"/>
                </a:solidFill>
              </a:rPr>
              <a:t>🟡 SF-04  MEDIUM — Inverter temp high</a:t>
            </a:r>
          </a:p>
        </p:txBody>
      </p:sp>
      <p:sp>
        <p:nvSpPr>
          <p:cNvPr id="100021" name="AssetBg"/>
          <p:cNvSpPr txBox="1"/>
          <p:nvPr/>
        </p:nvSpPr>
        <p:spPr>
          <a:xfrm xmlns:a="http://schemas.openxmlformats.org/drawingml/2006/main">
            <a:off x="6408000" y="3348000"/>
            <a:ext cx="5364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022" name="AssetTitle"/>
          <p:cNvSpPr txBox="1"/>
          <p:nvPr/>
        </p:nvSpPr>
        <p:spPr>
          <a:xfrm xmlns:a="http://schemas.openxmlformats.org/drawingml/2006/main">
            <a:off x="6444000" y="3384000"/>
            <a:ext cx="50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900">
                <a:solidFill>
                  <a:srgbClr val="7D8590"/>
                </a:solidFill>
              </a:rPr>
              <a:t>Asset Status Overview</a:t>
            </a:r>
          </a:p>
        </p:txBody>
      </p:sp>
      <p:sp>
        <p:nvSpPr>
          <p:cNvPr id="100023" name="TableHdr"/>
          <p:cNvSpPr txBox="1"/>
          <p:nvPr/>
        </p:nvSpPr>
        <p:spPr>
          <a:xfrm xmlns:a="http://schemas.openxmlformats.org/drawingml/2006/main">
            <a:off x="6444000" y="3600000"/>
            <a:ext cx="5292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800" b="1">
                <a:solidFill>
                  <a:srgbClr val="484F58"/>
                </a:solidFill>
              </a:rPr>
              <a:t>ASSET ID     TYPE      OUTPUT     EFFICIENCY   HEALTH   RISK</a:t>
            </a:r>
          </a:p>
        </p:txBody>
      </p:sp>
      <p:sp>
        <p:nvSpPr>
          <p:cNvPr id="100024" name="Row1"/>
          <p:cNvSpPr txBox="1"/>
          <p:nvPr/>
        </p:nvSpPr>
        <p:spPr>
          <a:xfrm xmlns:a="http://schemas.openxmlformats.org/drawingml/2006/main">
            <a:off x="6444000" y="3852000"/>
            <a:ext cx="5292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900">
                <a:solidFill>
                  <a:srgbClr val="3FB950"/>
                </a:solidFill>
              </a:rPr>
              <a:t>SF-01        Solar     132.4 MW    94.4%        91%      LOW</a:t>
            </a:r>
          </a:p>
        </p:txBody>
      </p:sp>
      <p:sp>
        <p:nvSpPr>
          <p:cNvPr id="100025" name="Row2"/>
          <p:cNvSpPr txBox="1"/>
          <p:nvPr/>
        </p:nvSpPr>
        <p:spPr>
          <a:xfrm xmlns:a="http://schemas.openxmlformats.org/drawingml/2006/main">
            <a:off x="6444000" y="4104000"/>
            <a:ext cx="5292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900">
                <a:solidFill>
                  <a:srgbClr val="FF7B72"/>
                </a:solidFill>
              </a:rPr>
              <a:t>WT-07        Wind        1.68 MW    82.0%        61%      HIGH</a:t>
            </a:r>
          </a:p>
        </p:txBody>
      </p:sp>
      <p:sp>
        <p:nvSpPr>
          <p:cNvPr id="100026" name="Row3"/>
          <p:cNvSpPr txBox="1"/>
          <p:nvPr/>
        </p:nvSpPr>
        <p:spPr>
          <a:xfrm xmlns:a="http://schemas.openxmlformats.org/drawingml/2006/main">
            <a:off x="6444000" y="4356000"/>
            <a:ext cx="5292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900">
                <a:solidFill>
                  <a:srgbClr val="F85149"/>
                </a:solidFill>
              </a:rPr>
              <a:t>WT-08        Wind        0.00 MW     0.0%        22%   CRITICAL</a:t>
            </a:r>
          </a:p>
        </p:txBody>
      </p:sp>
      <p:sp>
        <p:nvSpPr>
          <p:cNvPr id="100027" name="Row4"/>
          <p:cNvSpPr txBox="1"/>
          <p:nvPr/>
        </p:nvSpPr>
        <p:spPr>
          <a:xfrm xmlns:a="http://schemas.openxmlformats.org/drawingml/2006/main">
            <a:off x="6444000" y="4608000"/>
            <a:ext cx="5292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900">
                <a:solidFill>
                  <a:srgbClr val="3FB950"/>
                </a:solidFill>
              </a:rPr>
              <a:t>SF-03        Solar       94.7 MW    98.6%        96%      LOW</a:t>
            </a:r>
          </a:p>
        </p:txBody>
      </p:sp>
      <p:sp>
        <p:nvSpPr>
          <p:cNvPr id="100028" name="Row5"/>
          <p:cNvSpPr txBox="1"/>
          <p:nvPr/>
        </p:nvSpPr>
        <p:spPr>
          <a:xfrm xmlns:a="http://schemas.openxmlformats.org/drawingml/2006/main">
            <a:off x="6444000" y="4860000"/>
            <a:ext cx="5292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900">
                <a:solidFill>
                  <a:srgbClr val="A78BFA"/>
                </a:solidFill>
              </a:rPr>
              <a:t>HY-01        Hybrid      64.8 MW    94.7%        89%      LOW</a:t>
            </a:r>
          </a:p>
        </p:txBody>
      </p:sp>
      <p:sp>
        <p:nvSpPr>
          <p:cNvPr id="100029" name="TagLine"/>
          <p:cNvSpPr txBox="1"/>
          <p:nvPr/>
        </p:nvSpPr>
        <p:spPr>
          <a:xfrm xmlns:a="http://schemas.openxmlformats.org/drawingml/2006/main">
            <a:off x="6408000" y="6120000"/>
            <a:ext cx="5364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484F58"/>
                </a:solidFill>
              </a:rPr>
              <a:t>IBM Granite  ·  IBM Cloud  ·  Agentic AI</a:t>
            </a:r>
          </a:p>
        </p:txBody>
      </p:sp>
      <p:sp>
        <p:nvSpPr>
          <p:cNvPr id="100030" name="LeafIcon"/>
          <p:cNvSpPr txBox="1"/>
          <p:nvPr/>
        </p:nvSpPr>
        <p:spPr>
          <a:xfrm xmlns:a="http://schemas.openxmlformats.org/drawingml/2006/main">
            <a:off x="432000" y="432000"/>
            <a:ext cx="5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>
                <a:solidFill>
                  <a:srgbClr val="3FB950"/>
                </a:solidFill>
              </a:rPr>
              <a:t>🌿</a:t>
            </a:r>
          </a:p>
        </p:txBody>
      </p:sp>
      <p:sp>
        <p:nvSpPr>
          <p:cNvPr id="100031" name="Brand"/>
          <p:cNvSpPr txBox="1"/>
          <p:nvPr/>
        </p:nvSpPr>
        <p:spPr>
          <a:xfrm xmlns:a="http://schemas.openxmlformats.org/drawingml/2006/main">
            <a:off x="1044000" y="468000"/>
            <a:ext cx="28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3FB950"/>
                </a:solidFill>
              </a:rPr>
              <a:t>GreenPulse AI</a:t>
            </a:r>
          </a:p>
        </p:txBody>
      </p:sp>
      <p:sp>
        <p:nvSpPr>
          <p:cNvPr id="100032" name="SubBrand"/>
          <p:cNvSpPr txBox="1"/>
          <p:nvPr/>
        </p:nvSpPr>
        <p:spPr>
          <a:xfrm xmlns:a="http://schemas.openxmlformats.org/drawingml/2006/main">
            <a:off x="432000" y="1152000"/>
            <a:ext cx="54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E6EDF3"/>
                </a:solidFill>
              </a:rPr>
              <a:t>Agentic AI for Renewable Energy Intelligence</a:t>
            </a:r>
          </a:p>
        </p:txBody>
      </p:sp>
      <p:sp>
        <p:nvSpPr>
          <p:cNvPr id="100033" name="TagLine2"/>
          <p:cNvSpPr txBox="1"/>
          <p:nvPr/>
        </p:nvSpPr>
        <p:spPr>
          <a:xfrm xmlns:a="http://schemas.openxmlformats.org/drawingml/2006/main">
            <a:off x="432000" y="1728000"/>
            <a:ext cx="54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3FB950"/>
                </a:solidFill>
              </a:rPr>
              <a:t>Monitor  →  Predict  →  Forecast  →  Optimize</a:t>
            </a:r>
          </a:p>
        </p:txBody>
      </p:sp>
      <p:sp>
        <p:nvSpPr>
          <p:cNvPr id="100034" name="Region"/>
          <p:cNvSpPr txBox="1"/>
          <p:nvPr/>
        </p:nvSpPr>
        <p:spPr>
          <a:xfrm xmlns:a="http://schemas.openxmlformats.org/drawingml/2006/main">
            <a:off x="432000" y="2160000"/>
            <a:ext cx="522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7D8590"/>
                </a:solidFill>
              </a:rPr>
              <a:t>Smart Renewable Asset Intelligence</a:t>
            </a:r>
          </a:p>
          <a:p xmlns:a="http://schemas.openxmlformats.org/drawingml/2006/main">
            <a:r>
              <a:rPr lang="en-US" sz="1300">
                <a:solidFill>
                  <a:srgbClr val="7D8590"/>
                </a:solidFill>
              </a:rPr>
              <a:t>Kutch &amp; Banaskantha, Gujarat, India</a:t>
            </a:r>
          </a:p>
        </p:txBody>
      </p:sp>
      <p:sp>
        <p:nvSpPr>
          <p:cNvPr id="100035" name="FlowSolar"/>
          <p:cNvSpPr txBox="1"/>
          <p:nvPr/>
        </p:nvSpPr>
        <p:spPr>
          <a:xfrm xmlns:a="http://schemas.openxmlformats.org/drawingml/2006/main">
            <a:off x="540000" y="3060000"/>
            <a:ext cx="90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59E0B"/>
                </a:solidFill>
              </a:rPr>
              <a:t>☀️</a:t>
            </a:r>
          </a:p>
          <a:p xmlns:a="http://schemas.openxmlformats.org/drawingml/2006/main">
            <a:pPr algn="ctr"/>
            <a:r>
              <a:rPr lang="en-US" sz="1200" b="1">
                <a:solidFill>
                  <a:srgbClr val="F59E0B"/>
                </a:solidFill>
              </a:rPr>
              <a:t>Solar</a:t>
            </a:r>
          </a:p>
        </p:txBody>
      </p:sp>
      <p:sp>
        <p:nvSpPr>
          <p:cNvPr id="100036" name="FlowArrow1"/>
          <p:cNvSpPr txBox="1"/>
          <p:nvPr/>
        </p:nvSpPr>
        <p:spPr>
          <a:xfrm xmlns:a="http://schemas.openxmlformats.org/drawingml/2006/main">
            <a:off x="1512000" y="334800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30363D"/>
                </a:solidFill>
              </a:rPr>
              <a:t>→</a:t>
            </a:r>
          </a:p>
        </p:txBody>
      </p:sp>
      <p:sp>
        <p:nvSpPr>
          <p:cNvPr id="100037" name="FlowWind"/>
          <p:cNvSpPr txBox="1"/>
          <p:nvPr/>
        </p:nvSpPr>
        <p:spPr>
          <a:xfrm xmlns:a="http://schemas.openxmlformats.org/drawingml/2006/main">
            <a:off x="1944000" y="3060000"/>
            <a:ext cx="90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38BDF8"/>
                </a:solidFill>
              </a:rPr>
              <a:t>🌬️</a:t>
            </a:r>
          </a:p>
          <a:p xmlns:a="http://schemas.openxmlformats.org/drawingml/2006/main">
            <a:pPr algn="ctr"/>
            <a:r>
              <a:rPr lang="en-US" sz="1200" b="1">
                <a:solidFill>
                  <a:srgbClr val="38BDF8"/>
                </a:solidFill>
              </a:rPr>
              <a:t>Wind</a:t>
            </a:r>
          </a:p>
        </p:txBody>
      </p:sp>
      <p:sp>
        <p:nvSpPr>
          <p:cNvPr id="100038" name="FlowArrow2"/>
          <p:cNvSpPr txBox="1"/>
          <p:nvPr/>
        </p:nvSpPr>
        <p:spPr>
          <a:xfrm xmlns:a="http://schemas.openxmlformats.org/drawingml/2006/main">
            <a:off x="2916000" y="334800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30363D"/>
                </a:solidFill>
              </a:rPr>
              <a:t>→</a:t>
            </a:r>
          </a:p>
        </p:txBody>
      </p:sp>
      <p:sp>
        <p:nvSpPr>
          <p:cNvPr id="100039" name="FlowAI"/>
          <p:cNvSpPr txBox="1"/>
          <p:nvPr/>
        </p:nvSpPr>
        <p:spPr>
          <a:xfrm xmlns:a="http://schemas.openxmlformats.org/drawingml/2006/main">
            <a:off x="3348000" y="3060000"/>
            <a:ext cx="90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3FB950"/>
                </a:solidFill>
              </a:rPr>
              <a:t>🧠</a:t>
            </a:r>
          </a:p>
          <a:p xmlns:a="http://schemas.openxmlformats.org/drawingml/2006/main">
            <a:pPr algn="ctr"/>
            <a:r>
              <a:rPr lang="en-US" sz="1200" b="1">
                <a:solidFill>
                  <a:srgbClr val="3FB950"/>
                </a:solidFill>
              </a:rPr>
              <a:t>AI Agents</a:t>
            </a:r>
          </a:p>
        </p:txBody>
      </p:sp>
      <p:sp>
        <p:nvSpPr>
          <p:cNvPr id="100040" name="FlowArrow3"/>
          <p:cNvSpPr txBox="1"/>
          <p:nvPr/>
        </p:nvSpPr>
        <p:spPr>
          <a:xfrm xmlns:a="http://schemas.openxmlformats.org/drawingml/2006/main">
            <a:off x="4320000" y="334800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30363D"/>
                </a:solidFill>
              </a:rPr>
              <a:t>→</a:t>
            </a:r>
          </a:p>
        </p:txBody>
      </p:sp>
      <p:sp>
        <p:nvSpPr>
          <p:cNvPr id="100041" name="FlowGrid"/>
          <p:cNvSpPr txBox="1"/>
          <p:nvPr/>
        </p:nvSpPr>
        <p:spPr>
          <a:xfrm xmlns:a="http://schemas.openxmlformats.org/drawingml/2006/main">
            <a:off x="4752000" y="3060000"/>
            <a:ext cx="90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58A6FF"/>
                </a:solidFill>
              </a:rPr>
              <a:t>🔌</a:t>
            </a:r>
          </a:p>
          <a:p xmlns:a="http://schemas.openxmlformats.org/drawingml/2006/main">
            <a:pPr algn="ctr"/>
            <a:r>
              <a:rPr lang="en-US" sz="1200" b="1">
                <a:solidFill>
                  <a:srgbClr val="58A6FF"/>
                </a:solidFill>
              </a:rPr>
              <a:t>Grid</a:t>
            </a:r>
          </a:p>
        </p:txBody>
      </p:sp>
      <p:sp>
        <p:nvSpPr>
          <p:cNvPr id="100042" name="Proto"/>
          <p:cNvSpPr txBox="1"/>
          <p:nvPr/>
        </p:nvSpPr>
        <p:spPr>
          <a:xfrm xmlns:a="http://schemas.openxmlformats.org/drawingml/2006/main">
            <a:off x="432000" y="6300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484F58"/>
                </a:solidFill>
              </a:rPr>
              <a:t>⚠ Prototype · Demo Data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43" name="Accent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514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85149"/>
              </a:solidFill>
            </a:endParaRPr>
          </a:p>
        </p:txBody>
      </p:sp>
      <p:sp>
        <p:nvSpPr>
          <p:cNvPr id="100044" name="SlideLbl"/>
          <p:cNvSpPr txBox="1"/>
          <p:nvPr/>
        </p:nvSpPr>
        <p:spPr>
          <a:xfrm xmlns:a="http://schemas.openxmlformats.org/drawingml/2006/main">
            <a:off x="540000" y="288000"/>
            <a:ext cx="28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85149"/>
                </a:solidFill>
              </a:rPr>
              <a:t>THE PROBLEM</a:t>
            </a:r>
          </a:p>
        </p:txBody>
      </p:sp>
      <p:sp>
        <p:nvSpPr>
          <p:cNvPr id="100045" name="SlideH"/>
          <p:cNvSpPr txBox="1"/>
          <p:nvPr/>
        </p:nvSpPr>
        <p:spPr>
          <a:xfrm xmlns:a="http://schemas.openxmlformats.org/drawingml/2006/main">
            <a:off x="540000" y="576000"/>
            <a:ext cx="684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E6EDF3"/>
                </a:solidFill>
              </a:rPr>
              <a:t>Renewable Energy Is Growing.</a:t>
            </a:r>
          </a:p>
          <a:p xmlns:a="http://schemas.openxmlformats.org/drawingml/2006/main">
            <a:r>
              <a:rPr lang="en-US" sz="2600" b="1">
                <a:solidFill>
                  <a:srgbClr val="E6EDF3"/>
                </a:solidFill>
              </a:rPr>
              <a:t>Operational Complexity Is Growing Faster.</a:t>
            </a:r>
          </a:p>
        </p:txBody>
      </p:sp>
      <p:sp>
        <p:nvSpPr>
          <p:cNvPr id="100046" name="MapBg"/>
          <p:cNvSpPr txBox="1"/>
          <p:nvPr/>
        </p:nvSpPr>
        <p:spPr>
          <a:xfrm xmlns:a="http://schemas.openxmlformats.org/drawingml/2006/main">
            <a:off x="7920000" y="540000"/>
            <a:ext cx="378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047" name="MapTitle"/>
          <p:cNvSpPr txBox="1"/>
          <p:nvPr/>
        </p:nvSpPr>
        <p:spPr>
          <a:xfrm xmlns:a="http://schemas.openxmlformats.org/drawingml/2006/main">
            <a:off x="7992000" y="612000"/>
            <a:ext cx="36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 b="1">
                <a:solidFill>
                  <a:srgbClr val="7D8590"/>
                </a:solidFill>
              </a:rPr>
              <a:t>Gujarat, India</a:t>
            </a:r>
          </a:p>
        </p:txBody>
      </p:sp>
      <p:sp>
        <p:nvSpPr>
          <p:cNvPr id="100048" name="MapBody"/>
          <p:cNvSpPr txBox="1"/>
          <p:nvPr/>
        </p:nvSpPr>
        <p:spPr>
          <a:xfrm xmlns:a="http://schemas.openxmlformats.org/drawingml/2006/main">
            <a:off x="8100000" y="900000"/>
            <a:ext cx="3492000" cy="34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7D8590"/>
                </a:solidFill>
              </a:rPr>
              <a:t>◉ Kutch</a:t>
            </a:r>
          </a:p>
          <a:p xmlns:a="http://schemas.openxmlformats.org/drawingml/2006/main">
            <a:pPr algn="l"/>
            <a:r>
              <a:rPr lang="en-US" sz="1100">
                <a:solidFill>
                  <a:srgbClr val="7D8590"/>
                </a:solidFill>
              </a:rPr>
              <a:t>   Bhuj · Mundra · Nakhatrana</a:t>
            </a:r>
          </a:p>
          <a:p xmlns:a="http://schemas.openxmlformats.org/drawingml/2006/main">
            <a:pPr algn="l"/>
            <a:r>
              <a:rPr lang="en-US" sz="1100">
                <a:solidFill>
                  <a:srgbClr val="7D8590"/>
                </a:solidFill>
              </a:rPr>
              <a:t>   Solar Farms + Wind Corridors</a:t>
            </a:r>
          </a:p>
          <a:p xmlns:a="http://schemas.openxmlformats.org/drawingml/2006/main">
            <a:pPr algn="l"/>
            <a:r>
              <a:rPr lang="en-US" sz="1100">
                <a:solidFill>
                  <a:srgbClr val="7D8590"/>
                </a:solidFill>
              </a:rPr>
              <a:t/>
            </a:r>
          </a:p>
          <a:p xmlns:a="http://schemas.openxmlformats.org/drawingml/2006/main">
            <a:pPr algn="l"/>
            <a:r>
              <a:rPr lang="en-US" sz="1100">
                <a:solidFill>
                  <a:srgbClr val="7D8590"/>
                </a:solidFill>
              </a:rPr>
              <a:t>◉ Banaskantha</a:t>
            </a:r>
          </a:p>
          <a:p xmlns:a="http://schemas.openxmlformats.org/drawingml/2006/main">
            <a:pPr algn="l"/>
            <a:r>
              <a:rPr lang="en-US" sz="1100">
                <a:solidFill>
                  <a:srgbClr val="7D8590"/>
                </a:solidFill>
              </a:rPr>
              <a:t>   Deesa · Palanpur</a:t>
            </a:r>
          </a:p>
          <a:p xmlns:a="http://schemas.openxmlformats.org/drawingml/2006/main">
            <a:pPr algn="l"/>
            <a:r>
              <a:rPr lang="en-US" sz="1100">
                <a:solidFill>
                  <a:srgbClr val="7D8590"/>
                </a:solidFill>
              </a:rPr>
              <a:t>   Solar + Wind Clusters</a:t>
            </a:r>
          </a:p>
          <a:p xmlns:a="http://schemas.openxmlformats.org/drawingml/2006/main">
            <a:pPr algn="l"/>
            <a:r>
              <a:rPr lang="en-US" sz="1100">
                <a:solidFill>
                  <a:srgbClr val="7D8590"/>
                </a:solidFill>
              </a:rPr>
              <a:t/>
            </a:r>
          </a:p>
          <a:p xmlns:a="http://schemas.openxmlformats.org/drawingml/2006/main">
            <a:pPr algn="l"/>
            <a:r>
              <a:rPr lang="en-US" sz="1100">
                <a:solidFill>
                  <a:srgbClr val="7D8590"/>
                </a:solidFill>
              </a:rPr>
              <a:t>▶  ~650 MW combined</a:t>
            </a:r>
          </a:p>
          <a:p xmlns:a="http://schemas.openxmlformats.org/drawingml/2006/main">
            <a:pPr algn="l"/>
            <a:r>
              <a:rPr lang="en-US" sz="1100">
                <a:solidFill>
                  <a:srgbClr val="7D8590"/>
                </a:solidFill>
              </a:rPr>
              <a:t>    renewable capacity</a:t>
            </a:r>
          </a:p>
          <a:p xmlns:a="http://schemas.openxmlformats.org/drawingml/2006/main">
            <a:pPr algn="l"/>
            <a:r>
              <a:rPr lang="en-US" sz="1100">
                <a:solidFill>
                  <a:srgbClr val="7D8590"/>
                </a:solidFill>
              </a:rPr>
              <a:t>    (demo scenario)</a:t>
            </a:r>
          </a:p>
        </p:txBody>
      </p:sp>
      <p:sp>
        <p:nvSpPr>
          <p:cNvPr id="100049" name="Kutch1"/>
          <p:cNvSpPr txBox="1"/>
          <p:nvPr/>
        </p:nvSpPr>
        <p:spPr>
          <a:xfrm xmlns:a="http://schemas.openxmlformats.org/drawingml/2006/main">
            <a:off x="8460000" y="2340000"/>
            <a:ext cx="1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59E0B"/>
                </a:solidFill>
              </a:rPr>
              <a:t>●</a:t>
            </a:r>
          </a:p>
        </p:txBody>
      </p:sp>
      <p:sp>
        <p:nvSpPr>
          <p:cNvPr id="100050" name="Kutch2"/>
          <p:cNvSpPr txBox="1"/>
          <p:nvPr/>
        </p:nvSpPr>
        <p:spPr>
          <a:xfrm xmlns:a="http://schemas.openxmlformats.org/drawingml/2006/main">
            <a:off x="8712000" y="2556000"/>
            <a:ext cx="1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59E0B"/>
                </a:solidFill>
              </a:rPr>
              <a:t>●</a:t>
            </a:r>
          </a:p>
        </p:txBody>
      </p:sp>
      <p:sp>
        <p:nvSpPr>
          <p:cNvPr id="100051" name="Banas1"/>
          <p:cNvSpPr txBox="1"/>
          <p:nvPr/>
        </p:nvSpPr>
        <p:spPr>
          <a:xfrm xmlns:a="http://schemas.openxmlformats.org/drawingml/2006/main">
            <a:off x="9900000" y="1728000"/>
            <a:ext cx="1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8BDF8"/>
                </a:solidFill>
              </a:rPr>
              <a:t>●</a:t>
            </a:r>
          </a:p>
        </p:txBody>
      </p:sp>
      <p:sp>
        <p:nvSpPr>
          <p:cNvPr id="100052" name="Banas2"/>
          <p:cNvSpPr txBox="1"/>
          <p:nvPr/>
        </p:nvSpPr>
        <p:spPr>
          <a:xfrm xmlns:a="http://schemas.openxmlformats.org/drawingml/2006/main">
            <a:off x="10116000" y="1944000"/>
            <a:ext cx="1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38BDF8"/>
                </a:solidFill>
              </a:rPr>
              <a:t>●</a:t>
            </a:r>
          </a:p>
        </p:txBody>
      </p:sp>
      <p:sp>
        <p:nvSpPr>
          <p:cNvPr id="100053" name="P1Bg"/>
          <p:cNvSpPr txBox="1"/>
          <p:nvPr/>
        </p:nvSpPr>
        <p:spPr>
          <a:xfrm xmlns:a="http://schemas.openxmlformats.org/drawingml/2006/main">
            <a:off x="540000" y="1620000"/>
            <a:ext cx="342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85149"/>
              </a:solidFill>
            </a:endParaRPr>
          </a:p>
        </p:txBody>
      </p:sp>
      <p:sp>
        <p:nvSpPr>
          <p:cNvPr id="100054" name="P1T"/>
          <p:cNvSpPr txBox="1"/>
          <p:nvPr/>
        </p:nvSpPr>
        <p:spPr>
          <a:xfrm xmlns:a="http://schemas.openxmlformats.org/drawingml/2006/main">
            <a:off x="612000" y="1656000"/>
            <a:ext cx="3276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E6EDF3"/>
                </a:solidFill>
              </a:rPr>
              <a:t>⚠  Delayed anomaly detection</a:t>
            </a:r>
          </a:p>
          <a:p xmlns:a="http://schemas.openxmlformats.org/drawingml/2006/main">
            <a:pPr algn="l"/>
            <a:r>
              <a:rPr lang="en-US" sz="1200">
                <a:solidFill>
                  <a:srgbClr val="E6EDF3"/>
                </a:solidFill>
              </a:rPr>
              <a:t>      Manual inspection cycles miss early failures</a:t>
            </a:r>
          </a:p>
        </p:txBody>
      </p:sp>
      <p:sp>
        <p:nvSpPr>
          <p:cNvPr id="100055" name="P2Bg"/>
          <p:cNvSpPr txBox="1"/>
          <p:nvPr/>
        </p:nvSpPr>
        <p:spPr>
          <a:xfrm xmlns:a="http://schemas.openxmlformats.org/drawingml/2006/main">
            <a:off x="540000" y="2268000"/>
            <a:ext cx="342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E3B341"/>
              </a:solidFill>
            </a:endParaRPr>
          </a:p>
        </p:txBody>
      </p:sp>
      <p:sp>
        <p:nvSpPr>
          <p:cNvPr id="100056" name="P2T"/>
          <p:cNvSpPr txBox="1"/>
          <p:nvPr/>
        </p:nvSpPr>
        <p:spPr>
          <a:xfrm xmlns:a="http://schemas.openxmlformats.org/drawingml/2006/main">
            <a:off x="612000" y="2304000"/>
            <a:ext cx="3276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E6EDF3"/>
                </a:solidFill>
              </a:rPr>
              <a:t>⚠  Reactive maintenance</a:t>
            </a:r>
          </a:p>
          <a:p xmlns:a="http://schemas.openxmlformats.org/drawingml/2006/main">
            <a:pPr algn="l"/>
            <a:r>
              <a:rPr lang="en-US" sz="1200">
                <a:solidFill>
                  <a:srgbClr val="E6EDF3"/>
                </a:solidFill>
              </a:rPr>
              <a:t>      Equipment failures drive decisions, not data</a:t>
            </a:r>
          </a:p>
        </p:txBody>
      </p:sp>
      <p:sp>
        <p:nvSpPr>
          <p:cNvPr id="100057" name="P3Bg"/>
          <p:cNvSpPr txBox="1"/>
          <p:nvPr/>
        </p:nvSpPr>
        <p:spPr>
          <a:xfrm xmlns:a="http://schemas.openxmlformats.org/drawingml/2006/main">
            <a:off x="4140000" y="1620000"/>
            <a:ext cx="342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E3B341"/>
              </a:solidFill>
            </a:endParaRPr>
          </a:p>
        </p:txBody>
      </p:sp>
      <p:sp>
        <p:nvSpPr>
          <p:cNvPr id="100058" name="P3T"/>
          <p:cNvSpPr txBox="1"/>
          <p:nvPr/>
        </p:nvSpPr>
        <p:spPr>
          <a:xfrm xmlns:a="http://schemas.openxmlformats.org/drawingml/2006/main">
            <a:off x="4212000" y="1656000"/>
            <a:ext cx="3276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E6EDF3"/>
                </a:solidFill>
              </a:rPr>
              <a:t>⚠  Weather-driven generation uncertainty</a:t>
            </a:r>
          </a:p>
          <a:p xmlns:a="http://schemas.openxmlformats.org/drawingml/2006/main">
            <a:pPr algn="l"/>
            <a:r>
              <a:rPr lang="en-US" sz="1200">
                <a:solidFill>
                  <a:srgbClr val="E6EDF3"/>
                </a:solidFill>
              </a:rPr>
              <a:t>      No forecast-to-operations link</a:t>
            </a:r>
          </a:p>
        </p:txBody>
      </p:sp>
      <p:sp>
        <p:nvSpPr>
          <p:cNvPr id="100059" name="P4Bg"/>
          <p:cNvSpPr txBox="1"/>
          <p:nvPr/>
        </p:nvSpPr>
        <p:spPr>
          <a:xfrm xmlns:a="http://schemas.openxmlformats.org/drawingml/2006/main">
            <a:off x="4140000" y="2268000"/>
            <a:ext cx="342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58A6FF"/>
              </a:solidFill>
            </a:endParaRPr>
          </a:p>
        </p:txBody>
      </p:sp>
      <p:sp>
        <p:nvSpPr>
          <p:cNvPr id="100060" name="P4T"/>
          <p:cNvSpPr txBox="1"/>
          <p:nvPr/>
        </p:nvSpPr>
        <p:spPr>
          <a:xfrm xmlns:a="http://schemas.openxmlformats.org/drawingml/2006/main">
            <a:off x="4212000" y="2304000"/>
            <a:ext cx="3276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E6EDF3"/>
                </a:solidFill>
              </a:rPr>
              <a:t>⚠  Grid integration challenges</a:t>
            </a:r>
          </a:p>
          <a:p xmlns:a="http://schemas.openxmlformats.org/drawingml/2006/main">
            <a:pPr algn="l"/>
            <a:r>
              <a:rPr lang="en-US" sz="1200">
                <a:solidFill>
                  <a:srgbClr val="E6EDF3"/>
                </a:solidFill>
              </a:rPr>
              <a:t>      Curtailment risk during solar peak hours</a:t>
            </a:r>
          </a:p>
        </p:txBody>
      </p:sp>
      <p:sp>
        <p:nvSpPr>
          <p:cNvPr id="100061" name="P5Bg"/>
          <p:cNvSpPr txBox="1"/>
          <p:nvPr/>
        </p:nvSpPr>
        <p:spPr>
          <a:xfrm xmlns:a="http://schemas.openxmlformats.org/drawingml/2006/main">
            <a:off x="540000" y="2916000"/>
            <a:ext cx="702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BC8CFF"/>
              </a:solidFill>
            </a:endParaRPr>
          </a:p>
        </p:txBody>
      </p:sp>
      <p:sp>
        <p:nvSpPr>
          <p:cNvPr id="100062" name="P5T"/>
          <p:cNvSpPr txBox="1"/>
          <p:nvPr/>
        </p:nvSpPr>
        <p:spPr>
          <a:xfrm xmlns:a="http://schemas.openxmlformats.org/drawingml/2006/main">
            <a:off x="612000" y="2952000"/>
            <a:ext cx="6876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200">
                <a:solidFill>
                  <a:srgbClr val="E6EDF3"/>
                </a:solidFill>
              </a:rPr>
              <a:t>⚠  No unified operational view across solar, wind and hybrid assets in the same control layer</a:t>
            </a:r>
          </a:p>
        </p:txBody>
      </p:sp>
      <p:sp>
        <p:nvSpPr>
          <p:cNvPr id="100063" name="FlowLbl"/>
          <p:cNvSpPr txBox="1"/>
          <p:nvPr/>
        </p:nvSpPr>
        <p:spPr>
          <a:xfrm xmlns:a="http://schemas.openxmlformats.org/drawingml/2006/main">
            <a:off x="540000" y="3672000"/>
            <a:ext cx="72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484F58"/>
                </a:solidFill>
              </a:rPr>
              <a:t>Assets  →  Raw Data  →  Fragmented Decisions  →  Lost Generation Value</a:t>
            </a:r>
          </a:p>
        </p:txBody>
      </p:sp>
      <p:sp>
        <p:nvSpPr>
          <p:cNvPr id="100064" name="ResultBox"/>
          <p:cNvSpPr txBox="1"/>
          <p:nvPr/>
        </p:nvSpPr>
        <p:spPr>
          <a:xfrm xmlns:a="http://schemas.openxmlformats.org/drawingml/2006/main">
            <a:off x="540000" y="4032000"/>
            <a:ext cx="720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3FB950"/>
                </a:solidFill>
              </a:rPr>
              <a:t>💰  Every % of curtailment and every missed failure</a:t>
            </a:r>
          </a:p>
          <a:p xmlns:a="http://schemas.openxmlformats.org/drawingml/2006/main">
            <a:r>
              <a:rPr lang="en-US" sz="1400" b="1">
                <a:solidFill>
                  <a:srgbClr val="3FB950"/>
                </a:solidFill>
              </a:rPr>
              <a:t>     translates directly to lost generation value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065" name="Accent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B95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FB950"/>
              </a:solidFill>
            </a:endParaRPr>
          </a:p>
        </p:txBody>
      </p:sp>
      <p:sp>
        <p:nvSpPr>
          <p:cNvPr id="100066" name="SlideLbl"/>
          <p:cNvSpPr txBox="1"/>
          <p:nvPr/>
        </p:nvSpPr>
        <p:spPr>
          <a:xfrm xmlns:a="http://schemas.openxmlformats.org/drawingml/2006/main">
            <a:off x="540000" y="288000"/>
            <a:ext cx="28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FB950"/>
                </a:solidFill>
              </a:rPr>
              <a:t>THE SOLUTION</a:t>
            </a:r>
          </a:p>
        </p:txBody>
      </p:sp>
      <p:sp>
        <p:nvSpPr>
          <p:cNvPr id="100067" name="SlideH"/>
          <p:cNvSpPr txBox="1"/>
          <p:nvPr/>
        </p:nvSpPr>
        <p:spPr>
          <a:xfrm xmlns:a="http://schemas.openxmlformats.org/drawingml/2006/main">
            <a:off x="540000" y="576000"/>
            <a:ext cx="5400000" cy="86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E6EDF3"/>
                </a:solidFill>
              </a:rPr>
              <a:t>One Intelligent Control Layer</a:t>
            </a:r>
          </a:p>
          <a:p xmlns:a="http://schemas.openxmlformats.org/drawingml/2006/main">
            <a:r>
              <a:rPr lang="en-US" sz="2800" b="1">
                <a:solidFill>
                  <a:srgbClr val="E6EDF3"/>
                </a:solidFill>
              </a:rPr>
              <a:t>for Renewable Energy</a:t>
            </a:r>
          </a:p>
        </p:txBody>
      </p:sp>
      <p:sp>
        <p:nvSpPr>
          <p:cNvPr id="100068" name="SubH"/>
          <p:cNvSpPr txBox="1"/>
          <p:nvPr/>
        </p:nvSpPr>
        <p:spPr>
          <a:xfrm xmlns:a="http://schemas.openxmlformats.org/drawingml/2006/main">
            <a:off x="540000" y="1548000"/>
            <a:ext cx="54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7D8590"/>
                </a:solidFill>
              </a:rPr>
              <a:t>GreenPulse AI connects operational signals across assets, weather and grid into a single intelligent platform.</a:t>
            </a:r>
          </a:p>
        </p:txBody>
      </p:sp>
      <p:sp>
        <p:nvSpPr>
          <p:cNvPr id="100069" name="FlowBg"/>
          <p:cNvSpPr txBox="1"/>
          <p:nvPr/>
        </p:nvSpPr>
        <p:spPr>
          <a:xfrm xmlns:a="http://schemas.openxmlformats.org/drawingml/2006/main">
            <a:off x="540000" y="2088000"/>
            <a:ext cx="2880000" cy="40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070" name="FlowTitle"/>
          <p:cNvSpPr txBox="1"/>
          <p:nvPr/>
        </p:nvSpPr>
        <p:spPr>
          <a:xfrm xmlns:a="http://schemas.openxmlformats.org/drawingml/2006/main">
            <a:off x="612000" y="2160000"/>
            <a:ext cx="2736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 b="1">
                <a:solidFill>
                  <a:srgbClr val="3FB950"/>
                </a:solidFill>
              </a:rPr>
              <a:t>DATA  →  AGENTS  →  ACTION</a:t>
            </a:r>
          </a:p>
        </p:txBody>
      </p:sp>
      <p:sp>
        <p:nvSpPr>
          <p:cNvPr id="100071" name="F1"/>
          <p:cNvSpPr txBox="1"/>
          <p:nvPr/>
        </p:nvSpPr>
        <p:spPr>
          <a:xfrm xmlns:a="http://schemas.openxmlformats.org/drawingml/2006/main">
            <a:off x="720000" y="2484000"/>
            <a:ext cx="25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>
                <a:solidFill>
                  <a:srgbClr val="7D8590"/>
                </a:solidFill>
              </a:rPr>
              <a:t>☀️  Solar Farms  |  🌬️  Wind Turbines  |  ⚡ Hybrid</a:t>
            </a:r>
          </a:p>
        </p:txBody>
      </p:sp>
      <p:sp>
        <p:nvSpPr>
          <p:cNvPr id="100072" name="FArr1"/>
          <p:cNvSpPr txBox="1"/>
          <p:nvPr/>
        </p:nvSpPr>
        <p:spPr>
          <a:xfrm xmlns:a="http://schemas.openxmlformats.org/drawingml/2006/main">
            <a:off x="1800000" y="2808000"/>
            <a:ext cx="5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484F58"/>
                </a:solidFill>
              </a:rPr>
              <a:t>↓</a:t>
            </a:r>
          </a:p>
        </p:txBody>
      </p:sp>
      <p:sp>
        <p:nvSpPr>
          <p:cNvPr id="100073" name="FMain"/>
          <p:cNvSpPr txBox="1"/>
          <p:nvPr/>
        </p:nvSpPr>
        <p:spPr>
          <a:xfrm xmlns:a="http://schemas.openxmlformats.org/drawingml/2006/main">
            <a:off x="900000" y="3096000"/>
            <a:ext cx="216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3FB950"/>
                </a:solidFill>
              </a:rPr>
              <a:t>🌿  GreenPulse AI</a:t>
            </a:r>
          </a:p>
        </p:txBody>
      </p:sp>
      <p:sp>
        <p:nvSpPr>
          <p:cNvPr id="100074" name="FArr2"/>
          <p:cNvSpPr txBox="1"/>
          <p:nvPr/>
        </p:nvSpPr>
        <p:spPr>
          <a:xfrm xmlns:a="http://schemas.openxmlformats.org/drawingml/2006/main">
            <a:off x="1800000" y="3528000"/>
            <a:ext cx="5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484F58"/>
                </a:solidFill>
              </a:rPr>
              <a:t>↓</a:t>
            </a:r>
          </a:p>
        </p:txBody>
      </p:sp>
      <p:sp>
        <p:nvSpPr>
          <p:cNvPr id="100075" name="FAgents"/>
          <p:cNvSpPr txBox="1"/>
          <p:nvPr/>
        </p:nvSpPr>
        <p:spPr>
          <a:xfrm xmlns:a="http://schemas.openxmlformats.org/drawingml/2006/main">
            <a:off x="720000" y="3816000"/>
            <a:ext cx="252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>
                <a:solidFill>
                  <a:srgbClr val="58A6FF"/>
                </a:solidFill>
              </a:rPr>
              <a:t>📡 Performance  🔧 Maintenance</a:t>
            </a:r>
          </a:p>
          <a:p xmlns:a="http://schemas.openxmlformats.org/drawingml/2006/main">
            <a:pPr algn="ctr"/>
            <a:r>
              <a:rPr lang="en-US" sz="1000">
                <a:solidFill>
                  <a:srgbClr val="58A6FF"/>
                </a:solidFill>
              </a:rPr>
              <a:t>📈 Forecast  🔌 Grid  ⚡ Dashboard</a:t>
            </a:r>
          </a:p>
        </p:txBody>
      </p:sp>
      <p:sp>
        <p:nvSpPr>
          <p:cNvPr id="100076" name="FArr3"/>
          <p:cNvSpPr txBox="1"/>
          <p:nvPr/>
        </p:nvSpPr>
        <p:spPr>
          <a:xfrm xmlns:a="http://schemas.openxmlformats.org/drawingml/2006/main">
            <a:off x="1800000" y="4392000"/>
            <a:ext cx="5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484F58"/>
                </a:solidFill>
              </a:rPr>
              <a:t>↓</a:t>
            </a:r>
          </a:p>
        </p:txBody>
      </p:sp>
      <p:sp>
        <p:nvSpPr>
          <p:cNvPr id="100077" name="FAction"/>
          <p:cNvSpPr txBox="1"/>
          <p:nvPr/>
        </p:nvSpPr>
        <p:spPr>
          <a:xfrm xmlns:a="http://schemas.openxmlformats.org/drawingml/2006/main">
            <a:off x="720000" y="4680000"/>
            <a:ext cx="252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 b="1">
                <a:solidFill>
                  <a:srgbClr val="E3B341"/>
                </a:solidFill>
              </a:rPr>
              <a:t>⚡  Actionable Operator Decisions</a:t>
            </a:r>
          </a:p>
        </p:txBody>
      </p:sp>
      <p:sp>
        <p:nvSpPr>
          <p:cNvPr id="100078" name="FArr4"/>
          <p:cNvSpPr txBox="1"/>
          <p:nvPr/>
        </p:nvSpPr>
        <p:spPr>
          <a:xfrm xmlns:a="http://schemas.openxmlformats.org/drawingml/2006/main">
            <a:off x="1800000" y="5040000"/>
            <a:ext cx="5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484F58"/>
                </a:solidFill>
              </a:rPr>
              <a:t>↓</a:t>
            </a:r>
          </a:p>
        </p:txBody>
      </p:sp>
      <p:sp>
        <p:nvSpPr>
          <p:cNvPr id="100079" name="FResult"/>
          <p:cNvSpPr txBox="1"/>
          <p:nvPr/>
        </p:nvSpPr>
        <p:spPr>
          <a:xfrm xmlns:a="http://schemas.openxmlformats.org/drawingml/2006/main">
            <a:off x="720000" y="5328000"/>
            <a:ext cx="25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>
                <a:solidFill>
                  <a:srgbClr val="7D8590"/>
                </a:solidFill>
              </a:rPr>
              <a:t>🔌  Grid  |  🔋  Storage  |  🛠  Maintenance</a:t>
            </a:r>
          </a:p>
        </p:txBody>
      </p:sp>
      <p:sp>
        <p:nvSpPr>
          <p:cNvPr id="100080" name="DashMock"/>
          <p:cNvSpPr txBox="1"/>
          <p:nvPr/>
        </p:nvSpPr>
        <p:spPr>
          <a:xfrm xmlns:a="http://schemas.openxmlformats.org/drawingml/2006/main">
            <a:off x="3780000" y="540000"/>
            <a:ext cx="8100000" cy="59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081" name="DNavBg"/>
          <p:cNvSpPr txBox="1"/>
          <p:nvPr/>
        </p:nvSpPr>
        <p:spPr>
          <a:xfrm xmlns:a="http://schemas.openxmlformats.org/drawingml/2006/main">
            <a:off x="3780000" y="540000"/>
            <a:ext cx="81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C2128"/>
              </a:solidFill>
            </a:endParaRPr>
          </a:p>
        </p:txBody>
      </p:sp>
      <p:sp>
        <p:nvSpPr>
          <p:cNvPr id="100082" name="DNavT"/>
          <p:cNvSpPr txBox="1"/>
          <p:nvPr/>
        </p:nvSpPr>
        <p:spPr>
          <a:xfrm xmlns:a="http://schemas.openxmlformats.org/drawingml/2006/main">
            <a:off x="3852000" y="576000"/>
            <a:ext cx="79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800">
                <a:solidFill>
                  <a:srgbClr val="7D8590"/>
                </a:solidFill>
              </a:rPr>
              <a:t>🌿 GreenPulse AI   ⚡ Command Center   📡 Assets   🔧 Maintenance   🤖 Copilot</a:t>
            </a:r>
          </a:p>
        </p:txBody>
      </p:sp>
      <p:sp>
        <p:nvSpPr>
          <p:cNvPr id="100083" name="DHead"/>
          <p:cNvSpPr txBox="1"/>
          <p:nvPr/>
        </p:nvSpPr>
        <p:spPr>
          <a:xfrm xmlns:a="http://schemas.openxmlformats.org/drawingml/2006/main">
            <a:off x="3852000" y="900000"/>
            <a:ext cx="43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E6EDF3"/>
                </a:solidFill>
              </a:rPr>
              <a:t>⚡ Command Center</a:t>
            </a:r>
          </a:p>
        </p:txBody>
      </p:sp>
      <p:sp>
        <p:nvSpPr>
          <p:cNvPr id="100084" name="DSubh"/>
          <p:cNvSpPr txBox="1"/>
          <p:nvPr/>
        </p:nvSpPr>
        <p:spPr>
          <a:xfrm xmlns:a="http://schemas.openxmlformats.org/drawingml/2006/main">
            <a:off x="3852000" y="1188000"/>
            <a:ext cx="64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900">
                <a:solidFill>
                  <a:srgbClr val="484F58"/>
                </a:solidFill>
              </a:rPr>
              <a:t>16 assets monitored  ·  Kutch &amp; Banaskantha  ·  Prototype demo data</a:t>
            </a:r>
          </a:p>
        </p:txBody>
      </p:sp>
      <p:sp>
        <p:nvSpPr>
          <p:cNvPr id="100085" name="DK1"/>
          <p:cNvSpPr txBox="1"/>
          <p:nvPr/>
        </p:nvSpPr>
        <p:spPr>
          <a:xfrm xmlns:a="http://schemas.openxmlformats.org/drawingml/2006/main">
            <a:off x="3852000" y="1476000"/>
            <a:ext cx="144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3FB950"/>
                </a:solidFill>
              </a:rPr>
              <a:t>572 MW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3FB950"/>
                </a:solidFill>
              </a:rPr>
              <a:t>Current Gen</a:t>
            </a:r>
          </a:p>
        </p:txBody>
      </p:sp>
      <p:sp>
        <p:nvSpPr>
          <p:cNvPr id="100086" name="DK2"/>
          <p:cNvSpPr txBox="1"/>
          <p:nvPr/>
        </p:nvSpPr>
        <p:spPr>
          <a:xfrm xmlns:a="http://schemas.openxmlformats.org/drawingml/2006/main">
            <a:off x="5436000" y="1476000"/>
            <a:ext cx="144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58A6FF"/>
                </a:solidFill>
              </a:rPr>
              <a:t>88.4%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58A6FF"/>
                </a:solidFill>
              </a:rPr>
              <a:t>Perf Score</a:t>
            </a:r>
          </a:p>
        </p:txBody>
      </p:sp>
      <p:sp>
        <p:nvSpPr>
          <p:cNvPr id="100087" name="DK3"/>
          <p:cNvSpPr txBox="1"/>
          <p:nvPr/>
        </p:nvSpPr>
        <p:spPr>
          <a:xfrm xmlns:a="http://schemas.openxmlformats.org/drawingml/2006/main">
            <a:off x="7020000" y="1476000"/>
            <a:ext cx="126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E6EDF3"/>
                </a:solidFill>
              </a:rPr>
              <a:t>14 / 16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E6EDF3"/>
                </a:solidFill>
              </a:rPr>
              <a:t>Online</a:t>
            </a:r>
          </a:p>
        </p:txBody>
      </p:sp>
      <p:sp>
        <p:nvSpPr>
          <p:cNvPr id="100088" name="DK4"/>
          <p:cNvSpPr txBox="1"/>
          <p:nvPr/>
        </p:nvSpPr>
        <p:spPr>
          <a:xfrm xmlns:a="http://schemas.openxmlformats.org/drawingml/2006/main">
            <a:off x="8424000" y="1476000"/>
            <a:ext cx="126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85149"/>
                </a:solidFill>
              </a:rPr>
              <a:t>3 HIGH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F85149"/>
                </a:solidFill>
              </a:rPr>
              <a:t>Alerts</a:t>
            </a:r>
          </a:p>
        </p:txBody>
      </p:sp>
      <p:sp>
        <p:nvSpPr>
          <p:cNvPr id="100089" name="DChartBg"/>
          <p:cNvSpPr txBox="1"/>
          <p:nvPr/>
        </p:nvSpPr>
        <p:spPr>
          <a:xfrm xmlns:a="http://schemas.openxmlformats.org/drawingml/2006/main">
            <a:off x="3852000" y="2232000"/>
            <a:ext cx="3600000" cy="2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090" name="DChartHd"/>
          <p:cNvSpPr txBox="1"/>
          <p:nvPr/>
        </p:nvSpPr>
        <p:spPr>
          <a:xfrm xmlns:a="http://schemas.openxmlformats.org/drawingml/2006/main">
            <a:off x="3924000" y="2304000"/>
            <a:ext cx="342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900">
                <a:solidFill>
                  <a:srgbClr val="7D8590"/>
                </a:solidFill>
              </a:rPr>
              <a:t>Solar + Wind Generation — 24h</a:t>
            </a:r>
          </a:p>
        </p:txBody>
      </p:sp>
      <p:sp>
        <p:nvSpPr>
          <p:cNvPr id="100091" name="DChart"/>
          <p:cNvSpPr txBox="1"/>
          <p:nvPr/>
        </p:nvSpPr>
        <p:spPr>
          <a:xfrm xmlns:a="http://schemas.openxmlformats.org/drawingml/2006/main">
            <a:off x="3924000" y="2592000"/>
            <a:ext cx="3420000" cy="1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800">
                <a:solidFill>
                  <a:srgbClr val="F59E0B"/>
                </a:solidFill>
              </a:rPr>
              <a:t>▁▃▆█▇▅▄▃▁  MW</a:t>
            </a:r>
          </a:p>
          <a:p xmlns:a="http://schemas.openxmlformats.org/drawingml/2006/main">
            <a:pPr algn="l"/>
            <a:r>
              <a:rPr lang="en-US" sz="1800">
                <a:solidFill>
                  <a:srgbClr val="F59E0B"/>
                </a:solidFill>
              </a:rPr>
              <a:t>☀ Solar</a:t>
            </a:r>
          </a:p>
          <a:p xmlns:a="http://schemas.openxmlformats.org/drawingml/2006/main">
            <a:pPr algn="l"/>
            <a:r>
              <a:rPr lang="en-US" sz="1800">
                <a:solidFill>
                  <a:srgbClr val="F59E0B"/>
                </a:solidFill>
              </a:rPr>
              <a:t>🌬 Wind</a:t>
            </a:r>
          </a:p>
        </p:txBody>
      </p:sp>
      <p:sp>
        <p:nvSpPr>
          <p:cNvPr id="100092" name="DAlertBg"/>
          <p:cNvSpPr txBox="1"/>
          <p:nvPr/>
        </p:nvSpPr>
        <p:spPr>
          <a:xfrm xmlns:a="http://schemas.openxmlformats.org/drawingml/2006/main">
            <a:off x="7632000" y="2232000"/>
            <a:ext cx="4140000" cy="23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093" name="DAlertHd"/>
          <p:cNvSpPr txBox="1"/>
          <p:nvPr/>
        </p:nvSpPr>
        <p:spPr>
          <a:xfrm xmlns:a="http://schemas.openxmlformats.org/drawingml/2006/main">
            <a:off x="7704000" y="2304000"/>
            <a:ext cx="36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900">
                <a:solidFill>
                  <a:srgbClr val="7D8590"/>
                </a:solidFill>
              </a:rPr>
              <a:t>🔔 Active Alerts</a:t>
            </a:r>
          </a:p>
        </p:txBody>
      </p:sp>
      <p:sp>
        <p:nvSpPr>
          <p:cNvPr id="100094" name="DAlert1"/>
          <p:cNvSpPr txBox="1"/>
          <p:nvPr/>
        </p:nvSpPr>
        <p:spPr>
          <a:xfrm xmlns:a="http://schemas.openxmlformats.org/drawingml/2006/main">
            <a:off x="7704000" y="2556000"/>
            <a:ext cx="36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F85149"/>
                </a:solidFill>
              </a:rPr>
              <a:t>🔴 WT-08 CRITICAL — Offline  2h ago</a:t>
            </a:r>
          </a:p>
        </p:txBody>
      </p:sp>
      <p:sp>
        <p:nvSpPr>
          <p:cNvPr id="100095" name="DAlert2"/>
          <p:cNvSpPr txBox="1"/>
          <p:nvPr/>
        </p:nvSpPr>
        <p:spPr>
          <a:xfrm xmlns:a="http://schemas.openxmlformats.org/drawingml/2006/main">
            <a:off x="7704000" y="2844000"/>
            <a:ext cx="36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FF7B72"/>
                </a:solidFill>
              </a:rPr>
              <a:t>🟠 WT-07 HIGH — 18% below forecast  30m ago</a:t>
            </a:r>
          </a:p>
        </p:txBody>
      </p:sp>
      <p:sp>
        <p:nvSpPr>
          <p:cNvPr id="100096" name="DAlert3"/>
          <p:cNvSpPr txBox="1"/>
          <p:nvPr/>
        </p:nvSpPr>
        <p:spPr>
          <a:xfrm xmlns:a="http://schemas.openxmlformats.org/drawingml/2006/main">
            <a:off x="7704000" y="3132000"/>
            <a:ext cx="36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E3B341"/>
                </a:solidFill>
              </a:rPr>
              <a:t>🟡 SF-04 MEDIUM — Inverter temp  1h ago</a:t>
            </a:r>
          </a:p>
        </p:txBody>
      </p:sp>
      <p:sp>
        <p:nvSpPr>
          <p:cNvPr id="100097" name="CapMon"/>
          <p:cNvSpPr txBox="1"/>
          <p:nvPr/>
        </p:nvSpPr>
        <p:spPr>
          <a:xfrm xmlns:a="http://schemas.openxmlformats.org/drawingml/2006/main">
            <a:off x="3852000" y="4752000"/>
            <a:ext cx="126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FB950"/>
                </a:solidFill>
              </a:rPr>
              <a:t>● Monitor</a:t>
            </a:r>
          </a:p>
        </p:txBody>
      </p:sp>
      <p:sp>
        <p:nvSpPr>
          <p:cNvPr id="100098" name="CapPred"/>
          <p:cNvSpPr txBox="1"/>
          <p:nvPr/>
        </p:nvSpPr>
        <p:spPr>
          <a:xfrm xmlns:a="http://schemas.openxmlformats.org/drawingml/2006/main">
            <a:off x="5292000" y="4752000"/>
            <a:ext cx="126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E3B341"/>
                </a:solidFill>
              </a:rPr>
              <a:t>● Predict</a:t>
            </a:r>
          </a:p>
        </p:txBody>
      </p:sp>
      <p:sp>
        <p:nvSpPr>
          <p:cNvPr id="100099" name="CapFor"/>
          <p:cNvSpPr txBox="1"/>
          <p:nvPr/>
        </p:nvSpPr>
        <p:spPr>
          <a:xfrm xmlns:a="http://schemas.openxmlformats.org/drawingml/2006/main">
            <a:off x="6732000" y="4752000"/>
            <a:ext cx="126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F59E0B"/>
                </a:solidFill>
              </a:rPr>
              <a:t>● Forecast</a:t>
            </a:r>
          </a:p>
        </p:txBody>
      </p:sp>
      <p:sp>
        <p:nvSpPr>
          <p:cNvPr id="100100" name="CapOpt"/>
          <p:cNvSpPr txBox="1"/>
          <p:nvPr/>
        </p:nvSpPr>
        <p:spPr>
          <a:xfrm xmlns:a="http://schemas.openxmlformats.org/drawingml/2006/main">
            <a:off x="8172000" y="4752000"/>
            <a:ext cx="126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58A6FF"/>
                </a:solidFill>
              </a:rPr>
              <a:t>● Optimize</a:t>
            </a:r>
          </a:p>
        </p:txBody>
      </p:sp>
      <p:sp>
        <p:nvSpPr>
          <p:cNvPr id="100101" name="CapRec"/>
          <p:cNvSpPr txBox="1"/>
          <p:nvPr/>
        </p:nvSpPr>
        <p:spPr>
          <a:xfrm xmlns:a="http://schemas.openxmlformats.org/drawingml/2006/main">
            <a:off x="9612000" y="4752000"/>
            <a:ext cx="16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BC8CFF"/>
                </a:solidFill>
              </a:rPr>
              <a:t>● Recommend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102" name="Accent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8C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BC8CFF"/>
              </a:solidFill>
            </a:endParaRPr>
          </a:p>
        </p:txBody>
      </p:sp>
      <p:sp>
        <p:nvSpPr>
          <p:cNvPr id="100103" name="SlideLbl"/>
          <p:cNvSpPr txBox="1"/>
          <p:nvPr/>
        </p:nvSpPr>
        <p:spPr>
          <a:xfrm xmlns:a="http://schemas.openxmlformats.org/drawingml/2006/main">
            <a:off x="540000" y="288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BC8CFF"/>
                </a:solidFill>
              </a:rPr>
              <a:t>AGENTIC AI ARCHITECTURE</a:t>
            </a:r>
          </a:p>
        </p:txBody>
      </p:sp>
      <p:sp>
        <p:nvSpPr>
          <p:cNvPr id="100104" name="SlideH"/>
          <p:cNvSpPr txBox="1"/>
          <p:nvPr/>
        </p:nvSpPr>
        <p:spPr>
          <a:xfrm xmlns:a="http://schemas.openxmlformats.org/drawingml/2006/main">
            <a:off x="540000" y="540000"/>
            <a:ext cx="7200000" cy="86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E6EDF3"/>
                </a:solidFill>
              </a:rPr>
              <a:t>Five Agents. One Coordinated</a:t>
            </a:r>
          </a:p>
          <a:p xmlns:a="http://schemas.openxmlformats.org/drawingml/2006/main">
            <a:r>
              <a:rPr lang="en-US" sz="2600" b="1">
                <a:solidFill>
                  <a:srgbClr val="E6EDF3"/>
                </a:solidFill>
              </a:rPr>
              <a:t>Energy Intelligence System.</a:t>
            </a:r>
          </a:p>
        </p:txBody>
      </p:sp>
      <p:sp>
        <p:nvSpPr>
          <p:cNvPr id="100105" name="CenterBg"/>
          <p:cNvSpPr txBox="1"/>
          <p:nvPr/>
        </p:nvSpPr>
        <p:spPr>
          <a:xfrm xmlns:a="http://schemas.openxmlformats.org/drawingml/2006/main">
            <a:off x="5220000" y="2700000"/>
            <a:ext cx="18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FB950"/>
              </a:solidFill>
            </a:endParaRPr>
          </a:p>
        </p:txBody>
      </p:sp>
      <p:sp>
        <p:nvSpPr>
          <p:cNvPr id="100106" name="CenterT"/>
          <p:cNvSpPr txBox="1"/>
          <p:nvPr/>
        </p:nvSpPr>
        <p:spPr>
          <a:xfrm xmlns:a="http://schemas.openxmlformats.org/drawingml/2006/main">
            <a:off x="5220000" y="2700000"/>
            <a:ext cx="1800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3FB950"/>
                </a:solidFill>
              </a:rPr>
              <a:t>🌿</a:t>
            </a:r>
          </a:p>
          <a:p xmlns:a="http://schemas.openxmlformats.org/drawingml/2006/main">
            <a:pPr algn="ctr"/>
            <a:r>
              <a:rPr lang="en-US" sz="1200" b="1">
                <a:solidFill>
                  <a:srgbClr val="3FB950"/>
                </a:solidFill>
              </a:rPr>
              <a:t>GreenPulse AI</a:t>
            </a:r>
          </a:p>
          <a:p xmlns:a="http://schemas.openxmlformats.org/drawingml/2006/main">
            <a:pPr algn="ctr"/>
            <a:r>
              <a:rPr lang="en-US" sz="1200" b="1">
                <a:solidFill>
                  <a:srgbClr val="3FB950"/>
                </a:solidFill>
              </a:rPr>
              <a:t>Orchestrator</a:t>
            </a:r>
          </a:p>
        </p:txBody>
      </p:sp>
      <p:sp>
        <p:nvSpPr>
          <p:cNvPr id="100107" name="A1Bg"/>
          <p:cNvSpPr txBox="1"/>
          <p:nvPr/>
        </p:nvSpPr>
        <p:spPr>
          <a:xfrm xmlns:a="http://schemas.openxmlformats.org/drawingml/2006/main">
            <a:off x="432000" y="1440000"/>
            <a:ext cx="396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108" name="A1Num"/>
          <p:cNvSpPr txBox="1"/>
          <p:nvPr/>
        </p:nvSpPr>
        <p:spPr>
          <a:xfrm xmlns:a="http://schemas.openxmlformats.org/drawingml/2006/main">
            <a:off x="504000" y="1512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38BDF8"/>
                </a:solidFill>
              </a:rPr>
              <a:t>01</a:t>
            </a:r>
          </a:p>
        </p:txBody>
      </p:sp>
      <p:sp>
        <p:nvSpPr>
          <p:cNvPr id="100109" name="A1T"/>
          <p:cNvSpPr txBox="1"/>
          <p:nvPr/>
        </p:nvSpPr>
        <p:spPr>
          <a:xfrm xmlns:a="http://schemas.openxmlformats.org/drawingml/2006/main">
            <a:off x="504000" y="1908000"/>
            <a:ext cx="378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E6EDF3"/>
                </a:solidFill>
              </a:rPr>
              <a:t>Asset Performance Agent</a:t>
            </a:r>
          </a:p>
        </p:txBody>
      </p:sp>
      <p:sp>
        <p:nvSpPr>
          <p:cNvPr id="100110" name="A1D"/>
          <p:cNvSpPr txBox="1"/>
          <p:nvPr/>
        </p:nvSpPr>
        <p:spPr>
          <a:xfrm xmlns:a="http://schemas.openxmlformats.org/drawingml/2006/main">
            <a:off x="504000" y="2232000"/>
            <a:ext cx="378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📡  Monitors 16 assets in real time</a:t>
            </a:r>
          </a:p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      Detects underperformance &amp; anomalies</a:t>
            </a:r>
          </a:p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      Calculates asset health scores</a:t>
            </a:r>
          </a:p>
        </p:txBody>
      </p:sp>
      <p:sp>
        <p:nvSpPr>
          <p:cNvPr id="100111" name="A2Bg"/>
          <p:cNvSpPr txBox="1"/>
          <p:nvPr/>
        </p:nvSpPr>
        <p:spPr>
          <a:xfrm xmlns:a="http://schemas.openxmlformats.org/drawingml/2006/main">
            <a:off x="432000" y="3312000"/>
            <a:ext cx="396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7B72"/>
              </a:solidFill>
            </a:endParaRPr>
          </a:p>
        </p:txBody>
      </p:sp>
      <p:sp>
        <p:nvSpPr>
          <p:cNvPr id="100112" name="A2Num"/>
          <p:cNvSpPr txBox="1"/>
          <p:nvPr/>
        </p:nvSpPr>
        <p:spPr>
          <a:xfrm xmlns:a="http://schemas.openxmlformats.org/drawingml/2006/main">
            <a:off x="504000" y="3384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F7B72"/>
                </a:solidFill>
              </a:rPr>
              <a:t>02</a:t>
            </a:r>
          </a:p>
        </p:txBody>
      </p:sp>
      <p:sp>
        <p:nvSpPr>
          <p:cNvPr id="100113" name="A2T"/>
          <p:cNvSpPr txBox="1"/>
          <p:nvPr/>
        </p:nvSpPr>
        <p:spPr>
          <a:xfrm xmlns:a="http://schemas.openxmlformats.org/drawingml/2006/main">
            <a:off x="504000" y="3780000"/>
            <a:ext cx="378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E6EDF3"/>
                </a:solidFill>
              </a:rPr>
              <a:t>Predictive Maintenance Agent</a:t>
            </a:r>
          </a:p>
        </p:txBody>
      </p:sp>
      <p:sp>
        <p:nvSpPr>
          <p:cNvPr id="100114" name="A2D"/>
          <p:cNvSpPr txBox="1"/>
          <p:nvPr/>
        </p:nvSpPr>
        <p:spPr>
          <a:xfrm xmlns:a="http://schemas.openxmlformats.org/drawingml/2006/main">
            <a:off x="504000" y="4104000"/>
            <a:ext cx="378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🔧  Analyzes vibration, temp &amp; RPM signals</a:t>
            </a:r>
          </a:p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      Assigns health scores + failure risk %</a:t>
            </a:r>
          </a:p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      Prioritizes maintenance urgency</a:t>
            </a:r>
          </a:p>
        </p:txBody>
      </p:sp>
      <p:sp>
        <p:nvSpPr>
          <p:cNvPr id="100115" name="A3Bg"/>
          <p:cNvSpPr txBox="1"/>
          <p:nvPr/>
        </p:nvSpPr>
        <p:spPr>
          <a:xfrm xmlns:a="http://schemas.openxmlformats.org/drawingml/2006/main">
            <a:off x="4860000" y="1440000"/>
            <a:ext cx="378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59E0B"/>
              </a:solidFill>
            </a:endParaRPr>
          </a:p>
        </p:txBody>
      </p:sp>
      <p:sp>
        <p:nvSpPr>
          <p:cNvPr id="100116" name="A3Num"/>
          <p:cNvSpPr txBox="1"/>
          <p:nvPr/>
        </p:nvSpPr>
        <p:spPr>
          <a:xfrm xmlns:a="http://schemas.openxmlformats.org/drawingml/2006/main">
            <a:off x="4932000" y="1512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100117" name="A3T"/>
          <p:cNvSpPr txBox="1"/>
          <p:nvPr/>
        </p:nvSpPr>
        <p:spPr>
          <a:xfrm xmlns:a="http://schemas.openxmlformats.org/drawingml/2006/main">
            <a:off x="4932000" y="1908000"/>
            <a:ext cx="36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E6EDF3"/>
                </a:solidFill>
              </a:rPr>
              <a:t>Generation Forecast Agent</a:t>
            </a:r>
          </a:p>
        </p:txBody>
      </p:sp>
      <p:sp>
        <p:nvSpPr>
          <p:cNvPr id="100118" name="A3D"/>
          <p:cNvSpPr txBox="1"/>
          <p:nvPr/>
        </p:nvSpPr>
        <p:spPr>
          <a:xfrm xmlns:a="http://schemas.openxmlformats.org/drawingml/2006/main">
            <a:off x="4932000" y="2232000"/>
            <a:ext cx="36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📈  Predicts solar + wind output</a:t>
            </a:r>
          </a:p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      Weather-integrated forecasting</a:t>
            </a:r>
          </a:p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      6h · 24h · 7-day horizons</a:t>
            </a:r>
          </a:p>
        </p:txBody>
      </p:sp>
      <p:sp>
        <p:nvSpPr>
          <p:cNvPr id="100119" name="A4Bg"/>
          <p:cNvSpPr txBox="1"/>
          <p:nvPr/>
        </p:nvSpPr>
        <p:spPr>
          <a:xfrm xmlns:a="http://schemas.openxmlformats.org/drawingml/2006/main">
            <a:off x="4860000" y="3312000"/>
            <a:ext cx="378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58A6FF"/>
              </a:solidFill>
            </a:endParaRPr>
          </a:p>
        </p:txBody>
      </p:sp>
      <p:sp>
        <p:nvSpPr>
          <p:cNvPr id="100120" name="A4Num"/>
          <p:cNvSpPr txBox="1"/>
          <p:nvPr/>
        </p:nvSpPr>
        <p:spPr>
          <a:xfrm xmlns:a="http://schemas.openxmlformats.org/drawingml/2006/main">
            <a:off x="4932000" y="3384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58A6FF"/>
                </a:solidFill>
              </a:rPr>
              <a:t>04</a:t>
            </a:r>
          </a:p>
        </p:txBody>
      </p:sp>
      <p:sp>
        <p:nvSpPr>
          <p:cNvPr id="100121" name="A4T"/>
          <p:cNvSpPr txBox="1"/>
          <p:nvPr/>
        </p:nvSpPr>
        <p:spPr>
          <a:xfrm xmlns:a="http://schemas.openxmlformats.org/drawingml/2006/main">
            <a:off x="4932000" y="3780000"/>
            <a:ext cx="36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E6EDF3"/>
                </a:solidFill>
              </a:rPr>
              <a:t>Grid Optimization Agent</a:t>
            </a:r>
          </a:p>
        </p:txBody>
      </p:sp>
      <p:sp>
        <p:nvSpPr>
          <p:cNvPr id="100122" name="A4D"/>
          <p:cNvSpPr txBox="1"/>
          <p:nvPr/>
        </p:nvSpPr>
        <p:spPr>
          <a:xfrm xmlns:a="http://schemas.openxmlformats.org/drawingml/2006/main">
            <a:off x="4932000" y="4104000"/>
            <a:ext cx="36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🔌  Evaluates export + storage decisions</a:t>
            </a:r>
          </a:p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      Detects curtailment risk</a:t>
            </a:r>
          </a:p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      Generates real-time grid recommendations</a:t>
            </a:r>
          </a:p>
        </p:txBody>
      </p:sp>
      <p:sp>
        <p:nvSpPr>
          <p:cNvPr id="100123" name="A5Bg"/>
          <p:cNvSpPr txBox="1"/>
          <p:nvPr/>
        </p:nvSpPr>
        <p:spPr>
          <a:xfrm xmlns:a="http://schemas.openxmlformats.org/drawingml/2006/main">
            <a:off x="8820000" y="2340000"/>
            <a:ext cx="324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FB950"/>
              </a:solidFill>
            </a:endParaRPr>
          </a:p>
        </p:txBody>
      </p:sp>
      <p:sp>
        <p:nvSpPr>
          <p:cNvPr id="100124" name="A5Num"/>
          <p:cNvSpPr txBox="1"/>
          <p:nvPr/>
        </p:nvSpPr>
        <p:spPr>
          <a:xfrm xmlns:a="http://schemas.openxmlformats.org/drawingml/2006/main">
            <a:off x="8892000" y="2412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3FB950"/>
                </a:solidFill>
              </a:rPr>
              <a:t>05</a:t>
            </a:r>
          </a:p>
        </p:txBody>
      </p:sp>
      <p:sp>
        <p:nvSpPr>
          <p:cNvPr id="100125" name="A5T"/>
          <p:cNvSpPr txBox="1"/>
          <p:nvPr/>
        </p:nvSpPr>
        <p:spPr>
          <a:xfrm xmlns:a="http://schemas.openxmlformats.org/drawingml/2006/main">
            <a:off x="8892000" y="2808000"/>
            <a:ext cx="306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E6EDF3"/>
                </a:solidFill>
              </a:rPr>
              <a:t>Dashboard Agent</a:t>
            </a:r>
          </a:p>
        </p:txBody>
      </p:sp>
      <p:sp>
        <p:nvSpPr>
          <p:cNvPr id="100126" name="A5D"/>
          <p:cNvSpPr txBox="1"/>
          <p:nvPr/>
        </p:nvSpPr>
        <p:spPr>
          <a:xfrm xmlns:a="http://schemas.openxmlformats.org/drawingml/2006/main">
            <a:off x="8892000" y="3168000"/>
            <a:ext cx="306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⚡  Combines all agent outputs</a:t>
            </a:r>
          </a:p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      Powers AI Copilot chat</a:t>
            </a:r>
          </a:p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      Generates operator priorities</a:t>
            </a:r>
          </a:p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      Drives executive summary</a:t>
            </a:r>
          </a:p>
        </p:txBody>
      </p:sp>
      <p:sp>
        <p:nvSpPr>
          <p:cNvPr id="100127" name="IBMTag"/>
          <p:cNvSpPr txBox="1"/>
          <p:nvPr/>
        </p:nvSpPr>
        <p:spPr>
          <a:xfrm xmlns:a="http://schemas.openxmlformats.org/drawingml/2006/main">
            <a:off x="540000" y="5112000"/>
            <a:ext cx="1116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 b="0">
                <a:solidFill>
                  <a:srgbClr val="484F58"/>
                </a:solidFill>
              </a:rPr>
              <a:t>Powered by IBM Granite LLM  ·  IBM watsonx.ai  ·  IBM Cloud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128" name="Accent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58A6FF"/>
              </a:solidFill>
            </a:endParaRPr>
          </a:p>
        </p:txBody>
      </p:sp>
      <p:sp>
        <p:nvSpPr>
          <p:cNvPr id="100129" name="SlideLbl"/>
          <p:cNvSpPr txBox="1"/>
          <p:nvPr/>
        </p:nvSpPr>
        <p:spPr>
          <a:xfrm xmlns:a="http://schemas.openxmlformats.org/drawingml/2006/main">
            <a:off x="540000" y="288000"/>
            <a:ext cx="36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58A6FF"/>
                </a:solidFill>
              </a:rPr>
              <a:t>AGENT COLLABORATION</a:t>
            </a:r>
          </a:p>
        </p:txBody>
      </p:sp>
      <p:sp>
        <p:nvSpPr>
          <p:cNvPr id="100130" name="SlideH"/>
          <p:cNvSpPr txBox="1"/>
          <p:nvPr/>
        </p:nvSpPr>
        <p:spPr>
          <a:xfrm xmlns:a="http://schemas.openxmlformats.org/drawingml/2006/main">
            <a:off x="540000" y="576000"/>
            <a:ext cx="72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E6EDF3"/>
                </a:solidFill>
              </a:rPr>
              <a:t>From Raw Data to Intelligent Action</a:t>
            </a:r>
          </a:p>
        </p:txBody>
      </p:sp>
      <p:sp>
        <p:nvSpPr>
          <p:cNvPr id="100131" name="FlowBg"/>
          <p:cNvSpPr txBox="1"/>
          <p:nvPr/>
        </p:nvSpPr>
        <p:spPr>
          <a:xfrm xmlns:a="http://schemas.openxmlformats.org/drawingml/2006/main">
            <a:off x="432000" y="1260000"/>
            <a:ext cx="6480000" cy="50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132" name="F1Bg"/>
          <p:cNvSpPr txBox="1"/>
          <p:nvPr/>
        </p:nvSpPr>
        <p:spPr>
          <a:xfrm xmlns:a="http://schemas.openxmlformats.org/drawingml/2006/main">
            <a:off x="576000" y="1440000"/>
            <a:ext cx="6192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133" name="F1T"/>
          <p:cNvSpPr txBox="1"/>
          <p:nvPr/>
        </p:nvSpPr>
        <p:spPr>
          <a:xfrm xmlns:a="http://schemas.openxmlformats.org/drawingml/2006/main">
            <a:off x="648000" y="1476000"/>
            <a:ext cx="6048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8BDF8"/>
                </a:solidFill>
              </a:rPr>
              <a:t>🌤  WEATHER DATA   ·   Wind 8.4 m/s  ·  Irradiance 812 W/m²  ·  Cloud 18%</a:t>
            </a:r>
          </a:p>
        </p:txBody>
      </p:sp>
      <p:sp>
        <p:nvSpPr>
          <p:cNvPr id="100134" name="Arr1"/>
          <p:cNvSpPr txBox="1"/>
          <p:nvPr/>
        </p:nvSpPr>
        <p:spPr>
          <a:xfrm xmlns:a="http://schemas.openxmlformats.org/drawingml/2006/main">
            <a:off x="3420000" y="1944000"/>
            <a:ext cx="5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484F58"/>
                </a:solidFill>
              </a:rPr>
              <a:t>↓</a:t>
            </a:r>
          </a:p>
        </p:txBody>
      </p:sp>
      <p:sp>
        <p:nvSpPr>
          <p:cNvPr id="100135" name="F2Bg"/>
          <p:cNvSpPr txBox="1"/>
          <p:nvPr/>
        </p:nvSpPr>
        <p:spPr>
          <a:xfrm xmlns:a="http://schemas.openxmlformats.org/drawingml/2006/main">
            <a:off x="576000" y="2268000"/>
            <a:ext cx="6192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59E0B"/>
              </a:solidFill>
            </a:endParaRPr>
          </a:p>
        </p:txBody>
      </p:sp>
      <p:sp>
        <p:nvSpPr>
          <p:cNvPr id="100136" name="F2T"/>
          <p:cNvSpPr txBox="1"/>
          <p:nvPr/>
        </p:nvSpPr>
        <p:spPr>
          <a:xfrm xmlns:a="http://schemas.openxmlformats.org/drawingml/2006/main">
            <a:off x="648000" y="2304000"/>
            <a:ext cx="6048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59E0B"/>
                </a:solidFill>
              </a:rPr>
              <a:t>📈  FORECAST AGENT   →   Solar peak 485 MW at 12:30  ·  Wind steady 28–32 MW</a:t>
            </a:r>
          </a:p>
        </p:txBody>
      </p:sp>
      <p:sp>
        <p:nvSpPr>
          <p:cNvPr id="100137" name="Arr2"/>
          <p:cNvSpPr txBox="1"/>
          <p:nvPr/>
        </p:nvSpPr>
        <p:spPr>
          <a:xfrm xmlns:a="http://schemas.openxmlformats.org/drawingml/2006/main">
            <a:off x="3420000" y="2772000"/>
            <a:ext cx="5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484F58"/>
                </a:solidFill>
              </a:rPr>
              <a:t>↓</a:t>
            </a:r>
          </a:p>
        </p:txBody>
      </p:sp>
      <p:sp>
        <p:nvSpPr>
          <p:cNvPr id="100138" name="F3Bg"/>
          <p:cNvSpPr txBox="1"/>
          <p:nvPr/>
        </p:nvSpPr>
        <p:spPr>
          <a:xfrm xmlns:a="http://schemas.openxmlformats.org/drawingml/2006/main">
            <a:off x="576000" y="3096000"/>
            <a:ext cx="6192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7B72"/>
              </a:solidFill>
            </a:endParaRPr>
          </a:p>
        </p:txBody>
      </p:sp>
      <p:sp>
        <p:nvSpPr>
          <p:cNvPr id="100139" name="F3T"/>
          <p:cNvSpPr txBox="1"/>
          <p:nvPr/>
        </p:nvSpPr>
        <p:spPr>
          <a:xfrm xmlns:a="http://schemas.openxmlformats.org/drawingml/2006/main">
            <a:off x="648000" y="3132000"/>
            <a:ext cx="6048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F7B72"/>
                </a:solidFill>
              </a:rPr>
              <a:t>📡  PERFORMANCE AGENT   →   WT-07 producing 1.68 MW  ·  Expected: 2.05 MW  ·  ANOMALY</a:t>
            </a:r>
          </a:p>
        </p:txBody>
      </p:sp>
      <p:sp>
        <p:nvSpPr>
          <p:cNvPr id="100140" name="Arr3"/>
          <p:cNvSpPr txBox="1"/>
          <p:nvPr/>
        </p:nvSpPr>
        <p:spPr>
          <a:xfrm xmlns:a="http://schemas.openxmlformats.org/drawingml/2006/main">
            <a:off x="3420000" y="3600000"/>
            <a:ext cx="5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484F58"/>
                </a:solidFill>
              </a:rPr>
              <a:t>↓</a:t>
            </a:r>
          </a:p>
        </p:txBody>
      </p:sp>
      <p:sp>
        <p:nvSpPr>
          <p:cNvPr id="100141" name="F4Bg"/>
          <p:cNvSpPr txBox="1"/>
          <p:nvPr/>
        </p:nvSpPr>
        <p:spPr>
          <a:xfrm xmlns:a="http://schemas.openxmlformats.org/drawingml/2006/main">
            <a:off x="576000" y="3924000"/>
            <a:ext cx="6192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85149"/>
              </a:solidFill>
            </a:endParaRPr>
          </a:p>
        </p:txBody>
      </p:sp>
      <p:sp>
        <p:nvSpPr>
          <p:cNvPr id="100142" name="F4T"/>
          <p:cNvSpPr txBox="1"/>
          <p:nvPr/>
        </p:nvSpPr>
        <p:spPr>
          <a:xfrm xmlns:a="http://schemas.openxmlformats.org/drawingml/2006/main">
            <a:off x="648000" y="3960000"/>
            <a:ext cx="6048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85149"/>
                </a:solidFill>
              </a:rPr>
              <a:t>🔧  MAINTENANCE AGENT   →   Vibration 0.89 (↑37%)  ·  Health 61%  ·  Failure Risk 72%  ·  HIGH</a:t>
            </a:r>
          </a:p>
        </p:txBody>
      </p:sp>
      <p:sp>
        <p:nvSpPr>
          <p:cNvPr id="100143" name="Arr4"/>
          <p:cNvSpPr txBox="1"/>
          <p:nvPr/>
        </p:nvSpPr>
        <p:spPr>
          <a:xfrm xmlns:a="http://schemas.openxmlformats.org/drawingml/2006/main">
            <a:off x="3420000" y="4428000"/>
            <a:ext cx="5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484F58"/>
                </a:solidFill>
              </a:rPr>
              <a:t>↓</a:t>
            </a:r>
          </a:p>
        </p:txBody>
      </p:sp>
      <p:sp>
        <p:nvSpPr>
          <p:cNvPr id="100144" name="F5Bg"/>
          <p:cNvSpPr txBox="1"/>
          <p:nvPr/>
        </p:nvSpPr>
        <p:spPr>
          <a:xfrm xmlns:a="http://schemas.openxmlformats.org/drawingml/2006/main">
            <a:off x="576000" y="4752000"/>
            <a:ext cx="6192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58A6FF"/>
              </a:solidFill>
            </a:endParaRPr>
          </a:p>
        </p:txBody>
      </p:sp>
      <p:sp>
        <p:nvSpPr>
          <p:cNvPr id="100145" name="F5T"/>
          <p:cNvSpPr txBox="1"/>
          <p:nvPr/>
        </p:nvSpPr>
        <p:spPr>
          <a:xfrm xmlns:a="http://schemas.openxmlformats.org/drawingml/2006/main">
            <a:off x="648000" y="4788000"/>
            <a:ext cx="6048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58A6FF"/>
                </a:solidFill>
              </a:rPr>
              <a:t>🔌  GRID AGENT   →   Curtailment risk 45 MW  ·  Pre-charge storage by 11:00  ·  Confidence 89%</a:t>
            </a:r>
          </a:p>
        </p:txBody>
      </p:sp>
      <p:sp>
        <p:nvSpPr>
          <p:cNvPr id="100146" name="Arr5"/>
          <p:cNvSpPr txBox="1"/>
          <p:nvPr/>
        </p:nvSpPr>
        <p:spPr>
          <a:xfrm xmlns:a="http://schemas.openxmlformats.org/drawingml/2006/main">
            <a:off x="3420000" y="5256000"/>
            <a:ext cx="5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484F58"/>
                </a:solidFill>
              </a:rPr>
              <a:t>↓</a:t>
            </a:r>
          </a:p>
        </p:txBody>
      </p:sp>
      <p:sp>
        <p:nvSpPr>
          <p:cNvPr id="100147" name="F6Bg"/>
          <p:cNvSpPr txBox="1"/>
          <p:nvPr/>
        </p:nvSpPr>
        <p:spPr>
          <a:xfrm xmlns:a="http://schemas.openxmlformats.org/drawingml/2006/main">
            <a:off x="576000" y="5580000"/>
            <a:ext cx="6192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FB950"/>
              </a:solidFill>
            </a:endParaRPr>
          </a:p>
        </p:txBody>
      </p:sp>
      <p:sp>
        <p:nvSpPr>
          <p:cNvPr id="100148" name="F6T"/>
          <p:cNvSpPr txBox="1"/>
          <p:nvPr/>
        </p:nvSpPr>
        <p:spPr>
          <a:xfrm xmlns:a="http://schemas.openxmlformats.org/drawingml/2006/main">
            <a:off x="648000" y="5616000"/>
            <a:ext cx="6048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FB950"/>
                </a:solidFill>
              </a:rPr>
              <a:t>⚡  DASHBOARD AGENT   →   Priority 1: Inspect WT-07 gearbox  ·  Priority 2: Mitigate curtailment by 11:00</a:t>
            </a:r>
          </a:p>
        </p:txBody>
      </p:sp>
      <p:sp>
        <p:nvSpPr>
          <p:cNvPr id="100149" name="TimelineBg"/>
          <p:cNvSpPr txBox="1"/>
          <p:nvPr/>
        </p:nvSpPr>
        <p:spPr>
          <a:xfrm xmlns:a="http://schemas.openxmlformats.org/drawingml/2006/main">
            <a:off x="7380000" y="1260000"/>
            <a:ext cx="4500000" cy="50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150" name="THead"/>
          <p:cNvSpPr txBox="1"/>
          <p:nvPr/>
        </p:nvSpPr>
        <p:spPr>
          <a:xfrm xmlns:a="http://schemas.openxmlformats.org/drawingml/2006/main">
            <a:off x="7452000" y="1332000"/>
            <a:ext cx="43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FB950"/>
                </a:solidFill>
              </a:rPr>
              <a:t>🟢 LIVE AGENT TIMELINE</a:t>
            </a:r>
          </a:p>
        </p:txBody>
      </p:sp>
      <p:sp>
        <p:nvSpPr>
          <p:cNvPr id="100151" name="T1"/>
          <p:cNvSpPr txBox="1"/>
          <p:nvPr/>
        </p:nvSpPr>
        <p:spPr>
          <a:xfrm xmlns:a="http://schemas.openxmlformats.org/drawingml/2006/main">
            <a:off x="7452000" y="1656000"/>
            <a:ext cx="43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38BDF8"/>
                </a:solidFill>
              </a:rPr>
              <a:t>09:42:03  🌤 Weather Agent</a:t>
            </a:r>
          </a:p>
          <a:p xmlns:a="http://schemas.openxmlformats.org/drawingml/2006/main">
            <a:r>
              <a:rPr lang="en-US" sz="900">
                <a:solidFill>
                  <a:srgbClr val="38BDF8"/>
                </a:solidFill>
              </a:rPr>
              <a:t>Forecast analyzed — wind 8.4 m/s</a:t>
            </a:r>
          </a:p>
        </p:txBody>
      </p:sp>
      <p:sp>
        <p:nvSpPr>
          <p:cNvPr id="100152" name="T2"/>
          <p:cNvSpPr txBox="1"/>
          <p:nvPr/>
        </p:nvSpPr>
        <p:spPr>
          <a:xfrm xmlns:a="http://schemas.openxmlformats.org/drawingml/2006/main">
            <a:off x="7452000" y="2124000"/>
            <a:ext cx="43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F59E0B"/>
                </a:solidFill>
              </a:rPr>
              <a:t>09:42:04  📈 Forecast Agent</a:t>
            </a:r>
          </a:p>
          <a:p xmlns:a="http://schemas.openxmlformats.org/drawingml/2006/main">
            <a:r>
              <a:rPr lang="en-US" sz="900">
                <a:solidFill>
                  <a:srgbClr val="F59E0B"/>
                </a:solidFill>
              </a:rPr>
              <a:t>Solar peak 485 MW at 12:30 updated</a:t>
            </a:r>
          </a:p>
        </p:txBody>
      </p:sp>
      <p:sp>
        <p:nvSpPr>
          <p:cNvPr id="100153" name="T3"/>
          <p:cNvSpPr txBox="1"/>
          <p:nvPr/>
        </p:nvSpPr>
        <p:spPr>
          <a:xfrm xmlns:a="http://schemas.openxmlformats.org/drawingml/2006/main">
            <a:off x="7452000" y="2592000"/>
            <a:ext cx="43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FF7B72"/>
                </a:solidFill>
              </a:rPr>
              <a:t>09:42:05  📡 Performance Agent</a:t>
            </a:r>
          </a:p>
          <a:p xmlns:a="http://schemas.openxmlformats.org/drawingml/2006/main">
            <a:r>
              <a:rPr lang="en-US" sz="900">
                <a:solidFill>
                  <a:srgbClr val="FF7B72"/>
                </a:solidFill>
              </a:rPr>
              <a:t>WT-07 ANOMALY — 18% below forecast</a:t>
            </a:r>
          </a:p>
        </p:txBody>
      </p:sp>
      <p:sp>
        <p:nvSpPr>
          <p:cNvPr id="100154" name="T4"/>
          <p:cNvSpPr txBox="1"/>
          <p:nvPr/>
        </p:nvSpPr>
        <p:spPr>
          <a:xfrm xmlns:a="http://schemas.openxmlformats.org/drawingml/2006/main">
            <a:off x="7452000" y="3060000"/>
            <a:ext cx="43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F85149"/>
                </a:solidFill>
              </a:rPr>
              <a:t>09:42:06  🔧 Maintenance Agent</a:t>
            </a:r>
          </a:p>
          <a:p xmlns:a="http://schemas.openxmlformats.org/drawingml/2006/main">
            <a:r>
              <a:rPr lang="en-US" sz="900">
                <a:solidFill>
                  <a:srgbClr val="F85149"/>
                </a:solidFill>
              </a:rPr>
              <a:t>WT-07 risk: HIGH (72%)  Vibration +37%</a:t>
            </a:r>
          </a:p>
        </p:txBody>
      </p:sp>
      <p:sp>
        <p:nvSpPr>
          <p:cNvPr id="100155" name="T5"/>
          <p:cNvSpPr txBox="1"/>
          <p:nvPr/>
        </p:nvSpPr>
        <p:spPr>
          <a:xfrm xmlns:a="http://schemas.openxmlformats.org/drawingml/2006/main">
            <a:off x="7452000" y="3528000"/>
            <a:ext cx="43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58A6FF"/>
                </a:solidFill>
              </a:rPr>
              <a:t>09:42:07  🔌 Grid Agent</a:t>
            </a:r>
          </a:p>
          <a:p xmlns:a="http://schemas.openxmlformats.org/drawingml/2006/main">
            <a:r>
              <a:rPr lang="en-US" sz="900">
                <a:solidFill>
                  <a:srgbClr val="58A6FF"/>
                </a:solidFill>
              </a:rPr>
              <a:t>Curtailment risk 45 MW — export rec.</a:t>
            </a:r>
          </a:p>
        </p:txBody>
      </p:sp>
      <p:sp>
        <p:nvSpPr>
          <p:cNvPr id="100156" name="T6"/>
          <p:cNvSpPr txBox="1"/>
          <p:nvPr/>
        </p:nvSpPr>
        <p:spPr>
          <a:xfrm xmlns:a="http://schemas.openxmlformats.org/drawingml/2006/main">
            <a:off x="7452000" y="3996000"/>
            <a:ext cx="43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3FB950"/>
                </a:solidFill>
              </a:rPr>
              <a:t>09:42:08  ⚡ Dashboard Agent</a:t>
            </a:r>
          </a:p>
          <a:p xmlns:a="http://schemas.openxmlformats.org/drawingml/2006/main">
            <a:r>
              <a:rPr lang="en-US" sz="900">
                <a:solidFill>
                  <a:srgbClr val="3FB950"/>
                </a:solidFill>
              </a:rPr>
              <a:t>Priorities updated — 2 operator actions</a:t>
            </a:r>
          </a:p>
        </p:txBody>
      </p:sp>
      <p:sp>
        <p:nvSpPr>
          <p:cNvPr id="100157" name="TResult"/>
          <p:cNvSpPr txBox="1"/>
          <p:nvPr/>
        </p:nvSpPr>
        <p:spPr>
          <a:xfrm xmlns:a="http://schemas.openxmlformats.org/drawingml/2006/main">
            <a:off x="7452000" y="4500000"/>
            <a:ext cx="4320000" cy="12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58A6FF"/>
                </a:solidFill>
              </a:rPr>
              <a:t>IBM GRANITE RESPONSE:</a:t>
            </a:r>
          </a:p>
          <a:p xmlns:a="http://schemas.openxmlformats.org/drawingml/2006/main">
            <a:r>
              <a:rPr lang="en-US" sz="1100" b="0">
                <a:solidFill>
                  <a:srgbClr val="58A6FF"/>
                </a:solidFill>
              </a:rPr>
              <a:t>"Inspect WT-07 gearbox within 2–4 days.</a:t>
            </a:r>
          </a:p>
          <a:p xmlns:a="http://schemas.openxmlformats.org/drawingml/2006/main">
            <a:r>
              <a:rPr lang="en-US" sz="1100" b="0">
                <a:solidFill>
                  <a:srgbClr val="58A6FF"/>
                </a:solidFill>
              </a:rPr>
              <a:t>Pre-charge storage by 11:00 to avoid</a:t>
            </a:r>
          </a:p>
          <a:p xmlns:a="http://schemas.openxmlformats.org/drawingml/2006/main">
            <a:r>
              <a:rPr lang="en-US" sz="1100" b="0">
                <a:solidFill>
                  <a:srgbClr val="58A6FF"/>
                </a:solidFill>
              </a:rPr>
              <a:t>curtailment. Confidence: 87%."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158" name="Accent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B95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FB950"/>
              </a:solidFill>
            </a:endParaRPr>
          </a:p>
        </p:txBody>
      </p:sp>
      <p:sp>
        <p:nvSpPr>
          <p:cNvPr id="100159" name="SlideLbl"/>
          <p:cNvSpPr txBox="1"/>
          <p:nvPr/>
        </p:nvSpPr>
        <p:spPr>
          <a:xfrm xmlns:a="http://schemas.openxmlformats.org/drawingml/2006/main">
            <a:off x="540000" y="252000"/>
            <a:ext cx="43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FB950"/>
                </a:solidFill>
              </a:rPr>
              <a:t>COMMAND CENTER</a:t>
            </a:r>
          </a:p>
        </p:txBody>
      </p:sp>
      <p:sp>
        <p:nvSpPr>
          <p:cNvPr id="100160" name="SlideH"/>
          <p:cNvSpPr txBox="1"/>
          <p:nvPr/>
        </p:nvSpPr>
        <p:spPr>
          <a:xfrm xmlns:a="http://schemas.openxmlformats.org/drawingml/2006/main">
            <a:off x="540000" y="504000"/>
            <a:ext cx="576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E6EDF3"/>
                </a:solidFill>
              </a:rPr>
              <a:t>Everything the Operator Needs.</a:t>
            </a:r>
          </a:p>
          <a:p xmlns:a="http://schemas.openxmlformats.org/drawingml/2006/main">
            <a:r>
              <a:rPr lang="en-US" sz="2400" b="1">
                <a:solidFill>
                  <a:srgbClr val="E6EDF3"/>
                </a:solidFill>
              </a:rPr>
              <a:t>One Command Center.</a:t>
            </a:r>
          </a:p>
        </p:txBody>
      </p:sp>
      <p:sp>
        <p:nvSpPr>
          <p:cNvPr id="100161" name="SubH"/>
          <p:cNvSpPr txBox="1"/>
          <p:nvPr/>
        </p:nvSpPr>
        <p:spPr>
          <a:xfrm xmlns:a="http://schemas.openxmlformats.org/drawingml/2006/main">
            <a:off x="540000" y="1332000"/>
            <a:ext cx="576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>
                <a:solidFill>
                  <a:srgbClr val="7D8590"/>
                </a:solidFill>
              </a:rPr>
              <a:t>A unified operational view across solar, wind and hybrid assets.</a:t>
            </a:r>
          </a:p>
        </p:txBody>
      </p:sp>
      <p:sp>
        <p:nvSpPr>
          <p:cNvPr id="100162" name="AppBg"/>
          <p:cNvSpPr txBox="1"/>
          <p:nvPr/>
        </p:nvSpPr>
        <p:spPr>
          <a:xfrm xmlns:a="http://schemas.openxmlformats.org/drawingml/2006/main">
            <a:off x="432000" y="1692000"/>
            <a:ext cx="11628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163" name="AppNavBg"/>
          <p:cNvSpPr txBox="1"/>
          <p:nvPr/>
        </p:nvSpPr>
        <p:spPr>
          <a:xfrm xmlns:a="http://schemas.openxmlformats.org/drawingml/2006/main">
            <a:off x="432000" y="1692000"/>
            <a:ext cx="1440000" cy="46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164" name="SBrand"/>
          <p:cNvSpPr txBox="1"/>
          <p:nvPr/>
        </p:nvSpPr>
        <p:spPr>
          <a:xfrm xmlns:a="http://schemas.openxmlformats.org/drawingml/2006/main">
            <a:off x="504000" y="1800000"/>
            <a:ext cx="126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100" b="1">
                <a:solidFill>
                  <a:srgbClr val="3FB950"/>
                </a:solidFill>
              </a:rPr>
              <a:t>🌿</a:t>
            </a:r>
          </a:p>
          <a:p xmlns:a="http://schemas.openxmlformats.org/drawingml/2006/main">
            <a:pPr algn="ctr"/>
            <a:r>
              <a:rPr lang="en-US" sz="1100" b="1">
                <a:solidFill>
                  <a:srgbClr val="3FB950"/>
                </a:solidFill>
              </a:rPr>
              <a:t>GreenPulse</a:t>
            </a:r>
          </a:p>
          <a:p xmlns:a="http://schemas.openxmlformats.org/drawingml/2006/main">
            <a:pPr algn="ctr"/>
            <a:r>
              <a:rPr lang="en-US" sz="1100" b="1">
                <a:solidFill>
                  <a:srgbClr val="3FB950"/>
                </a:solidFill>
              </a:rPr>
              <a:t>AI</a:t>
            </a:r>
          </a:p>
        </p:txBody>
      </p:sp>
      <p:sp>
        <p:nvSpPr>
          <p:cNvPr id="100165" name="SNav"/>
          <p:cNvSpPr txBox="1"/>
          <p:nvPr/>
        </p:nvSpPr>
        <p:spPr>
          <a:xfrm xmlns:a="http://schemas.openxmlformats.org/drawingml/2006/main">
            <a:off x="504000" y="2448000"/>
            <a:ext cx="1296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900">
                <a:solidFill>
                  <a:srgbClr val="7D8590"/>
                </a:solidFill>
              </a:rPr>
              <a:t>⚡ Command Ctr</a:t>
            </a:r>
          </a:p>
          <a:p xmlns:a="http://schemas.openxmlformats.org/drawingml/2006/main">
            <a:pPr algn="l"/>
            <a:r>
              <a:rPr lang="en-US" sz="900">
                <a:solidFill>
                  <a:srgbClr val="7D8590"/>
                </a:solidFill>
              </a:rPr>
              <a:t>📡 Asset Monitor</a:t>
            </a:r>
          </a:p>
          <a:p xmlns:a="http://schemas.openxmlformats.org/drawingml/2006/main">
            <a:pPr algn="l"/>
            <a:r>
              <a:rPr lang="en-US" sz="900">
                <a:solidFill>
                  <a:srgbClr val="7D8590"/>
                </a:solidFill>
              </a:rPr>
              <a:t>🔧 Maintenance</a:t>
            </a:r>
          </a:p>
          <a:p xmlns:a="http://schemas.openxmlformats.org/drawingml/2006/main">
            <a:pPr algn="l"/>
            <a:r>
              <a:rPr lang="en-US" sz="900">
                <a:solidFill>
                  <a:srgbClr val="7D8590"/>
                </a:solidFill>
              </a:rPr>
              <a:t>📈 Forecast</a:t>
            </a:r>
          </a:p>
          <a:p xmlns:a="http://schemas.openxmlformats.org/drawingml/2006/main">
            <a:pPr algn="l"/>
            <a:r>
              <a:rPr lang="en-US" sz="900">
                <a:solidFill>
                  <a:srgbClr val="7D8590"/>
                </a:solidFill>
              </a:rPr>
              <a:t>🌤 Weather</a:t>
            </a:r>
          </a:p>
          <a:p xmlns:a="http://schemas.openxmlformats.org/drawingml/2006/main">
            <a:pPr algn="l"/>
            <a:r>
              <a:rPr lang="en-US" sz="900">
                <a:solidFill>
                  <a:srgbClr val="7D8590"/>
                </a:solidFill>
              </a:rPr>
              <a:t>🔌 Grid</a:t>
            </a:r>
          </a:p>
          <a:p xmlns:a="http://schemas.openxmlformats.org/drawingml/2006/main">
            <a:pPr algn="l"/>
            <a:r>
              <a:rPr lang="en-US" sz="900">
                <a:solidFill>
                  <a:srgbClr val="7D8590"/>
                </a:solidFill>
              </a:rPr>
              <a:t>🤖 AI Copilot</a:t>
            </a:r>
          </a:p>
          <a:p xmlns:a="http://schemas.openxmlformats.org/drawingml/2006/main">
            <a:pPr algn="l"/>
            <a:r>
              <a:rPr lang="en-US" sz="900">
                <a:solidFill>
                  <a:srgbClr val="7D8590"/>
                </a:solidFill>
              </a:rPr>
              <a:t>🧠 Agents</a:t>
            </a:r>
          </a:p>
          <a:p xmlns:a="http://schemas.openxmlformats.org/drawingml/2006/main">
            <a:pPr algn="l"/>
            <a:r>
              <a:rPr lang="en-US" sz="900">
                <a:solidFill>
                  <a:srgbClr val="7D8590"/>
                </a:solidFill>
              </a:rPr>
              <a:t>🔔 Alerts</a:t>
            </a:r>
          </a:p>
        </p:txBody>
      </p:sp>
      <p:sp>
        <p:nvSpPr>
          <p:cNvPr id="100166" name="PgHead"/>
          <p:cNvSpPr txBox="1"/>
          <p:nvPr/>
        </p:nvSpPr>
        <p:spPr>
          <a:xfrm xmlns:a="http://schemas.openxmlformats.org/drawingml/2006/main">
            <a:off x="2016000" y="1800000"/>
            <a:ext cx="50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1600" b="1">
                <a:solidFill>
                  <a:srgbClr val="E6EDF3"/>
                </a:solidFill>
              </a:rPr>
              <a:t>⚡  Command Center</a:t>
            </a:r>
          </a:p>
        </p:txBody>
      </p:sp>
      <p:sp>
        <p:nvSpPr>
          <p:cNvPr id="100167" name="PgSub"/>
          <p:cNvSpPr txBox="1"/>
          <p:nvPr/>
        </p:nvSpPr>
        <p:spPr>
          <a:xfrm xmlns:a="http://schemas.openxmlformats.org/drawingml/2006/main">
            <a:off x="2016000" y="2124000"/>
            <a:ext cx="648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900">
                <a:solidFill>
                  <a:srgbClr val="484F58"/>
                </a:solidFill>
              </a:rPr>
              <a:t>16 assets monitored  ·  Kutch &amp; Banaskantha  ·  Prototype demo data</a:t>
            </a:r>
          </a:p>
        </p:txBody>
      </p:sp>
      <p:sp>
        <p:nvSpPr>
          <p:cNvPr id="100168" name="K1"/>
          <p:cNvSpPr txBox="1"/>
          <p:nvPr/>
        </p:nvSpPr>
        <p:spPr>
          <a:xfrm xmlns:a="http://schemas.openxmlformats.org/drawingml/2006/main">
            <a:off x="2016000" y="2412000"/>
            <a:ext cx="144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3FB950"/>
                </a:solidFill>
              </a:rPr>
              <a:t>572 MW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3FB950"/>
                </a:solidFill>
              </a:rPr>
              <a:t>Current Gen</a:t>
            </a:r>
          </a:p>
        </p:txBody>
      </p:sp>
      <p:sp>
        <p:nvSpPr>
          <p:cNvPr id="100169" name="K2"/>
          <p:cNvSpPr txBox="1"/>
          <p:nvPr/>
        </p:nvSpPr>
        <p:spPr>
          <a:xfrm xmlns:a="http://schemas.openxmlformats.org/drawingml/2006/main">
            <a:off x="3564000" y="2412000"/>
            <a:ext cx="144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58A6FF"/>
                </a:solidFill>
              </a:rPr>
              <a:t>88.4%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58A6FF"/>
                </a:solidFill>
              </a:rPr>
              <a:t>Perf Score</a:t>
            </a:r>
          </a:p>
        </p:txBody>
      </p:sp>
      <p:sp>
        <p:nvSpPr>
          <p:cNvPr id="100170" name="K3"/>
          <p:cNvSpPr txBox="1"/>
          <p:nvPr/>
        </p:nvSpPr>
        <p:spPr>
          <a:xfrm xmlns:a="http://schemas.openxmlformats.org/drawingml/2006/main">
            <a:off x="5112000" y="2412000"/>
            <a:ext cx="144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E6EDF3"/>
                </a:solidFill>
              </a:rPr>
              <a:t>14 / 16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E6EDF3"/>
                </a:solidFill>
              </a:rPr>
              <a:t>Online</a:t>
            </a:r>
          </a:p>
        </p:txBody>
      </p:sp>
      <p:sp>
        <p:nvSpPr>
          <p:cNvPr id="100171" name="K4"/>
          <p:cNvSpPr txBox="1"/>
          <p:nvPr/>
        </p:nvSpPr>
        <p:spPr>
          <a:xfrm xmlns:a="http://schemas.openxmlformats.org/drawingml/2006/main">
            <a:off x="6660000" y="2412000"/>
            <a:ext cx="162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59E0B"/>
                </a:solidFill>
              </a:rPr>
              <a:t>4,280 MWh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F59E0B"/>
                </a:solidFill>
              </a:rPr>
              <a:t>Daily Fcst</a:t>
            </a:r>
          </a:p>
        </p:txBody>
      </p:sp>
      <p:sp>
        <p:nvSpPr>
          <p:cNvPr id="100172" name="K5"/>
          <p:cNvSpPr txBox="1"/>
          <p:nvPr/>
        </p:nvSpPr>
        <p:spPr>
          <a:xfrm xmlns:a="http://schemas.openxmlformats.org/drawingml/2006/main">
            <a:off x="8388000" y="2412000"/>
            <a:ext cx="144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F85149"/>
                </a:solidFill>
              </a:rPr>
              <a:t>3 HIGH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F85149"/>
                </a:solidFill>
              </a:rPr>
              <a:t>Alerts</a:t>
            </a:r>
          </a:p>
        </p:txBody>
      </p:sp>
      <p:sp>
        <p:nvSpPr>
          <p:cNvPr id="100173" name="ChBg"/>
          <p:cNvSpPr txBox="1"/>
          <p:nvPr/>
        </p:nvSpPr>
        <p:spPr>
          <a:xfrm xmlns:a="http://schemas.openxmlformats.org/drawingml/2006/main">
            <a:off x="2016000" y="3204000"/>
            <a:ext cx="558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174" name="ChHd"/>
          <p:cNvSpPr txBox="1"/>
          <p:nvPr/>
        </p:nvSpPr>
        <p:spPr>
          <a:xfrm xmlns:a="http://schemas.openxmlformats.org/drawingml/2006/main">
            <a:off x="2088000" y="3276000"/>
            <a:ext cx="54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900">
                <a:solidFill>
                  <a:srgbClr val="7D8590"/>
                </a:solidFill>
              </a:rPr>
              <a:t>Solar + Wind Generation — 24h   |   MW</a:t>
            </a:r>
          </a:p>
        </p:txBody>
      </p:sp>
      <p:sp>
        <p:nvSpPr>
          <p:cNvPr id="100175" name="ChLine"/>
          <p:cNvSpPr txBox="1"/>
          <p:nvPr/>
        </p:nvSpPr>
        <p:spPr>
          <a:xfrm xmlns:a="http://schemas.openxmlformats.org/drawingml/2006/main">
            <a:off x="2088000" y="4860000"/>
            <a:ext cx="540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800">
                <a:solidFill>
                  <a:srgbClr val="484F58"/>
                </a:solidFill>
              </a:rPr>
              <a:t>06:00    08:00    10:00    12:00    14:00    16:00    18:00    20:00</a:t>
            </a:r>
          </a:p>
        </p:txBody>
      </p:sp>
      <p:sp>
        <p:nvSpPr>
          <p:cNvPr id="100176" name="ChBars"/>
          <p:cNvSpPr txBox="1"/>
          <p:nvPr/>
        </p:nvSpPr>
        <p:spPr>
          <a:xfrm xmlns:a="http://schemas.openxmlformats.org/drawingml/2006/main">
            <a:off x="2088000" y="3564000"/>
            <a:ext cx="5400000" cy="12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59E0B"/>
                </a:solidFill>
              </a:rPr>
              <a:t>▁▂▄▆▇█▇▆▅▃▂▁</a:t>
            </a:r>
          </a:p>
          <a:p xmlns:a="http://schemas.openxmlformats.org/drawingml/2006/main">
            <a:r>
              <a:rPr lang="en-US" sz="2000">
                <a:solidFill>
                  <a:srgbClr val="F59E0B"/>
                </a:solidFill>
              </a:rPr>
              <a:t>☀ Solar (F59E0B)    🌬 Wind (38BDF8)</a:t>
            </a:r>
          </a:p>
        </p:txBody>
      </p:sp>
      <p:sp>
        <p:nvSpPr>
          <p:cNvPr id="100177" name="GridBg"/>
          <p:cNvSpPr txBox="1"/>
          <p:nvPr/>
        </p:nvSpPr>
        <p:spPr>
          <a:xfrm xmlns:a="http://schemas.openxmlformats.org/drawingml/2006/main">
            <a:off x="7740000" y="3204000"/>
            <a:ext cx="4248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178" name="GridHd"/>
          <p:cNvSpPr txBox="1"/>
          <p:nvPr/>
        </p:nvSpPr>
        <p:spPr>
          <a:xfrm xmlns:a="http://schemas.openxmlformats.org/drawingml/2006/main">
            <a:off x="7812000" y="3276000"/>
            <a:ext cx="4068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900">
                <a:solidFill>
                  <a:srgbClr val="7D8590"/>
                </a:solidFill>
              </a:rPr>
              <a:t>Grid Balance — Generation vs Demand</a:t>
            </a:r>
          </a:p>
        </p:txBody>
      </p:sp>
      <p:sp>
        <p:nvSpPr>
          <p:cNvPr id="100179" name="GRow1"/>
          <p:cNvSpPr txBox="1"/>
          <p:nvPr/>
        </p:nvSpPr>
        <p:spPr>
          <a:xfrm xmlns:a="http://schemas.openxmlformats.org/drawingml/2006/main">
            <a:off x="7812000" y="3564000"/>
            <a:ext cx="406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3FB950"/>
                </a:solidFill>
              </a:rPr>
              <a:t>Generation:  572 MW   ████████████████████  (89%)</a:t>
            </a:r>
          </a:p>
        </p:txBody>
      </p:sp>
      <p:sp>
        <p:nvSpPr>
          <p:cNvPr id="100180" name="GRow2"/>
          <p:cNvSpPr txBox="1"/>
          <p:nvPr/>
        </p:nvSpPr>
        <p:spPr>
          <a:xfrm xmlns:a="http://schemas.openxmlformats.org/drawingml/2006/main">
            <a:off x="7812000" y="3852000"/>
            <a:ext cx="406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58A6FF"/>
                </a:solidFill>
              </a:rPr>
              <a:t>Demand:      341 MW   ████████████          (53%)</a:t>
            </a:r>
          </a:p>
        </p:txBody>
      </p:sp>
      <p:sp>
        <p:nvSpPr>
          <p:cNvPr id="100181" name="GRow3"/>
          <p:cNvSpPr txBox="1"/>
          <p:nvPr/>
        </p:nvSpPr>
        <p:spPr>
          <a:xfrm xmlns:a="http://schemas.openxmlformats.org/drawingml/2006/main">
            <a:off x="7812000" y="4140000"/>
            <a:ext cx="406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BC8CFF"/>
                </a:solidFill>
              </a:rPr>
              <a:t>Export:       40 MW   ███                    (6%)</a:t>
            </a:r>
          </a:p>
        </p:txBody>
      </p:sp>
      <p:sp>
        <p:nvSpPr>
          <p:cNvPr id="100182" name="GRow4"/>
          <p:cNvSpPr txBox="1"/>
          <p:nvPr/>
        </p:nvSpPr>
        <p:spPr>
          <a:xfrm xmlns:a="http://schemas.openxmlformats.org/drawingml/2006/main">
            <a:off x="7812000" y="4428000"/>
            <a:ext cx="406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E3B341"/>
                </a:solidFill>
              </a:rPr>
              <a:t>Curtailment:  ⚠  45 MW risk at solar peak</a:t>
            </a:r>
          </a:p>
        </p:txBody>
      </p:sp>
      <p:sp>
        <p:nvSpPr>
          <p:cNvPr id="100183" name="Callout1"/>
          <p:cNvSpPr txBox="1"/>
          <p:nvPr/>
        </p:nvSpPr>
        <p:spPr>
          <a:xfrm xmlns:a="http://schemas.openxmlformats.org/drawingml/2006/main">
            <a:off x="9900000" y="540000"/>
            <a:ext cx="198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FB950"/>
                </a:solidFill>
              </a:rPr>
              <a:t>▼ Live generation</a:t>
            </a:r>
          </a:p>
          <a:p xmlns:a="http://schemas.openxmlformats.org/drawingml/2006/main">
            <a:r>
              <a:rPr lang="en-US" sz="1100" b="1">
                <a:solidFill>
                  <a:srgbClr val="3FB950"/>
                </a:solidFill>
              </a:rPr>
              <a:t>    by energy type</a:t>
            </a:r>
          </a:p>
        </p:txBody>
      </p:sp>
      <p:sp>
        <p:nvSpPr>
          <p:cNvPr id="100184" name="Callout2"/>
          <p:cNvSpPr txBox="1"/>
          <p:nvPr/>
        </p:nvSpPr>
        <p:spPr>
          <a:xfrm xmlns:a="http://schemas.openxmlformats.org/drawingml/2006/main">
            <a:off x="2160000" y="540000"/>
            <a:ext cx="198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85149"/>
                </a:solidFill>
              </a:rPr>
              <a:t>▼ Real-time</a:t>
            </a:r>
          </a:p>
          <a:p xmlns:a="http://schemas.openxmlformats.org/drawingml/2006/main">
            <a:r>
              <a:rPr lang="en-US" sz="1100" b="1">
                <a:solidFill>
                  <a:srgbClr val="F85149"/>
                </a:solidFill>
              </a:rPr>
              <a:t>    critical alerts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185" name="Accent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7B72"/>
              </a:solidFill>
            </a:endParaRPr>
          </a:p>
        </p:txBody>
      </p:sp>
      <p:sp>
        <p:nvSpPr>
          <p:cNvPr id="100186" name="SlideLbl"/>
          <p:cNvSpPr txBox="1"/>
          <p:nvPr/>
        </p:nvSpPr>
        <p:spPr>
          <a:xfrm xmlns:a="http://schemas.openxmlformats.org/drawingml/2006/main">
            <a:off x="540000" y="252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7B72"/>
                </a:solidFill>
              </a:rPr>
              <a:t>PREDICTIVE MAINTENANCE</a:t>
            </a:r>
          </a:p>
        </p:txBody>
      </p:sp>
      <p:sp>
        <p:nvSpPr>
          <p:cNvPr id="100187" name="SlideH"/>
          <p:cNvSpPr txBox="1"/>
          <p:nvPr/>
        </p:nvSpPr>
        <p:spPr>
          <a:xfrm xmlns:a="http://schemas.openxmlformats.org/drawingml/2006/main">
            <a:off x="540000" y="504000"/>
            <a:ext cx="648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E6EDF3"/>
                </a:solidFill>
              </a:rPr>
              <a:t>Detect Failure Before</a:t>
            </a:r>
          </a:p>
          <a:p xmlns:a="http://schemas.openxmlformats.org/drawingml/2006/main">
            <a:r>
              <a:rPr lang="en-US" sz="2600" b="1">
                <a:solidFill>
                  <a:srgbClr val="E6EDF3"/>
                </a:solidFill>
              </a:rPr>
              <a:t>It Becomes Downtime</a:t>
            </a:r>
          </a:p>
        </p:txBody>
      </p:sp>
      <p:sp>
        <p:nvSpPr>
          <p:cNvPr id="100188" name="WT07Bg"/>
          <p:cNvSpPr txBox="1"/>
          <p:nvPr/>
        </p:nvSpPr>
        <p:spPr>
          <a:xfrm xmlns:a="http://schemas.openxmlformats.org/drawingml/2006/main">
            <a:off x="432000" y="1440000"/>
            <a:ext cx="6300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85149"/>
              </a:solidFill>
            </a:endParaRPr>
          </a:p>
        </p:txBody>
      </p:sp>
      <p:sp>
        <p:nvSpPr>
          <p:cNvPr id="100189" name="WT07H"/>
          <p:cNvSpPr txBox="1"/>
          <p:nvPr/>
        </p:nvSpPr>
        <p:spPr>
          <a:xfrm xmlns:a="http://schemas.openxmlformats.org/drawingml/2006/main">
            <a:off x="540000" y="1548000"/>
            <a:ext cx="612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E6EDF3"/>
                </a:solidFill>
              </a:rPr>
              <a:t>WT-07  —  Banaskantha Wind T-07</a:t>
            </a:r>
          </a:p>
        </p:txBody>
      </p:sp>
      <p:sp>
        <p:nvSpPr>
          <p:cNvPr id="100190" name="WT07Risk"/>
          <p:cNvSpPr txBox="1"/>
          <p:nvPr/>
        </p:nvSpPr>
        <p:spPr>
          <a:xfrm xmlns:a="http://schemas.openxmlformats.org/drawingml/2006/main">
            <a:off x="540000" y="1908000"/>
            <a:ext cx="18000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514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FFFFFF"/>
                </a:solidFill>
              </a:rPr>
              <a:t>HIGH RISK</a:t>
            </a:r>
          </a:p>
        </p:txBody>
      </p:sp>
      <p:sp>
        <p:nvSpPr>
          <p:cNvPr id="100191" name="WT07Sub"/>
          <p:cNvSpPr txBox="1"/>
          <p:nvPr/>
        </p:nvSpPr>
        <p:spPr>
          <a:xfrm xmlns:a="http://schemas.openxmlformats.org/drawingml/2006/main">
            <a:off x="2520000" y="1908000"/>
            <a:ext cx="378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Wind Turbine  ·  Banaskantha  ·  2.5 MW capacity</a:t>
            </a:r>
          </a:p>
        </p:txBody>
      </p:sp>
      <p:sp>
        <p:nvSpPr>
          <p:cNvPr id="100192" name="TK1"/>
          <p:cNvSpPr txBox="1"/>
          <p:nvPr/>
        </p:nvSpPr>
        <p:spPr>
          <a:xfrm xmlns:a="http://schemas.openxmlformats.org/drawingml/2006/main">
            <a:off x="540000" y="2340000"/>
            <a:ext cx="144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FF7B72"/>
                </a:solidFill>
              </a:rPr>
              <a:t>1.68 MW</a:t>
            </a:r>
          </a:p>
          <a:p xmlns:a="http://schemas.openxmlformats.org/drawingml/2006/main">
            <a:pPr algn="ctr"/>
            <a:r>
              <a:rPr lang="en-US" sz="1300" b="1">
                <a:solidFill>
                  <a:srgbClr val="FF7B72"/>
                </a:solidFill>
              </a:rPr>
              <a:t>Current Output</a:t>
            </a:r>
          </a:p>
        </p:txBody>
      </p:sp>
      <p:sp>
        <p:nvSpPr>
          <p:cNvPr id="100193" name="TK2"/>
          <p:cNvSpPr txBox="1"/>
          <p:nvPr/>
        </p:nvSpPr>
        <p:spPr>
          <a:xfrm xmlns:a="http://schemas.openxmlformats.org/drawingml/2006/main">
            <a:off x="2088000" y="2340000"/>
            <a:ext cx="144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7D8590"/>
                </a:solidFill>
              </a:rPr>
              <a:t>2.05 MW</a:t>
            </a:r>
          </a:p>
          <a:p xmlns:a="http://schemas.openxmlformats.org/drawingml/2006/main">
            <a:pPr algn="ctr"/>
            <a:r>
              <a:rPr lang="en-US" sz="1300" b="1">
                <a:solidFill>
                  <a:srgbClr val="7D8590"/>
                </a:solidFill>
              </a:rPr>
              <a:t>Expected</a:t>
            </a:r>
          </a:p>
        </p:txBody>
      </p:sp>
      <p:sp>
        <p:nvSpPr>
          <p:cNvPr id="100194" name="TK3"/>
          <p:cNvSpPr txBox="1"/>
          <p:nvPr/>
        </p:nvSpPr>
        <p:spPr>
          <a:xfrm xmlns:a="http://schemas.openxmlformats.org/drawingml/2006/main">
            <a:off x="3636000" y="2340000"/>
            <a:ext cx="1440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E3B341"/>
                </a:solidFill>
              </a:rPr>
              <a:t>61%</a:t>
            </a:r>
          </a:p>
          <a:p xmlns:a="http://schemas.openxmlformats.org/drawingml/2006/main">
            <a:pPr algn="ctr"/>
            <a:r>
              <a:rPr lang="en-US" sz="1300" b="1">
                <a:solidFill>
                  <a:srgbClr val="E3B341"/>
                </a:solidFill>
              </a:rPr>
              <a:t>Health Score</a:t>
            </a:r>
          </a:p>
        </p:txBody>
      </p:sp>
      <p:sp>
        <p:nvSpPr>
          <p:cNvPr id="100195" name="TK4"/>
          <p:cNvSpPr txBox="1"/>
          <p:nvPr/>
        </p:nvSpPr>
        <p:spPr>
          <a:xfrm xmlns:a="http://schemas.openxmlformats.org/drawingml/2006/main">
            <a:off x="5184000" y="2340000"/>
            <a:ext cx="1368000" cy="5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F85149"/>
                </a:solidFill>
              </a:rPr>
              <a:t>72%</a:t>
            </a:r>
          </a:p>
          <a:p xmlns:a="http://schemas.openxmlformats.org/drawingml/2006/main">
            <a:pPr algn="ctr"/>
            <a:r>
              <a:rPr lang="en-US" sz="1300" b="1">
                <a:solidFill>
                  <a:srgbClr val="F85149"/>
                </a:solidFill>
              </a:rPr>
              <a:t>Failure Risk</a:t>
            </a:r>
          </a:p>
        </p:txBody>
      </p:sp>
      <p:sp>
        <p:nvSpPr>
          <p:cNvPr id="100196" name="VibBg"/>
          <p:cNvSpPr txBox="1"/>
          <p:nvPr/>
        </p:nvSpPr>
        <p:spPr>
          <a:xfrm xmlns:a="http://schemas.openxmlformats.org/drawingml/2006/main">
            <a:off x="540000" y="3060000"/>
            <a:ext cx="2988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197" name="VibH"/>
          <p:cNvSpPr txBox="1"/>
          <p:nvPr/>
        </p:nvSpPr>
        <p:spPr>
          <a:xfrm xmlns:a="http://schemas.openxmlformats.org/drawingml/2006/main">
            <a:off x="612000" y="3132000"/>
            <a:ext cx="2808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7D8590"/>
                </a:solidFill>
              </a:rPr>
              <a:t>Vibration Trend (7 days)</a:t>
            </a:r>
          </a:p>
        </p:txBody>
      </p:sp>
      <p:sp>
        <p:nvSpPr>
          <p:cNvPr id="100198" name="VibChart"/>
          <p:cNvSpPr txBox="1"/>
          <p:nvPr/>
        </p:nvSpPr>
        <p:spPr>
          <a:xfrm xmlns:a="http://schemas.openxmlformats.org/drawingml/2006/main">
            <a:off x="612000" y="3384000"/>
            <a:ext cx="2808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F85149"/>
                </a:solidFill>
              </a:rPr>
              <a:t>▁▂▃▄▅▆▇█  0.89  ↑37% ABOVE THRESHOLD</a:t>
            </a:r>
          </a:p>
        </p:txBody>
      </p:sp>
      <p:sp>
        <p:nvSpPr>
          <p:cNvPr id="100199" name="RPMBg"/>
          <p:cNvSpPr txBox="1"/>
          <p:nvPr/>
        </p:nvSpPr>
        <p:spPr>
          <a:xfrm xmlns:a="http://schemas.openxmlformats.org/drawingml/2006/main">
            <a:off x="3636000" y="3060000"/>
            <a:ext cx="2916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200" name="RPMH"/>
          <p:cNvSpPr txBox="1"/>
          <p:nvPr/>
        </p:nvSpPr>
        <p:spPr>
          <a:xfrm xmlns:a="http://schemas.openxmlformats.org/drawingml/2006/main">
            <a:off x="3708000" y="3132000"/>
            <a:ext cx="270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7D8590"/>
                </a:solidFill>
              </a:rPr>
              <a:t>RPM vs Rated</a:t>
            </a:r>
          </a:p>
        </p:txBody>
      </p:sp>
      <p:sp>
        <p:nvSpPr>
          <p:cNvPr id="100201" name="RPMVal"/>
          <p:cNvSpPr txBox="1"/>
          <p:nvPr/>
        </p:nvSpPr>
        <p:spPr>
          <a:xfrm xmlns:a="http://schemas.openxmlformats.org/drawingml/2006/main">
            <a:off x="3708000" y="3384000"/>
            <a:ext cx="2700000" cy="46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E3B341"/>
                </a:solidFill>
              </a:rPr>
              <a:t>10.4 RPM  (rated: 14.2)</a:t>
            </a:r>
          </a:p>
          <a:p xmlns:a="http://schemas.openxmlformats.org/drawingml/2006/main">
            <a:r>
              <a:rPr lang="en-US" sz="1100" b="1">
                <a:solidFill>
                  <a:srgbClr val="E3B341"/>
                </a:solidFill>
              </a:rPr>
              <a:t>▼ 27% below rated speed</a:t>
            </a:r>
          </a:p>
        </p:txBody>
      </p:sp>
      <p:sp>
        <p:nvSpPr>
          <p:cNvPr id="100202" name="AIBg"/>
          <p:cNvSpPr txBox="1"/>
          <p:nvPr/>
        </p:nvSpPr>
        <p:spPr>
          <a:xfrm xmlns:a="http://schemas.openxmlformats.org/drawingml/2006/main">
            <a:off x="540000" y="4104000"/>
            <a:ext cx="6120000" cy="20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58A6FF"/>
              </a:solidFill>
            </a:endParaRPr>
          </a:p>
        </p:txBody>
      </p:sp>
      <p:sp>
        <p:nvSpPr>
          <p:cNvPr id="100203" name="AIHd"/>
          <p:cNvSpPr txBox="1"/>
          <p:nvPr/>
        </p:nvSpPr>
        <p:spPr>
          <a:xfrm xmlns:a="http://schemas.openxmlformats.org/drawingml/2006/main">
            <a:off x="612000" y="4176000"/>
            <a:ext cx="59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58A6FF"/>
                </a:solidFill>
              </a:rPr>
              <a:t>🤖  AI DIAGNOSIS  —  IBM Granite</a:t>
            </a:r>
          </a:p>
        </p:txBody>
      </p:sp>
      <p:sp>
        <p:nvSpPr>
          <p:cNvPr id="100204" name="AIWhat"/>
          <p:cNvSpPr txBox="1"/>
          <p:nvPr/>
        </p:nvSpPr>
        <p:spPr>
          <a:xfrm xmlns:a="http://schemas.openxmlformats.org/drawingml/2006/main">
            <a:off x="612000" y="4464000"/>
            <a:ext cx="59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E6EDF3"/>
                </a:solidFill>
              </a:rPr>
              <a:t>WHAT   →   WT-07 output is 18% below expected under current wind conditions.</a:t>
            </a:r>
          </a:p>
        </p:txBody>
      </p:sp>
      <p:sp>
        <p:nvSpPr>
          <p:cNvPr id="100205" name="AIWhy"/>
          <p:cNvSpPr txBox="1"/>
          <p:nvPr/>
        </p:nvSpPr>
        <p:spPr>
          <a:xfrm xmlns:a="http://schemas.openxmlformats.org/drawingml/2006/main">
            <a:off x="612000" y="4752000"/>
            <a:ext cx="59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E6EDF3"/>
                </a:solidFill>
              </a:rPr>
              <a:t>WHY    →   Vibration 0.89 (threshold 0.65). RPM: 10.4 vs rated 14.2. Health dropped 81% → 61% in 7 days.</a:t>
            </a:r>
          </a:p>
        </p:txBody>
      </p:sp>
      <p:sp>
        <p:nvSpPr>
          <p:cNvPr id="100206" name="AIAct"/>
          <p:cNvSpPr txBox="1"/>
          <p:nvPr/>
        </p:nvSpPr>
        <p:spPr>
          <a:xfrm xmlns:a="http://schemas.openxmlformats.org/drawingml/2006/main">
            <a:off x="612000" y="5040000"/>
            <a:ext cx="59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FB950"/>
                </a:solidFill>
              </a:rPr>
              <a:t>ACTION  →   Schedule gearbox inspection within 2–4 days. Check oil viscosity and bearing wear.</a:t>
            </a:r>
          </a:p>
        </p:txBody>
      </p:sp>
      <p:sp>
        <p:nvSpPr>
          <p:cNvPr id="100207" name="AIConf"/>
          <p:cNvSpPr txBox="1"/>
          <p:nvPr/>
        </p:nvSpPr>
        <p:spPr>
          <a:xfrm xmlns:a="http://schemas.openxmlformats.org/drawingml/2006/main">
            <a:off x="612000" y="5328000"/>
            <a:ext cx="59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58A6FF"/>
                </a:solidFill>
              </a:rPr>
              <a:t>CONFIDENCE   87%   ████████████████████░░░   Prototype estimate</a:t>
            </a:r>
          </a:p>
        </p:txBody>
      </p:sp>
      <p:sp>
        <p:nvSpPr>
          <p:cNvPr id="100208" name="ProtoTag"/>
          <p:cNvSpPr txBox="1"/>
          <p:nvPr/>
        </p:nvSpPr>
        <p:spPr>
          <a:xfrm xmlns:a="http://schemas.openxmlformats.org/drawingml/2006/main">
            <a:off x="612000" y="5832000"/>
            <a:ext cx="59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484F58"/>
                </a:solidFill>
              </a:rPr>
              <a:t>⚠ Simulated sensor data — prototype demonstration</a:t>
            </a:r>
          </a:p>
        </p:txBody>
      </p:sp>
      <p:sp>
        <p:nvSpPr>
          <p:cNvPr id="100209" name="QueueBg"/>
          <p:cNvSpPr txBox="1"/>
          <p:nvPr/>
        </p:nvSpPr>
        <p:spPr>
          <a:xfrm xmlns:a="http://schemas.openxmlformats.org/drawingml/2006/main">
            <a:off x="6912000" y="1440000"/>
            <a:ext cx="5184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210" name="QHead"/>
          <p:cNvSpPr txBox="1"/>
          <p:nvPr/>
        </p:nvSpPr>
        <p:spPr>
          <a:xfrm xmlns:a="http://schemas.openxmlformats.org/drawingml/2006/main">
            <a:off x="6984000" y="1512000"/>
            <a:ext cx="50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7D8590"/>
                </a:solidFill>
              </a:rPr>
              <a:t>Maintenance Priority Queue</a:t>
            </a:r>
          </a:p>
        </p:txBody>
      </p:sp>
      <p:sp>
        <p:nvSpPr>
          <p:cNvPr id="100211" name="QR1"/>
          <p:cNvSpPr txBox="1"/>
          <p:nvPr/>
        </p:nvSpPr>
        <p:spPr>
          <a:xfrm xmlns:a="http://schemas.openxmlformats.org/drawingml/2006/main">
            <a:off x="6984000" y="1872000"/>
            <a:ext cx="50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85149"/>
                </a:solidFill>
              </a:rPr>
              <a:t>1  WT-08  CRITICAL  96%  Emergency drivetrain</a:t>
            </a:r>
          </a:p>
        </p:txBody>
      </p:sp>
      <p:sp>
        <p:nvSpPr>
          <p:cNvPr id="100212" name="QR2"/>
          <p:cNvSpPr txBox="1"/>
          <p:nvPr/>
        </p:nvSpPr>
        <p:spPr>
          <a:xfrm xmlns:a="http://schemas.openxmlformats.org/drawingml/2006/main">
            <a:off x="6984000" y="2232000"/>
            <a:ext cx="50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F7B72"/>
                </a:solidFill>
              </a:rPr>
              <a:t>2  WT-07  HIGH      72%  Gearbox inspection 2–4 days</a:t>
            </a:r>
          </a:p>
        </p:txBody>
      </p:sp>
      <p:sp>
        <p:nvSpPr>
          <p:cNvPr id="100213" name="QR3"/>
          <p:cNvSpPr txBox="1"/>
          <p:nvPr/>
        </p:nvSpPr>
        <p:spPr>
          <a:xfrm xmlns:a="http://schemas.openxmlformats.org/drawingml/2006/main">
            <a:off x="6984000" y="2592000"/>
            <a:ext cx="50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E3B341"/>
                </a:solidFill>
              </a:rPr>
              <a:t>3  SF-04  MEDIUM   48%  Inverter temp 5–7 days</a:t>
            </a:r>
          </a:p>
        </p:txBody>
      </p:sp>
      <p:sp>
        <p:nvSpPr>
          <p:cNvPr id="100214" name="QR4"/>
          <p:cNvSpPr txBox="1"/>
          <p:nvPr/>
        </p:nvSpPr>
        <p:spPr>
          <a:xfrm xmlns:a="http://schemas.openxmlformats.org/drawingml/2006/main">
            <a:off x="6984000" y="2952000"/>
            <a:ext cx="50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E3B341"/>
                </a:solidFill>
              </a:rPr>
              <a:t>4  WT-05  MEDIUM   41%  Blade pitch 7–10 days</a:t>
            </a:r>
          </a:p>
        </p:txBody>
      </p:sp>
      <p:sp>
        <p:nvSpPr>
          <p:cNvPr id="100215" name="QR5"/>
          <p:cNvSpPr txBox="1"/>
          <p:nvPr/>
        </p:nvSpPr>
        <p:spPr>
          <a:xfrm xmlns:a="http://schemas.openxmlformats.org/drawingml/2006/main">
            <a:off x="6984000" y="3312000"/>
            <a:ext cx="50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E3B341"/>
                </a:solidFill>
              </a:rPr>
              <a:t>5  HY-02  MEDIUM   38%  Inverters 10–14 days</a:t>
            </a:r>
          </a:p>
        </p:txBody>
      </p:sp>
      <p:sp>
        <p:nvSpPr>
          <p:cNvPr id="100216" name="QR6"/>
          <p:cNvSpPr txBox="1"/>
          <p:nvPr/>
        </p:nvSpPr>
        <p:spPr>
          <a:xfrm xmlns:a="http://schemas.openxmlformats.org/drawingml/2006/main">
            <a:off x="6984000" y="3672000"/>
            <a:ext cx="504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3FB950"/>
                </a:solidFill>
              </a:rPr>
              <a:t>6  SF-02  LOW       22%  Panel cleaning 14–21 days</a:t>
            </a:r>
          </a:p>
        </p:txBody>
      </p:sp>
      <p:sp>
        <p:nvSpPr>
          <p:cNvPr id="100217" name="ScatterHd"/>
          <p:cNvSpPr txBox="1"/>
          <p:nvPr/>
        </p:nvSpPr>
        <p:spPr>
          <a:xfrm xmlns:a="http://schemas.openxmlformats.org/drawingml/2006/main">
            <a:off x="6984000" y="4140000"/>
            <a:ext cx="50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7D8590"/>
                </a:solidFill>
              </a:rPr>
              <a:t>Risk Matrix — Health vs Failure Risk</a:t>
            </a:r>
          </a:p>
        </p:txBody>
      </p:sp>
      <p:sp>
        <p:nvSpPr>
          <p:cNvPr id="100218" name="ScatterBg"/>
          <p:cNvSpPr txBox="1"/>
          <p:nvPr/>
        </p:nvSpPr>
        <p:spPr>
          <a:xfrm xmlns:a="http://schemas.openxmlformats.org/drawingml/2006/main">
            <a:off x="6984000" y="4428000"/>
            <a:ext cx="504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219" name="Scatter"/>
          <p:cNvSpPr txBox="1"/>
          <p:nvPr/>
        </p:nvSpPr>
        <p:spPr>
          <a:xfrm xmlns:a="http://schemas.openxmlformats.org/drawingml/2006/main">
            <a:off x="7056000" y="4500000"/>
            <a:ext cx="4896000" cy="14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>
                <a:solidFill>
                  <a:srgbClr val="7D8590"/>
                </a:solidFill>
              </a:rPr>
              <a:t>Health →                   Low health, High risk = CRITICAL</a:t>
            </a:r>
          </a:p>
          <a:p xmlns:a="http://schemas.openxmlformats.org/drawingml/2006/main">
            <a:r>
              <a:rPr lang="en-US" sz="900">
                <a:solidFill>
                  <a:srgbClr val="7D8590"/>
                </a:solidFill>
              </a:rPr>
              <a:t>  ●(WT-08,22,96,red)        ●(WT-07,61,72,orange)</a:t>
            </a:r>
          </a:p>
          <a:p xmlns:a="http://schemas.openxmlformats.org/drawingml/2006/main">
            <a:r>
              <a:rPr lang="en-US" sz="900">
                <a:solidFill>
                  <a:srgbClr val="7D8590"/>
                </a:solidFill>
              </a:rPr>
              <a:t>  ●(SF-04,78,48,yellow)     ●(WT-05,72,41,yellow)</a:t>
            </a:r>
          </a:p>
          <a:p xmlns:a="http://schemas.openxmlformats.org/drawingml/2006/main">
            <a:r>
              <a:rPr lang="en-US" sz="900">
                <a:solidFill>
                  <a:srgbClr val="7D8590"/>
                </a:solidFill>
              </a:rPr>
              <a:t>  ●(SF-03,96,4,green)       ●(SF-01,91,8,green)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220" name="Accent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59E0B"/>
              </a:solidFill>
            </a:endParaRPr>
          </a:p>
        </p:txBody>
      </p:sp>
      <p:sp>
        <p:nvSpPr>
          <p:cNvPr id="100221" name="SlideLbl"/>
          <p:cNvSpPr txBox="1"/>
          <p:nvPr/>
        </p:nvSpPr>
        <p:spPr>
          <a:xfrm xmlns:a="http://schemas.openxmlformats.org/drawingml/2006/main">
            <a:off x="540000" y="252000"/>
            <a:ext cx="79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F59E0B"/>
                </a:solidFill>
              </a:rPr>
              <a:t>GENERATION FORECAST + WEATHER INTELLIGENCE</a:t>
            </a:r>
          </a:p>
        </p:txBody>
      </p:sp>
      <p:sp>
        <p:nvSpPr>
          <p:cNvPr id="100222" name="SlideH"/>
          <p:cNvSpPr txBox="1"/>
          <p:nvPr/>
        </p:nvSpPr>
        <p:spPr>
          <a:xfrm xmlns:a="http://schemas.openxmlformats.org/drawingml/2006/main">
            <a:off x="540000" y="504000"/>
            <a:ext cx="720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E6EDF3"/>
                </a:solidFill>
              </a:rPr>
              <a:t>Predict Tomorrow's Generation</a:t>
            </a:r>
          </a:p>
          <a:p xmlns:a="http://schemas.openxmlformats.org/drawingml/2006/main">
            <a:r>
              <a:rPr lang="en-US" sz="2600" b="1">
                <a:solidFill>
                  <a:srgbClr val="E6EDF3"/>
                </a:solidFill>
              </a:rPr>
              <a:t>Before Tomorrow Arrives</a:t>
            </a:r>
          </a:p>
        </p:txBody>
      </p:sp>
      <p:sp>
        <p:nvSpPr>
          <p:cNvPr id="100223" name="FCards"/>
          <p:cNvSpPr txBox="1"/>
          <p:nvPr/>
        </p:nvSpPr>
        <p:spPr>
          <a:xfrm xmlns:a="http://schemas.openxmlformats.org/drawingml/2006/main">
            <a:off x="432000" y="1440000"/>
            <a:ext cx="117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224" name="FC1"/>
          <p:cNvSpPr txBox="1"/>
          <p:nvPr/>
        </p:nvSpPr>
        <p:spPr>
          <a:xfrm xmlns:a="http://schemas.openxmlformats.org/drawingml/2006/main">
            <a:off x="540000" y="1512000"/>
            <a:ext cx="252000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3FB950"/>
                </a:solidFill>
              </a:rPr>
              <a:t>6 HR FORECAST</a:t>
            </a:r>
          </a:p>
          <a:p xmlns:a="http://schemas.openxmlformats.org/drawingml/2006/main">
            <a:pPr algn="ctr"/>
            <a:r>
              <a:rPr lang="en-US" sz="1200" b="1">
                <a:solidFill>
                  <a:srgbClr val="3FB950"/>
                </a:solidFill>
              </a:rPr>
              <a:t>~380 MWh</a:t>
            </a:r>
          </a:p>
          <a:p xmlns:a="http://schemas.openxmlformats.org/drawingml/2006/main">
            <a:pPr algn="ctr"/>
            <a:r>
              <a:rPr lang="en-US" sz="1200" b="1">
                <a:solidFill>
                  <a:srgbClr val="3FB950"/>
                </a:solidFill>
              </a:rPr>
              <a:t>Solar peak expected</a:t>
            </a:r>
          </a:p>
        </p:txBody>
      </p:sp>
      <p:sp>
        <p:nvSpPr>
          <p:cNvPr id="100225" name="FDiv1"/>
          <p:cNvSpPr txBox="1"/>
          <p:nvPr/>
        </p:nvSpPr>
        <p:spPr>
          <a:xfrm xmlns:a="http://schemas.openxmlformats.org/drawingml/2006/main">
            <a:off x="3204000" y="1728000"/>
            <a:ext cx="1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484F58"/>
                </a:solidFill>
              </a:rPr>
              <a:t>|</a:t>
            </a:r>
          </a:p>
        </p:txBody>
      </p:sp>
      <p:sp>
        <p:nvSpPr>
          <p:cNvPr id="100226" name="FC2"/>
          <p:cNvSpPr txBox="1"/>
          <p:nvPr/>
        </p:nvSpPr>
        <p:spPr>
          <a:xfrm xmlns:a="http://schemas.openxmlformats.org/drawingml/2006/main">
            <a:off x="3492000" y="1512000"/>
            <a:ext cx="288000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59E0B"/>
                </a:solidFill>
              </a:rPr>
              <a:t>24 HR FORECAST</a:t>
            </a:r>
          </a:p>
          <a:p xmlns:a="http://schemas.openxmlformats.org/drawingml/2006/main">
            <a:pPr algn="ctr"/>
            <a:r>
              <a:rPr lang="en-US" sz="1200" b="1">
                <a:solidFill>
                  <a:srgbClr val="F59E0B"/>
                </a:solidFill>
              </a:rPr>
              <a:t>~4,280 MWh</a:t>
            </a:r>
          </a:p>
          <a:p xmlns:a="http://schemas.openxmlformats.org/drawingml/2006/main">
            <a:pPr algn="ctr"/>
            <a:r>
              <a:rPr lang="en-US" sz="1200" b="1">
                <a:solidFill>
                  <a:srgbClr val="F59E0B"/>
                </a:solidFill>
              </a:rPr>
              <a:t>Cloud impact at 14:00</a:t>
            </a:r>
          </a:p>
        </p:txBody>
      </p:sp>
      <p:sp>
        <p:nvSpPr>
          <p:cNvPr id="100227" name="FDiv2"/>
          <p:cNvSpPr txBox="1"/>
          <p:nvPr/>
        </p:nvSpPr>
        <p:spPr>
          <a:xfrm xmlns:a="http://schemas.openxmlformats.org/drawingml/2006/main">
            <a:off x="6516000" y="1728000"/>
            <a:ext cx="1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484F58"/>
                </a:solidFill>
              </a:rPr>
              <a:t>|</a:t>
            </a:r>
          </a:p>
        </p:txBody>
      </p:sp>
      <p:sp>
        <p:nvSpPr>
          <p:cNvPr id="100228" name="FC3"/>
          <p:cNvSpPr txBox="1"/>
          <p:nvPr/>
        </p:nvSpPr>
        <p:spPr>
          <a:xfrm xmlns:a="http://schemas.openxmlformats.org/drawingml/2006/main">
            <a:off x="6840000" y="1512000"/>
            <a:ext cx="288000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38BDF8"/>
                </a:solidFill>
              </a:rPr>
              <a:t>7 DAY FORECAST</a:t>
            </a:r>
          </a:p>
          <a:p xmlns:a="http://schemas.openxmlformats.org/drawingml/2006/main">
            <a:pPr algn="ctr"/>
            <a:r>
              <a:rPr lang="en-US" sz="1200" b="1">
                <a:solidFill>
                  <a:srgbClr val="38BDF8"/>
                </a:solidFill>
              </a:rPr>
              <a:t>~29.9 GWh</a:t>
            </a:r>
          </a:p>
          <a:p xmlns:a="http://schemas.openxmlformats.org/drawingml/2006/main">
            <a:pPr algn="ctr"/>
            <a:r>
              <a:rPr lang="en-US" sz="1200" b="1">
                <a:solidFill>
                  <a:srgbClr val="38BDF8"/>
                </a:solidFill>
              </a:rPr>
              <a:t>Stable wind pattern</a:t>
            </a:r>
          </a:p>
        </p:txBody>
      </p:sp>
      <p:sp>
        <p:nvSpPr>
          <p:cNvPr id="100229" name="FDiv3"/>
          <p:cNvSpPr txBox="1"/>
          <p:nvPr/>
        </p:nvSpPr>
        <p:spPr>
          <a:xfrm xmlns:a="http://schemas.openxmlformats.org/drawingml/2006/main">
            <a:off x="9864000" y="1728000"/>
            <a:ext cx="1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484F58"/>
                </a:solidFill>
              </a:rPr>
              <a:t>|</a:t>
            </a:r>
          </a:p>
        </p:txBody>
      </p:sp>
      <p:sp>
        <p:nvSpPr>
          <p:cNvPr id="100230" name="FC4"/>
          <p:cNvSpPr txBox="1"/>
          <p:nvPr/>
        </p:nvSpPr>
        <p:spPr>
          <a:xfrm xmlns:a="http://schemas.openxmlformats.org/drawingml/2006/main">
            <a:off x="10152000" y="1512000"/>
            <a:ext cx="1908000" cy="57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7D8590"/>
                </a:solidFill>
              </a:rPr>
              <a:t>CONFIDENCE</a:t>
            </a:r>
          </a:p>
          <a:p xmlns:a="http://schemas.openxmlformats.org/drawingml/2006/main">
            <a:pPr algn="ctr"/>
            <a:r>
              <a:rPr lang="en-US" sz="1200" b="1">
                <a:solidFill>
                  <a:srgbClr val="7D8590"/>
                </a:solidFill>
              </a:rPr>
              <a:t>±8% range</a:t>
            </a:r>
          </a:p>
          <a:p xmlns:a="http://schemas.openxmlformats.org/drawingml/2006/main">
            <a:pPr algn="ctr"/>
            <a:r>
              <a:rPr lang="en-US" sz="1200" b="1">
                <a:solidFill>
                  <a:srgbClr val="7D8590"/>
                </a:solidFill>
              </a:rPr>
              <a:t>Weather-integrated</a:t>
            </a:r>
          </a:p>
        </p:txBody>
      </p:sp>
      <p:sp>
        <p:nvSpPr>
          <p:cNvPr id="100231" name="ChBg"/>
          <p:cNvSpPr txBox="1"/>
          <p:nvPr/>
        </p:nvSpPr>
        <p:spPr>
          <a:xfrm xmlns:a="http://schemas.openxmlformats.org/drawingml/2006/main">
            <a:off x="432000" y="2304000"/>
            <a:ext cx="7920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232" name="ChHead"/>
          <p:cNvSpPr txBox="1"/>
          <p:nvPr/>
        </p:nvSpPr>
        <p:spPr>
          <a:xfrm xmlns:a="http://schemas.openxmlformats.org/drawingml/2006/main">
            <a:off x="540000" y="2376000"/>
            <a:ext cx="77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900">
                <a:solidFill>
                  <a:srgbClr val="7D8590"/>
                </a:solidFill>
              </a:rPr>
              <a:t>Solar + Wind Generation Forecast  ·  Next 24 Hours  ·  MW</a:t>
            </a:r>
          </a:p>
        </p:txBody>
      </p:sp>
      <p:sp>
        <p:nvSpPr>
          <p:cNvPr id="100233" name="YAxis"/>
          <p:cNvSpPr txBox="1"/>
          <p:nvPr/>
        </p:nvSpPr>
        <p:spPr>
          <a:xfrm xmlns:a="http://schemas.openxmlformats.org/drawingml/2006/main">
            <a:off x="540000" y="2628000"/>
            <a:ext cx="360000" cy="20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800">
                <a:solidFill>
                  <a:srgbClr val="484F58"/>
                </a:solidFill>
              </a:rPr>
              <a:t>500</a:t>
            </a:r>
          </a:p>
          <a:p xmlns:a="http://schemas.openxmlformats.org/drawingml/2006/main">
            <a:pPr algn="r"/>
            <a:r>
              <a:rPr lang="en-US" sz="800">
                <a:solidFill>
                  <a:srgbClr val="484F58"/>
                </a:solidFill>
              </a:rPr>
              <a:t>400</a:t>
            </a:r>
          </a:p>
          <a:p xmlns:a="http://schemas.openxmlformats.org/drawingml/2006/main">
            <a:pPr algn="r"/>
            <a:r>
              <a:rPr lang="en-US" sz="800">
                <a:solidFill>
                  <a:srgbClr val="484F58"/>
                </a:solidFill>
              </a:rPr>
              <a:t>300</a:t>
            </a:r>
          </a:p>
          <a:p xmlns:a="http://schemas.openxmlformats.org/drawingml/2006/main">
            <a:pPr algn="r"/>
            <a:r>
              <a:rPr lang="en-US" sz="800">
                <a:solidFill>
                  <a:srgbClr val="484F58"/>
                </a:solidFill>
              </a:rPr>
              <a:t>200</a:t>
            </a:r>
          </a:p>
          <a:p xmlns:a="http://schemas.openxmlformats.org/drawingml/2006/main">
            <a:pPr algn="r"/>
            <a:r>
              <a:rPr lang="en-US" sz="800">
                <a:solidFill>
                  <a:srgbClr val="484F58"/>
                </a:solidFill>
              </a:rPr>
              <a:t>100</a:t>
            </a:r>
          </a:p>
          <a:p xmlns:a="http://schemas.openxmlformats.org/drawingml/2006/main">
            <a:pPr algn="r"/>
            <a:r>
              <a:rPr lang="en-US" sz="800">
                <a:solidFill>
                  <a:srgbClr val="484F58"/>
                </a:solidFill>
              </a:rPr>
              <a:t>0</a:t>
            </a:r>
          </a:p>
        </p:txBody>
      </p:sp>
      <p:sp>
        <p:nvSpPr>
          <p:cNvPr id="100234" name="ChSolar"/>
          <p:cNvSpPr txBox="1"/>
          <p:nvPr/>
        </p:nvSpPr>
        <p:spPr>
          <a:xfrm xmlns:a="http://schemas.openxmlformats.org/drawingml/2006/main">
            <a:off x="1008000" y="2700000"/>
            <a:ext cx="7200000" cy="19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F59E0B"/>
                </a:solidFill>
              </a:rPr>
              <a:t>                   ▁▃▆▇█▇▅▃▁</a:t>
            </a:r>
          </a:p>
          <a:p xmlns:a="http://schemas.openxmlformats.org/drawingml/2006/main">
            <a:r>
              <a:rPr lang="en-US" sz="1400">
                <a:solidFill>
                  <a:srgbClr val="F59E0B"/>
                </a:solidFill>
              </a:rPr>
              <a:t>                                        ← Solar Peak 485 MW at 12:30</a:t>
            </a:r>
          </a:p>
          <a:p xmlns:a="http://schemas.openxmlformats.org/drawingml/2006/main">
            <a:r>
              <a:rPr lang="en-US" sz="1400">
                <a:solidFill>
                  <a:srgbClr val="F59E0B"/>
                </a:solidFill>
              </a:rPr>
              <a:t>    ▁▁▁▁▁▂▃▄▅▆▆▅▄▃▂▂▁▁▁▁▁▁▁▁  ← Wind (steady 28–32 MW)</a:t>
            </a:r>
          </a:p>
        </p:txBody>
      </p:sp>
      <p:sp>
        <p:nvSpPr>
          <p:cNvPr id="100235" name="XAxis"/>
          <p:cNvSpPr txBox="1"/>
          <p:nvPr/>
        </p:nvSpPr>
        <p:spPr>
          <a:xfrm xmlns:a="http://schemas.openxmlformats.org/drawingml/2006/main">
            <a:off x="1008000" y="4752000"/>
            <a:ext cx="7200000" cy="14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/>
            <a:r>
              <a:rPr lang="en-US" sz="800">
                <a:solidFill>
                  <a:srgbClr val="484F58"/>
                </a:solidFill>
              </a:rPr>
              <a:t>06:00          09:00          12:00          15:00          18:00          21:00</a:t>
            </a:r>
          </a:p>
        </p:txBody>
      </p:sp>
      <p:sp>
        <p:nvSpPr>
          <p:cNvPr id="100236" name="CloudWarn"/>
          <p:cNvSpPr txBox="1"/>
          <p:nvPr/>
        </p:nvSpPr>
        <p:spPr>
          <a:xfrm xmlns:a="http://schemas.openxmlformats.org/drawingml/2006/main">
            <a:off x="6120000" y="3420000"/>
            <a:ext cx="18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E3B341"/>
                </a:solidFill>
              </a:rPr>
              <a:t>⚠ Cloud forecast after 14:00</a:t>
            </a:r>
          </a:p>
        </p:txBody>
      </p:sp>
      <p:sp>
        <p:nvSpPr>
          <p:cNvPr id="100237" name="WeatherBg"/>
          <p:cNvSpPr txBox="1"/>
          <p:nvPr/>
        </p:nvSpPr>
        <p:spPr>
          <a:xfrm xmlns:a="http://schemas.openxmlformats.org/drawingml/2006/main">
            <a:off x="8532000" y="2304000"/>
            <a:ext cx="3528000" cy="27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238" name="WH"/>
          <p:cNvSpPr txBox="1"/>
          <p:nvPr/>
        </p:nvSpPr>
        <p:spPr>
          <a:xfrm xmlns:a="http://schemas.openxmlformats.org/drawingml/2006/main">
            <a:off x="8604000" y="2376000"/>
            <a:ext cx="334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7D8590"/>
                </a:solidFill>
              </a:rPr>
              <a:t>🌤 Current Conditions — Kutch</a:t>
            </a:r>
          </a:p>
        </p:txBody>
      </p:sp>
      <p:sp>
        <p:nvSpPr>
          <p:cNvPr id="100239" name="W1"/>
          <p:cNvSpPr txBox="1"/>
          <p:nvPr/>
        </p:nvSpPr>
        <p:spPr>
          <a:xfrm xmlns:a="http://schemas.openxmlformats.org/drawingml/2006/main">
            <a:off x="8604000" y="2664000"/>
            <a:ext cx="334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E6EDF3"/>
                </a:solidFill>
              </a:rPr>
              <a:t>🌡 Temperature      38.4°C</a:t>
            </a:r>
          </a:p>
        </p:txBody>
      </p:sp>
      <p:sp>
        <p:nvSpPr>
          <p:cNvPr id="100240" name="W2"/>
          <p:cNvSpPr txBox="1"/>
          <p:nvPr/>
        </p:nvSpPr>
        <p:spPr>
          <a:xfrm xmlns:a="http://schemas.openxmlformats.org/drawingml/2006/main">
            <a:off x="8604000" y="2916000"/>
            <a:ext cx="334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38BDF8"/>
                </a:solidFill>
              </a:rPr>
              <a:t>🌬 Wind Speed        8.4 m/s  NW</a:t>
            </a:r>
          </a:p>
        </p:txBody>
      </p:sp>
      <p:sp>
        <p:nvSpPr>
          <p:cNvPr id="100241" name="W3"/>
          <p:cNvSpPr txBox="1"/>
          <p:nvPr/>
        </p:nvSpPr>
        <p:spPr>
          <a:xfrm xmlns:a="http://schemas.openxmlformats.org/drawingml/2006/main">
            <a:off x="8604000" y="3168000"/>
            <a:ext cx="334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59E0B"/>
                </a:solidFill>
              </a:rPr>
              <a:t>☀ Irradiance        812 W/m²</a:t>
            </a:r>
          </a:p>
        </p:txBody>
      </p:sp>
      <p:sp>
        <p:nvSpPr>
          <p:cNvPr id="100242" name="W4"/>
          <p:cNvSpPr txBox="1"/>
          <p:nvPr/>
        </p:nvSpPr>
        <p:spPr>
          <a:xfrm xmlns:a="http://schemas.openxmlformats.org/drawingml/2006/main">
            <a:off x="8604000" y="3420000"/>
            <a:ext cx="334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☁ Cloud Cover        18%</a:t>
            </a:r>
          </a:p>
        </p:txBody>
      </p:sp>
      <p:sp>
        <p:nvSpPr>
          <p:cNvPr id="100243" name="W5"/>
          <p:cNvSpPr txBox="1"/>
          <p:nvPr/>
        </p:nvSpPr>
        <p:spPr>
          <a:xfrm xmlns:a="http://schemas.openxmlformats.org/drawingml/2006/main">
            <a:off x="8604000" y="3672000"/>
            <a:ext cx="334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💧 Humidity          42%</a:t>
            </a:r>
          </a:p>
        </p:txBody>
      </p:sp>
      <p:sp>
        <p:nvSpPr>
          <p:cNvPr id="100244" name="AIInsight"/>
          <p:cNvSpPr txBox="1"/>
          <p:nvPr/>
        </p:nvSpPr>
        <p:spPr>
          <a:xfrm xmlns:a="http://schemas.openxmlformats.org/drawingml/2006/main">
            <a:off x="8604000" y="4032000"/>
            <a:ext cx="3348000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E3B341"/>
                </a:solidFill>
              </a:rPr>
              <a:t>☁ Cloud coverage increasing 18% → 64% after 14:00</a:t>
            </a:r>
          </a:p>
          <a:p xmlns:a="http://schemas.openxmlformats.org/drawingml/2006/main">
            <a:r>
              <a:rPr lang="en-US" sz="1000">
                <a:solidFill>
                  <a:srgbClr val="E3B341"/>
                </a:solidFill>
              </a:rPr>
              <a:t>   Expected solar reduction: 11–16%</a:t>
            </a:r>
          </a:p>
          <a:p xmlns:a="http://schemas.openxmlformats.org/drawingml/2006/main">
            <a:r>
              <a:rPr lang="en-US" sz="1000">
                <a:solidFill>
                  <a:srgbClr val="E3B341"/>
                </a:solidFill>
              </a:rPr>
              <a:t>🌬 Wind partially offsetting by +8–12%</a:t>
            </a:r>
          </a:p>
        </p:txBody>
      </p:sp>
      <p:sp>
        <p:nvSpPr>
          <p:cNvPr id="100245" name="Proto"/>
          <p:cNvSpPr txBox="1"/>
          <p:nvPr/>
        </p:nvSpPr>
        <p:spPr>
          <a:xfrm xmlns:a="http://schemas.openxmlformats.org/drawingml/2006/main">
            <a:off x="540000" y="6012000"/>
            <a:ext cx="111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484F58"/>
                </a:solidFill>
              </a:rPr>
              <a:t>⚠ Simulated weather data — prototype demonstration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246" name="Accent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A6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58A6FF"/>
              </a:solidFill>
            </a:endParaRPr>
          </a:p>
        </p:txBody>
      </p:sp>
      <p:sp>
        <p:nvSpPr>
          <p:cNvPr id="100247" name="SlideLbl"/>
          <p:cNvSpPr txBox="1"/>
          <p:nvPr/>
        </p:nvSpPr>
        <p:spPr>
          <a:xfrm xmlns:a="http://schemas.openxmlformats.org/drawingml/2006/main">
            <a:off x="540000" y="252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58A6FF"/>
                </a:solidFill>
              </a:rPr>
              <a:t>GRID OPTIMIZATION</a:t>
            </a:r>
          </a:p>
        </p:txBody>
      </p:sp>
      <p:sp>
        <p:nvSpPr>
          <p:cNvPr id="100248" name="SlideH"/>
          <p:cNvSpPr txBox="1"/>
          <p:nvPr/>
        </p:nvSpPr>
        <p:spPr>
          <a:xfrm xmlns:a="http://schemas.openxmlformats.org/drawingml/2006/main">
            <a:off x="540000" y="504000"/>
            <a:ext cx="6480000" cy="79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E6EDF3"/>
                </a:solidFill>
              </a:rPr>
              <a:t>Turn Renewable Variability</a:t>
            </a:r>
          </a:p>
          <a:p xmlns:a="http://schemas.openxmlformats.org/drawingml/2006/main">
            <a:r>
              <a:rPr lang="en-US" sz="2600" b="1">
                <a:solidFill>
                  <a:srgbClr val="E6EDF3"/>
                </a:solidFill>
              </a:rPr>
              <a:t>Into a Grid Decision</a:t>
            </a:r>
          </a:p>
        </p:txBody>
      </p:sp>
      <p:sp>
        <p:nvSpPr>
          <p:cNvPr id="100249" name="FlowBg"/>
          <p:cNvSpPr txBox="1"/>
          <p:nvPr/>
        </p:nvSpPr>
        <p:spPr>
          <a:xfrm xmlns:a="http://schemas.openxmlformats.org/drawingml/2006/main">
            <a:off x="432000" y="1440000"/>
            <a:ext cx="3600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250" name="FlowH"/>
          <p:cNvSpPr txBox="1"/>
          <p:nvPr/>
        </p:nvSpPr>
        <p:spPr>
          <a:xfrm xmlns:a="http://schemas.openxmlformats.org/drawingml/2006/main">
            <a:off x="540000" y="1512000"/>
            <a:ext cx="34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 b="1">
                <a:solidFill>
                  <a:srgbClr val="7D8590"/>
                </a:solidFill>
              </a:rPr>
              <a:t>Energy Flow</a:t>
            </a:r>
          </a:p>
        </p:txBody>
      </p:sp>
      <p:sp>
        <p:nvSpPr>
          <p:cNvPr id="100251" name="FLSolar"/>
          <p:cNvSpPr txBox="1"/>
          <p:nvPr/>
        </p:nvSpPr>
        <p:spPr>
          <a:xfrm xmlns:a="http://schemas.openxmlformats.org/drawingml/2006/main">
            <a:off x="720000" y="1908000"/>
            <a:ext cx="144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F59E0B"/>
                </a:solidFill>
              </a:rPr>
              <a:t>☀️  Solar</a:t>
            </a:r>
          </a:p>
          <a:p xmlns:a="http://schemas.openxmlformats.org/drawingml/2006/main">
            <a:pPr algn="ctr"/>
            <a:r>
              <a:rPr lang="en-US" sz="1300" b="1">
                <a:solidFill>
                  <a:srgbClr val="F59E0B"/>
                </a:solidFill>
              </a:rPr>
              <a:t>540 MW</a:t>
            </a:r>
          </a:p>
        </p:txBody>
      </p:sp>
      <p:sp>
        <p:nvSpPr>
          <p:cNvPr id="100252" name="FLWind"/>
          <p:cNvSpPr txBox="1"/>
          <p:nvPr/>
        </p:nvSpPr>
        <p:spPr>
          <a:xfrm xmlns:a="http://schemas.openxmlformats.org/drawingml/2006/main">
            <a:off x="2340000" y="1908000"/>
            <a:ext cx="144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300" b="1">
                <a:solidFill>
                  <a:srgbClr val="38BDF8"/>
                </a:solidFill>
              </a:rPr>
              <a:t>🌬️  Wind</a:t>
            </a:r>
          </a:p>
          <a:p xmlns:a="http://schemas.openxmlformats.org/drawingml/2006/main">
            <a:pPr algn="ctr"/>
            <a:r>
              <a:rPr lang="en-US" sz="1300" b="1">
                <a:solidFill>
                  <a:srgbClr val="38BDF8"/>
                </a:solidFill>
              </a:rPr>
              <a:t>32 MW</a:t>
            </a:r>
          </a:p>
        </p:txBody>
      </p:sp>
      <p:sp>
        <p:nvSpPr>
          <p:cNvPr id="100253" name="FLArr1"/>
          <p:cNvSpPr txBox="1"/>
          <p:nvPr/>
        </p:nvSpPr>
        <p:spPr>
          <a:xfrm xmlns:a="http://schemas.openxmlformats.org/drawingml/2006/main">
            <a:off x="2016000" y="2628000"/>
            <a:ext cx="432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484F58"/>
                </a:solidFill>
              </a:rPr>
              <a:t>↓</a:t>
            </a:r>
          </a:p>
        </p:txBody>
      </p:sp>
      <p:sp>
        <p:nvSpPr>
          <p:cNvPr id="100254" name="FLTotal"/>
          <p:cNvSpPr txBox="1"/>
          <p:nvPr/>
        </p:nvSpPr>
        <p:spPr>
          <a:xfrm xmlns:a="http://schemas.openxmlformats.org/drawingml/2006/main">
            <a:off x="900000" y="2988000"/>
            <a:ext cx="270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 b="1">
                <a:solidFill>
                  <a:srgbClr val="3FB950"/>
                </a:solidFill>
              </a:rPr>
              <a:t>⚡  572 MW</a:t>
            </a:r>
          </a:p>
          <a:p xmlns:a="http://schemas.openxmlformats.org/drawingml/2006/main">
            <a:pPr algn="ctr"/>
            <a:r>
              <a:rPr lang="en-US" sz="1400" b="1">
                <a:solidFill>
                  <a:srgbClr val="3FB950"/>
                </a:solidFill>
              </a:rPr>
              <a:t>Renewable Gen.</a:t>
            </a:r>
          </a:p>
        </p:txBody>
      </p:sp>
      <p:sp>
        <p:nvSpPr>
          <p:cNvPr id="100255" name="FLArr2"/>
          <p:cNvSpPr txBox="1"/>
          <p:nvPr/>
        </p:nvSpPr>
        <p:spPr>
          <a:xfrm xmlns:a="http://schemas.openxmlformats.org/drawingml/2006/main">
            <a:off x="2016000" y="3708000"/>
            <a:ext cx="432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000">
                <a:solidFill>
                  <a:srgbClr val="484F58"/>
                </a:solidFill>
              </a:rPr>
              <a:t>↓</a:t>
            </a:r>
          </a:p>
        </p:txBody>
      </p:sp>
      <p:sp>
        <p:nvSpPr>
          <p:cNvPr id="100256" name="FLGrid"/>
          <p:cNvSpPr txBox="1"/>
          <p:nvPr/>
        </p:nvSpPr>
        <p:spPr>
          <a:xfrm xmlns:a="http://schemas.openxmlformats.org/drawingml/2006/main">
            <a:off x="720000" y="4068000"/>
            <a:ext cx="100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 b="1">
                <a:solidFill>
                  <a:srgbClr val="58A6FF"/>
                </a:solidFill>
              </a:rPr>
              <a:t>🔌  Grid Export</a:t>
            </a:r>
          </a:p>
          <a:p xmlns:a="http://schemas.openxmlformats.org/drawingml/2006/main">
            <a:pPr algn="ctr"/>
            <a:r>
              <a:rPr lang="en-US" sz="1000" b="1">
                <a:solidFill>
                  <a:srgbClr val="58A6FF"/>
                </a:solidFill>
              </a:rPr>
              <a:t>40 MW</a:t>
            </a:r>
          </a:p>
        </p:txBody>
      </p:sp>
      <p:sp>
        <p:nvSpPr>
          <p:cNvPr id="100257" name="FLBatt"/>
          <p:cNvSpPr txBox="1"/>
          <p:nvPr/>
        </p:nvSpPr>
        <p:spPr>
          <a:xfrm xmlns:a="http://schemas.openxmlformats.org/drawingml/2006/main">
            <a:off x="1872000" y="4068000"/>
            <a:ext cx="864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 b="1">
                <a:solidFill>
                  <a:srgbClr val="BC8CFF"/>
                </a:solidFill>
              </a:rPr>
              <a:t>🔋  Storage</a:t>
            </a:r>
          </a:p>
          <a:p xmlns:a="http://schemas.openxmlformats.org/drawingml/2006/main">
            <a:pPr algn="ctr"/>
            <a:r>
              <a:rPr lang="en-US" sz="1000" b="1">
                <a:solidFill>
                  <a:srgbClr val="BC8CFF"/>
                </a:solidFill>
              </a:rPr>
              <a:t>28 MW</a:t>
            </a:r>
          </a:p>
        </p:txBody>
      </p:sp>
      <p:sp>
        <p:nvSpPr>
          <p:cNvPr id="100258" name="FLCurt"/>
          <p:cNvSpPr txBox="1"/>
          <p:nvPr/>
        </p:nvSpPr>
        <p:spPr>
          <a:xfrm xmlns:a="http://schemas.openxmlformats.org/drawingml/2006/main">
            <a:off x="2844000" y="4068000"/>
            <a:ext cx="1008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 b="1">
                <a:solidFill>
                  <a:srgbClr val="F85149"/>
                </a:solidFill>
              </a:rPr>
              <a:t>⚠  Curtail</a:t>
            </a:r>
          </a:p>
          <a:p xmlns:a="http://schemas.openxmlformats.org/drawingml/2006/main">
            <a:pPr algn="ctr"/>
            <a:r>
              <a:rPr lang="en-US" sz="1000" b="1">
                <a:solidFill>
                  <a:srgbClr val="F85149"/>
                </a:solidFill>
              </a:rPr>
              <a:t>45 MW</a:t>
            </a:r>
          </a:p>
        </p:txBody>
      </p:sp>
      <p:sp>
        <p:nvSpPr>
          <p:cNvPr id="100259" name="BALabel"/>
          <p:cNvSpPr txBox="1"/>
          <p:nvPr/>
        </p:nvSpPr>
        <p:spPr>
          <a:xfrm xmlns:a="http://schemas.openxmlformats.org/drawingml/2006/main">
            <a:off x="540000" y="4824000"/>
            <a:ext cx="324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000" b="1">
                <a:solidFill>
                  <a:srgbClr val="484F58"/>
                </a:solidFill>
              </a:rPr>
              <a:t>BEFORE AI</a:t>
            </a:r>
          </a:p>
        </p:txBody>
      </p:sp>
      <p:sp>
        <p:nvSpPr>
          <p:cNvPr id="100260" name="AIRecBg"/>
          <p:cNvSpPr txBox="1"/>
          <p:nvPr/>
        </p:nvSpPr>
        <p:spPr>
          <a:xfrm xmlns:a="http://schemas.openxmlformats.org/drawingml/2006/main">
            <a:off x="4212000" y="1440000"/>
            <a:ext cx="7848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261" name="AIRecH"/>
          <p:cNvSpPr txBox="1"/>
          <p:nvPr/>
        </p:nvSpPr>
        <p:spPr>
          <a:xfrm xmlns:a="http://schemas.openxmlformats.org/drawingml/2006/main">
            <a:off x="4284000" y="1512000"/>
            <a:ext cx="7668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58A6FF"/>
                </a:solidFill>
              </a:rPr>
              <a:t>🔌  GRID AI RECOMMENDATION  —  IBM Granite</a:t>
            </a:r>
          </a:p>
        </p:txBody>
      </p:sp>
      <p:sp>
        <p:nvSpPr>
          <p:cNvPr id="100262" name="ActionBg"/>
          <p:cNvSpPr txBox="1"/>
          <p:nvPr/>
        </p:nvSpPr>
        <p:spPr>
          <a:xfrm xmlns:a="http://schemas.openxmlformats.org/drawingml/2006/main">
            <a:off x="4284000" y="1872000"/>
            <a:ext cx="7668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FB950"/>
              </a:solidFill>
            </a:endParaRPr>
          </a:p>
        </p:txBody>
      </p:sp>
      <p:sp>
        <p:nvSpPr>
          <p:cNvPr id="100263" name="ActionT"/>
          <p:cNvSpPr txBox="1"/>
          <p:nvPr/>
        </p:nvSpPr>
        <p:spPr>
          <a:xfrm xmlns:a="http://schemas.openxmlformats.org/drawingml/2006/main">
            <a:off x="4356000" y="1908000"/>
            <a:ext cx="756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FB950"/>
                </a:solidFill>
              </a:rPr>
              <a:t>⚡  ACTION: Increase Grid Export + Pre-Charge Storage by 11:00</a:t>
            </a:r>
          </a:p>
        </p:txBody>
      </p:sp>
      <p:sp>
        <p:nvSpPr>
          <p:cNvPr id="100264" name="ReasonH"/>
          <p:cNvSpPr txBox="1"/>
          <p:nvPr/>
        </p:nvSpPr>
        <p:spPr>
          <a:xfrm xmlns:a="http://schemas.openxmlformats.org/drawingml/2006/main">
            <a:off x="4284000" y="2340000"/>
            <a:ext cx="10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7D8590"/>
                </a:solidFill>
              </a:rPr>
              <a:t>REASON:</a:t>
            </a:r>
          </a:p>
        </p:txBody>
      </p:sp>
      <p:sp>
        <p:nvSpPr>
          <p:cNvPr id="100265" name="ReasonT"/>
          <p:cNvSpPr txBox="1"/>
          <p:nvPr/>
        </p:nvSpPr>
        <p:spPr>
          <a:xfrm xmlns:a="http://schemas.openxmlformats.org/drawingml/2006/main">
            <a:off x="4284000" y="2592000"/>
            <a:ext cx="7668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E6EDF3"/>
                </a:solidFill>
              </a:rPr>
              <a:t>Solar generation forecast (485 MW peak) will exceed grid export capacity (440 MW) between 11:30–14:30. Without action: 45 MW curtailment risk.</a:t>
            </a:r>
          </a:p>
        </p:txBody>
      </p:sp>
      <p:sp>
        <p:nvSpPr>
          <p:cNvPr id="100266" name="ConfBg"/>
          <p:cNvSpPr txBox="1"/>
          <p:nvPr/>
        </p:nvSpPr>
        <p:spPr>
          <a:xfrm xmlns:a="http://schemas.openxmlformats.org/drawingml/2006/main">
            <a:off x="4284000" y="3168000"/>
            <a:ext cx="360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267" name="ConfT"/>
          <p:cNvSpPr txBox="1"/>
          <p:nvPr/>
        </p:nvSpPr>
        <p:spPr>
          <a:xfrm xmlns:a="http://schemas.openxmlformats.org/drawingml/2006/main">
            <a:off x="4356000" y="3240000"/>
            <a:ext cx="3456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58A6FF"/>
                </a:solidFill>
              </a:rPr>
              <a:t>CONFIDENCE</a:t>
            </a:r>
          </a:p>
          <a:p xmlns:a="http://schemas.openxmlformats.org/drawingml/2006/main">
            <a:r>
              <a:rPr lang="en-US" sz="1200" b="1">
                <a:solidFill>
                  <a:srgbClr val="58A6FF"/>
                </a:solidFill>
              </a:rPr>
              <a:t>89%  ██████████████████░░</a:t>
            </a:r>
          </a:p>
        </p:txBody>
      </p:sp>
      <p:sp>
        <p:nvSpPr>
          <p:cNvPr id="100268" name="BenefBg"/>
          <p:cNvSpPr txBox="1"/>
          <p:nvPr/>
        </p:nvSpPr>
        <p:spPr>
          <a:xfrm xmlns:a="http://schemas.openxmlformats.org/drawingml/2006/main">
            <a:off x="8028000" y="3168000"/>
            <a:ext cx="3960000" cy="6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0363D"/>
              </a:solidFill>
            </a:endParaRPr>
          </a:p>
        </p:txBody>
      </p:sp>
      <p:sp>
        <p:nvSpPr>
          <p:cNvPr id="100269" name="BenefT"/>
          <p:cNvSpPr txBox="1"/>
          <p:nvPr/>
        </p:nvSpPr>
        <p:spPr>
          <a:xfrm xmlns:a="http://schemas.openxmlformats.org/drawingml/2006/main">
            <a:off x="8100000" y="3240000"/>
            <a:ext cx="3780000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FB950"/>
                </a:solidFill>
              </a:rPr>
              <a:t>EXPECTED BENEFIT</a:t>
            </a:r>
          </a:p>
          <a:p xmlns:a="http://schemas.openxmlformats.org/drawingml/2006/main">
            <a:r>
              <a:rPr lang="en-US" sz="1200" b="1">
                <a:solidFill>
                  <a:srgbClr val="3FB950"/>
                </a:solidFill>
              </a:rPr>
              <a:t>Reduce curtailment by ~43 MW (8% of peak)</a:t>
            </a:r>
          </a:p>
        </p:txBody>
      </p:sp>
      <p:sp>
        <p:nvSpPr>
          <p:cNvPr id="100270" name="CompareH"/>
          <p:cNvSpPr txBox="1"/>
          <p:nvPr/>
        </p:nvSpPr>
        <p:spPr>
          <a:xfrm xmlns:a="http://schemas.openxmlformats.org/drawingml/2006/main">
            <a:off x="4284000" y="3960000"/>
            <a:ext cx="7668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1">
                <a:solidFill>
                  <a:srgbClr val="7D8590"/>
                </a:solidFill>
              </a:rPr>
              <a:t>SCENARIO 2 — BEFORE vs AFTER AI RECOMMENDATION</a:t>
            </a:r>
          </a:p>
        </p:txBody>
      </p:sp>
      <p:sp>
        <p:nvSpPr>
          <p:cNvPr id="100271" name="Before"/>
          <p:cNvSpPr txBox="1"/>
          <p:nvPr/>
        </p:nvSpPr>
        <p:spPr>
          <a:xfrm xmlns:a="http://schemas.openxmlformats.org/drawingml/2006/main">
            <a:off x="4284000" y="4284000"/>
            <a:ext cx="360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F85149"/>
                </a:solidFill>
              </a:rPr>
              <a:t>WITHOUT AI</a:t>
            </a:r>
          </a:p>
          <a:p xmlns:a="http://schemas.openxmlformats.org/drawingml/2006/main">
            <a:r>
              <a:rPr lang="en-US" sz="1100">
                <a:solidFill>
                  <a:srgbClr val="F85149"/>
                </a:solidFill>
              </a:rPr>
              <a:t>• Export: 28 MW</a:t>
            </a:r>
          </a:p>
          <a:p xmlns:a="http://schemas.openxmlformats.org/drawingml/2006/main">
            <a:r>
              <a:rPr lang="en-US" sz="1100">
                <a:solidFill>
                  <a:srgbClr val="F85149"/>
                </a:solidFill>
              </a:rPr>
              <a:t>• Storage: 12 MW</a:t>
            </a:r>
          </a:p>
          <a:p xmlns:a="http://schemas.openxmlformats.org/drawingml/2006/main">
            <a:r>
              <a:rPr lang="en-US" sz="1100">
                <a:solidFill>
                  <a:srgbClr val="F85149"/>
                </a:solidFill>
              </a:rPr>
              <a:t>• Curtailment: 45 MW</a:t>
            </a:r>
          </a:p>
          <a:p xmlns:a="http://schemas.openxmlformats.org/drawingml/2006/main">
            <a:r>
              <a:rPr lang="en-US" sz="1100">
                <a:solidFill>
                  <a:srgbClr val="F85149"/>
                </a:solidFill>
              </a:rPr>
              <a:t>  (lost generation)</a:t>
            </a:r>
          </a:p>
        </p:txBody>
      </p:sp>
      <p:sp>
        <p:nvSpPr>
          <p:cNvPr id="100272" name="AfterArr"/>
          <p:cNvSpPr txBox="1"/>
          <p:nvPr/>
        </p:nvSpPr>
        <p:spPr>
          <a:xfrm xmlns:a="http://schemas.openxmlformats.org/drawingml/2006/main">
            <a:off x="8028000" y="486000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>
                <a:solidFill>
                  <a:srgbClr val="3FB950"/>
                </a:solidFill>
              </a:rPr>
              <a:t>→</a:t>
            </a:r>
          </a:p>
        </p:txBody>
      </p:sp>
      <p:sp>
        <p:nvSpPr>
          <p:cNvPr id="100273" name="After"/>
          <p:cNvSpPr txBox="1"/>
          <p:nvPr/>
        </p:nvSpPr>
        <p:spPr>
          <a:xfrm xmlns:a="http://schemas.openxmlformats.org/drawingml/2006/main">
            <a:off x="8460000" y="4284000"/>
            <a:ext cx="3600000" cy="16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FB950"/>
                </a:solidFill>
              </a:rPr>
              <a:t>WITH AI</a:t>
            </a:r>
          </a:p>
          <a:p xmlns:a="http://schemas.openxmlformats.org/drawingml/2006/main">
            <a:r>
              <a:rPr lang="en-US" sz="1100" b="1">
                <a:solidFill>
                  <a:srgbClr val="3FB950"/>
                </a:solidFill>
              </a:rPr>
              <a:t>• Export: 40 MW  ↑43%</a:t>
            </a:r>
          </a:p>
          <a:p xmlns:a="http://schemas.openxmlformats.org/drawingml/2006/main">
            <a:r>
              <a:rPr lang="en-US" sz="1100" b="1">
                <a:solidFill>
                  <a:srgbClr val="3FB950"/>
                </a:solidFill>
              </a:rPr>
              <a:t>• Storage: 28 MW  ↑133%</a:t>
            </a:r>
          </a:p>
          <a:p xmlns:a="http://schemas.openxmlformats.org/drawingml/2006/main">
            <a:r>
              <a:rPr lang="en-US" sz="1100" b="1">
                <a:solidFill>
                  <a:srgbClr val="3FB950"/>
                </a:solidFill>
              </a:rPr>
              <a:t>• Curtailment: 2 MW  ↓96%</a:t>
            </a:r>
          </a:p>
          <a:p xmlns:a="http://schemas.openxmlformats.org/drawingml/2006/main">
            <a:r>
              <a:rPr lang="en-US" sz="1100" b="1">
                <a:solidFill>
                  <a:srgbClr val="3FB950"/>
                </a:solidFill>
              </a:rPr>
              <a:t>  (nearly eliminated)</a:t>
            </a:r>
          </a:p>
        </p:txBody>
      </p:sp>
      <p:sp>
        <p:nvSpPr>
          <p:cNvPr id="100274" name="Proto"/>
          <p:cNvSpPr txBox="1"/>
          <p:nvPr/>
        </p:nvSpPr>
        <p:spPr>
          <a:xfrm xmlns:a="http://schemas.openxmlformats.org/drawingml/2006/main">
            <a:off x="4284000" y="6012000"/>
            <a:ext cx="756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484F58"/>
                </a:solidFill>
              </a:rPr>
              <a:t>⚠ Simulated values — prototype estimates only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275" name="Accent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B34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E3B341"/>
              </a:solidFill>
            </a:endParaRPr>
          </a:p>
        </p:txBody>
      </p:sp>
      <p:sp>
        <p:nvSpPr>
          <p:cNvPr id="100276" name="SlideLbl"/>
          <p:cNvSpPr txBox="1"/>
          <p:nvPr/>
        </p:nvSpPr>
        <p:spPr>
          <a:xfrm xmlns:a="http://schemas.openxmlformats.org/drawingml/2006/main">
            <a:off x="540000" y="252000"/>
            <a:ext cx="648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E3B341"/>
                </a:solidFill>
              </a:rPr>
              <a:t>HACKATHON DEMO — SCENARIO 1</a:t>
            </a:r>
          </a:p>
        </p:txBody>
      </p:sp>
      <p:sp>
        <p:nvSpPr>
          <p:cNvPr id="100277" name="SlideH"/>
          <p:cNvSpPr txBox="1"/>
          <p:nvPr/>
        </p:nvSpPr>
        <p:spPr>
          <a:xfrm xmlns:a="http://schemas.openxmlformats.org/drawingml/2006/main">
            <a:off x="540000" y="504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E6EDF3"/>
                </a:solidFill>
              </a:rPr>
              <a:t>2-Minute Demo: From Anomaly to Action</a:t>
            </a:r>
          </a:p>
        </p:txBody>
      </p:sp>
      <p:sp>
        <p:nvSpPr>
          <p:cNvPr id="100278" name="SubH"/>
          <p:cNvSpPr txBox="1"/>
          <p:nvPr/>
        </p:nvSpPr>
        <p:spPr>
          <a:xfrm xmlns:a="http://schemas.openxmlformats.org/drawingml/2006/main">
            <a:off x="540000" y="1080000"/>
            <a:ext cx="72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>
                <a:solidFill>
                  <a:srgbClr val="7D8590"/>
                </a:solidFill>
              </a:rPr>
              <a:t>WT-07 Performance Anomaly  ·  Live Agent Workflow</a:t>
            </a:r>
          </a:p>
        </p:txBody>
      </p:sp>
      <p:sp>
        <p:nvSpPr>
          <p:cNvPr id="100279" name="S1Bg"/>
          <p:cNvSpPr txBox="1"/>
          <p:nvPr/>
        </p:nvSpPr>
        <p:spPr>
          <a:xfrm xmlns:a="http://schemas.openxmlformats.org/drawingml/2006/main">
            <a:off x="432000" y="1440000"/>
            <a:ext cx="2232000" cy="37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8BDF8"/>
              </a:solidFill>
            </a:endParaRPr>
          </a:p>
        </p:txBody>
      </p:sp>
      <p:sp>
        <p:nvSpPr>
          <p:cNvPr id="100280" name="S1N"/>
          <p:cNvSpPr txBox="1"/>
          <p:nvPr/>
        </p:nvSpPr>
        <p:spPr>
          <a:xfrm xmlns:a="http://schemas.openxmlformats.org/drawingml/2006/main">
            <a:off x="540000" y="1512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38BDF8"/>
                </a:solidFill>
              </a:rPr>
              <a:t>01</a:t>
            </a:r>
          </a:p>
        </p:txBody>
      </p:sp>
      <p:sp>
        <p:nvSpPr>
          <p:cNvPr id="100281" name="S1T"/>
          <p:cNvSpPr txBox="1"/>
          <p:nvPr/>
        </p:nvSpPr>
        <p:spPr>
          <a:xfrm xmlns:a="http://schemas.openxmlformats.org/drawingml/2006/main">
            <a:off x="540000" y="1944000"/>
            <a:ext cx="2016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E6EDF3"/>
                </a:solidFill>
              </a:rPr>
              <a:t>Weather</a:t>
            </a:r>
          </a:p>
          <a:p xmlns:a="http://schemas.openxmlformats.org/drawingml/2006/main">
            <a:r>
              <a:rPr lang="en-US" sz="1400" b="1">
                <a:solidFill>
                  <a:srgbClr val="E6EDF3"/>
                </a:solidFill>
              </a:rPr>
              <a:t>Conditions</a:t>
            </a:r>
          </a:p>
        </p:txBody>
      </p:sp>
      <p:sp>
        <p:nvSpPr>
          <p:cNvPr id="100282" name="S1D"/>
          <p:cNvSpPr txBox="1"/>
          <p:nvPr/>
        </p:nvSpPr>
        <p:spPr>
          <a:xfrm xmlns:a="http://schemas.openxmlformats.org/drawingml/2006/main">
            <a:off x="540000" y="2448000"/>
            <a:ext cx="2016000" cy="16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7D8590"/>
                </a:solidFill>
              </a:rPr>
              <a:t>Wind: 8.4 m/s NW</a:t>
            </a:r>
          </a:p>
          <a:p xmlns:a="http://schemas.openxmlformats.org/drawingml/2006/main">
            <a:r>
              <a:rPr lang="en-US" sz="1000">
                <a:solidFill>
                  <a:srgbClr val="7D8590"/>
                </a:solidFill>
              </a:rPr>
              <a:t>Irradiance: 812 W/m²</a:t>
            </a:r>
          </a:p>
          <a:p xmlns:a="http://schemas.openxmlformats.org/drawingml/2006/main">
            <a:r>
              <a:rPr lang="en-US" sz="1000">
                <a:solidFill>
                  <a:srgbClr val="7D8590"/>
                </a:solidFill>
              </a:rPr>
              <a:t>Cloud: 18%</a:t>
            </a:r>
          </a:p>
          <a:p xmlns:a="http://schemas.openxmlformats.org/drawingml/2006/main">
            <a:r>
              <a:rPr lang="en-US" sz="1000">
                <a:solidFill>
                  <a:srgbClr val="7D8590"/>
                </a:solidFill>
              </a:rPr>
              <a:t/>
            </a:r>
          </a:p>
          <a:p xmlns:a="http://schemas.openxmlformats.org/drawingml/2006/main">
            <a:r>
              <a:rPr lang="en-US" sz="1000">
                <a:solidFill>
                  <a:srgbClr val="7D8590"/>
                </a:solidFill>
              </a:rPr>
              <a:t>→ Forecast Agent</a:t>
            </a:r>
          </a:p>
          <a:p xmlns:a="http://schemas.openxmlformats.org/drawingml/2006/main">
            <a:r>
              <a:rPr lang="en-US" sz="1000">
                <a:solidFill>
                  <a:srgbClr val="7D8590"/>
                </a:solidFill>
              </a:rPr>
              <a:t>calculates expected</a:t>
            </a:r>
          </a:p>
          <a:p xmlns:a="http://schemas.openxmlformats.org/drawingml/2006/main">
            <a:r>
              <a:rPr lang="en-US" sz="1000">
                <a:solidFill>
                  <a:srgbClr val="7D8590"/>
                </a:solidFill>
              </a:rPr>
              <a:t>generation: 2.05 MW</a:t>
            </a:r>
          </a:p>
        </p:txBody>
      </p:sp>
      <p:sp>
        <p:nvSpPr>
          <p:cNvPr id="100283" name="A1"/>
          <p:cNvSpPr txBox="1"/>
          <p:nvPr/>
        </p:nvSpPr>
        <p:spPr>
          <a:xfrm xmlns:a="http://schemas.openxmlformats.org/drawingml/2006/main">
            <a:off x="2772000" y="306000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484F58"/>
                </a:solidFill>
              </a:rPr>
              <a:t>▶</a:t>
            </a:r>
          </a:p>
        </p:txBody>
      </p:sp>
      <p:sp>
        <p:nvSpPr>
          <p:cNvPr id="100284" name="S2Bg"/>
          <p:cNvSpPr txBox="1"/>
          <p:nvPr/>
        </p:nvSpPr>
        <p:spPr>
          <a:xfrm xmlns:a="http://schemas.openxmlformats.org/drawingml/2006/main">
            <a:off x="3240000" y="1440000"/>
            <a:ext cx="2232000" cy="37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F7B72"/>
              </a:solidFill>
            </a:endParaRPr>
          </a:p>
        </p:txBody>
      </p:sp>
      <p:sp>
        <p:nvSpPr>
          <p:cNvPr id="100285" name="S2N"/>
          <p:cNvSpPr txBox="1"/>
          <p:nvPr/>
        </p:nvSpPr>
        <p:spPr>
          <a:xfrm xmlns:a="http://schemas.openxmlformats.org/drawingml/2006/main">
            <a:off x="3348000" y="1512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F7B72"/>
                </a:solidFill>
              </a:rPr>
              <a:t>02</a:t>
            </a:r>
          </a:p>
        </p:txBody>
      </p:sp>
      <p:sp>
        <p:nvSpPr>
          <p:cNvPr id="100286" name="S2T"/>
          <p:cNvSpPr txBox="1"/>
          <p:nvPr/>
        </p:nvSpPr>
        <p:spPr>
          <a:xfrm xmlns:a="http://schemas.openxmlformats.org/drawingml/2006/main">
            <a:off x="3348000" y="1944000"/>
            <a:ext cx="2016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E6EDF3"/>
                </a:solidFill>
              </a:rPr>
              <a:t>Anomaly</a:t>
            </a:r>
          </a:p>
          <a:p xmlns:a="http://schemas.openxmlformats.org/drawingml/2006/main">
            <a:r>
              <a:rPr lang="en-US" sz="1400" b="1">
                <a:solidFill>
                  <a:srgbClr val="E6EDF3"/>
                </a:solidFill>
              </a:rPr>
              <a:t>Detected</a:t>
            </a:r>
          </a:p>
        </p:txBody>
      </p:sp>
      <p:sp>
        <p:nvSpPr>
          <p:cNvPr id="100287" name="S2D"/>
          <p:cNvSpPr txBox="1"/>
          <p:nvPr/>
        </p:nvSpPr>
        <p:spPr>
          <a:xfrm xmlns:a="http://schemas.openxmlformats.org/drawingml/2006/main">
            <a:off x="3348000" y="2448000"/>
            <a:ext cx="2016000" cy="16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FF7B72"/>
                </a:solidFill>
              </a:rPr>
              <a:t>WT-07: 1.68 MW</a:t>
            </a:r>
          </a:p>
          <a:p xmlns:a="http://schemas.openxmlformats.org/drawingml/2006/main">
            <a:r>
              <a:rPr lang="en-US" sz="1000">
                <a:solidFill>
                  <a:srgbClr val="FF7B72"/>
                </a:solidFill>
              </a:rPr>
              <a:t>Expected: 2.05 MW</a:t>
            </a:r>
          </a:p>
          <a:p xmlns:a="http://schemas.openxmlformats.org/drawingml/2006/main">
            <a:r>
              <a:rPr lang="en-US" sz="1000">
                <a:solidFill>
                  <a:srgbClr val="FF7B72"/>
                </a:solidFill>
              </a:rPr>
              <a:t>DEFICIT: -18%</a:t>
            </a:r>
          </a:p>
          <a:p xmlns:a="http://schemas.openxmlformats.org/drawingml/2006/main">
            <a:r>
              <a:rPr lang="en-US" sz="1000">
                <a:solidFill>
                  <a:srgbClr val="FF7B72"/>
                </a:solidFill>
              </a:rPr>
              <a:t/>
            </a:r>
          </a:p>
          <a:p xmlns:a="http://schemas.openxmlformats.org/drawingml/2006/main">
            <a:r>
              <a:rPr lang="en-US" sz="1000">
                <a:solidFill>
                  <a:srgbClr val="FF7B72"/>
                </a:solidFill>
              </a:rPr>
              <a:t>Vibration 0.89</a:t>
            </a:r>
          </a:p>
          <a:p xmlns:a="http://schemas.openxmlformats.org/drawingml/2006/main">
            <a:r>
              <a:rPr lang="en-US" sz="1000">
                <a:solidFill>
                  <a:srgbClr val="FF7B72"/>
                </a:solidFill>
              </a:rPr>
              <a:t>(threshold 0.65)</a:t>
            </a:r>
          </a:p>
          <a:p xmlns:a="http://schemas.openxmlformats.org/drawingml/2006/main">
            <a:r>
              <a:rPr lang="en-US" sz="1000">
                <a:solidFill>
                  <a:srgbClr val="FF7B72"/>
                </a:solidFill>
              </a:rPr>
              <a:t>RPM: 10.4 / 14.2</a:t>
            </a:r>
          </a:p>
        </p:txBody>
      </p:sp>
      <p:sp>
        <p:nvSpPr>
          <p:cNvPr id="100288" name="A2"/>
          <p:cNvSpPr txBox="1"/>
          <p:nvPr/>
        </p:nvSpPr>
        <p:spPr>
          <a:xfrm xmlns:a="http://schemas.openxmlformats.org/drawingml/2006/main">
            <a:off x="5580000" y="306000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484F58"/>
                </a:solidFill>
              </a:rPr>
              <a:t>▶</a:t>
            </a:r>
          </a:p>
        </p:txBody>
      </p:sp>
      <p:sp>
        <p:nvSpPr>
          <p:cNvPr id="100289" name="S3Bg"/>
          <p:cNvSpPr txBox="1"/>
          <p:nvPr/>
        </p:nvSpPr>
        <p:spPr>
          <a:xfrm xmlns:a="http://schemas.openxmlformats.org/drawingml/2006/main">
            <a:off x="6048000" y="1440000"/>
            <a:ext cx="2232000" cy="37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85149"/>
              </a:solidFill>
            </a:endParaRPr>
          </a:p>
        </p:txBody>
      </p:sp>
      <p:sp>
        <p:nvSpPr>
          <p:cNvPr id="100290" name="S3N"/>
          <p:cNvSpPr txBox="1"/>
          <p:nvPr/>
        </p:nvSpPr>
        <p:spPr>
          <a:xfrm xmlns:a="http://schemas.openxmlformats.org/drawingml/2006/main">
            <a:off x="6156000" y="1512000"/>
            <a:ext cx="7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F85149"/>
                </a:solidFill>
              </a:rPr>
              <a:t>03</a:t>
            </a:r>
          </a:p>
        </p:txBody>
      </p:sp>
      <p:sp>
        <p:nvSpPr>
          <p:cNvPr id="100291" name="S3T"/>
          <p:cNvSpPr txBox="1"/>
          <p:nvPr/>
        </p:nvSpPr>
        <p:spPr>
          <a:xfrm xmlns:a="http://schemas.openxmlformats.org/drawingml/2006/main">
            <a:off x="6156000" y="1944000"/>
            <a:ext cx="2016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E6EDF3"/>
                </a:solidFill>
              </a:rPr>
              <a:t>Risk</a:t>
            </a:r>
          </a:p>
          <a:p xmlns:a="http://schemas.openxmlformats.org/drawingml/2006/main">
            <a:r>
              <a:rPr lang="en-US" sz="1400" b="1">
                <a:solidFill>
                  <a:srgbClr val="E6EDF3"/>
                </a:solidFill>
              </a:rPr>
              <a:t>Assessed</a:t>
            </a:r>
          </a:p>
        </p:txBody>
      </p:sp>
      <p:sp>
        <p:nvSpPr>
          <p:cNvPr id="100292" name="S3D"/>
          <p:cNvSpPr txBox="1"/>
          <p:nvPr/>
        </p:nvSpPr>
        <p:spPr>
          <a:xfrm xmlns:a="http://schemas.openxmlformats.org/drawingml/2006/main">
            <a:off x="6156000" y="2448000"/>
            <a:ext cx="2016000" cy="16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F85149"/>
                </a:solidFill>
              </a:rPr>
              <a:t>Health: 61%</a:t>
            </a:r>
          </a:p>
          <a:p xmlns:a="http://schemas.openxmlformats.org/drawingml/2006/main">
            <a:r>
              <a:rPr lang="en-US" sz="1000">
                <a:solidFill>
                  <a:srgbClr val="F85149"/>
                </a:solidFill>
              </a:rPr>
              <a:t>Failure Risk: 72%</a:t>
            </a:r>
          </a:p>
          <a:p xmlns:a="http://schemas.openxmlformats.org/drawingml/2006/main">
            <a:r>
              <a:rPr lang="en-US" sz="1000">
                <a:solidFill>
                  <a:srgbClr val="F85149"/>
                </a:solidFill>
              </a:rPr>
              <a:t>Risk Level: HIGH</a:t>
            </a:r>
          </a:p>
          <a:p xmlns:a="http://schemas.openxmlformats.org/drawingml/2006/main">
            <a:r>
              <a:rPr lang="en-US" sz="1000">
                <a:solidFill>
                  <a:srgbClr val="F85149"/>
                </a:solidFill>
              </a:rPr>
              <a:t/>
            </a:r>
          </a:p>
          <a:p xmlns:a="http://schemas.openxmlformats.org/drawingml/2006/main">
            <a:r>
              <a:rPr lang="en-US" sz="1000">
                <a:solidFill>
                  <a:srgbClr val="F85149"/>
                </a:solidFill>
              </a:rPr>
              <a:t>Gearbox degradation</a:t>
            </a:r>
          </a:p>
          <a:p xmlns:a="http://schemas.openxmlformats.org/drawingml/2006/main">
            <a:r>
              <a:rPr lang="en-US" sz="1000">
                <a:solidFill>
                  <a:srgbClr val="F85149"/>
                </a:solidFill>
              </a:rPr>
              <a:t>pattern detected</a:t>
            </a:r>
          </a:p>
          <a:p xmlns:a="http://schemas.openxmlformats.org/drawingml/2006/main">
            <a:r>
              <a:rPr lang="en-US" sz="1000">
                <a:solidFill>
                  <a:srgbClr val="F85149"/>
                </a:solidFill>
              </a:rPr>
              <a:t>27,800 op. hours</a:t>
            </a:r>
          </a:p>
        </p:txBody>
      </p:sp>
      <p:sp>
        <p:nvSpPr>
          <p:cNvPr id="100293" name="A3"/>
          <p:cNvSpPr txBox="1"/>
          <p:nvPr/>
        </p:nvSpPr>
        <p:spPr>
          <a:xfrm xmlns:a="http://schemas.openxmlformats.org/drawingml/2006/main">
            <a:off x="8388000" y="3060000"/>
            <a:ext cx="36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>
                <a:solidFill>
                  <a:srgbClr val="484F58"/>
                </a:solidFill>
              </a:rPr>
              <a:t>▶</a:t>
            </a:r>
          </a:p>
        </p:txBody>
      </p:sp>
      <p:sp>
        <p:nvSpPr>
          <p:cNvPr id="100294" name="S4Bg"/>
          <p:cNvSpPr txBox="1"/>
          <p:nvPr/>
        </p:nvSpPr>
        <p:spPr>
          <a:xfrm xmlns:a="http://schemas.openxmlformats.org/drawingml/2006/main">
            <a:off x="8856000" y="1440000"/>
            <a:ext cx="3240000" cy="37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FB950"/>
              </a:solidFill>
            </a:endParaRPr>
          </a:p>
        </p:txBody>
      </p:sp>
      <p:sp>
        <p:nvSpPr>
          <p:cNvPr id="100295" name="S4N"/>
          <p:cNvSpPr txBox="1"/>
          <p:nvPr/>
        </p:nvSpPr>
        <p:spPr>
          <a:xfrm xmlns:a="http://schemas.openxmlformats.org/drawingml/2006/main">
            <a:off x="8964000" y="1512000"/>
            <a:ext cx="108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3FB950"/>
                </a:solidFill>
              </a:rPr>
              <a:t>04 + 05</a:t>
            </a:r>
          </a:p>
        </p:txBody>
      </p:sp>
      <p:sp>
        <p:nvSpPr>
          <p:cNvPr id="100296" name="S4T"/>
          <p:cNvSpPr txBox="1"/>
          <p:nvPr/>
        </p:nvSpPr>
        <p:spPr>
          <a:xfrm xmlns:a="http://schemas.openxmlformats.org/drawingml/2006/main">
            <a:off x="8964000" y="1944000"/>
            <a:ext cx="2988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E6EDF3"/>
                </a:solidFill>
              </a:rPr>
              <a:t>Grid Impact +</a:t>
            </a:r>
          </a:p>
          <a:p xmlns:a="http://schemas.openxmlformats.org/drawingml/2006/main">
            <a:r>
              <a:rPr lang="en-US" sz="1400" b="1">
                <a:solidFill>
                  <a:srgbClr val="E6EDF3"/>
                </a:solidFill>
              </a:rPr>
              <a:t>Recommendation</a:t>
            </a:r>
          </a:p>
        </p:txBody>
      </p:sp>
      <p:sp>
        <p:nvSpPr>
          <p:cNvPr id="100297" name="S4D"/>
          <p:cNvSpPr txBox="1"/>
          <p:nvPr/>
        </p:nvSpPr>
        <p:spPr>
          <a:xfrm xmlns:a="http://schemas.openxmlformats.org/drawingml/2006/main">
            <a:off x="8964000" y="2448000"/>
            <a:ext cx="2988000" cy="16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3FB950"/>
                </a:solidFill>
              </a:rPr>
              <a:t>Grid deficit: -0.37 MW</a:t>
            </a:r>
          </a:p>
          <a:p xmlns:a="http://schemas.openxmlformats.org/drawingml/2006/main">
            <a:r>
              <a:rPr lang="en-US" sz="1000">
                <a:solidFill>
                  <a:srgbClr val="3FB950"/>
                </a:solidFill>
              </a:rPr>
              <a:t>(minor at grid scale)</a:t>
            </a:r>
          </a:p>
          <a:p xmlns:a="http://schemas.openxmlformats.org/drawingml/2006/main">
            <a:r>
              <a:rPr lang="en-US" sz="1000">
                <a:solidFill>
                  <a:srgbClr val="3FB950"/>
                </a:solidFill>
              </a:rPr>
              <a:t/>
            </a:r>
          </a:p>
          <a:p xmlns:a="http://schemas.openxmlformats.org/drawingml/2006/main">
            <a:r>
              <a:rPr lang="en-US" sz="1000">
                <a:solidFill>
                  <a:srgbClr val="3FB950"/>
                </a:solidFill>
              </a:rPr>
              <a:t>Curtailment risk:</a:t>
            </a:r>
          </a:p>
          <a:p xmlns:a="http://schemas.openxmlformats.org/drawingml/2006/main">
            <a:r>
              <a:rPr lang="en-US" sz="1000">
                <a:solidFill>
                  <a:srgbClr val="3FB950"/>
                </a:solidFill>
              </a:rPr>
              <a:t>45 MW at peak</a:t>
            </a:r>
          </a:p>
          <a:p xmlns:a="http://schemas.openxmlformats.org/drawingml/2006/main">
            <a:r>
              <a:rPr lang="en-US" sz="1000">
                <a:solidFill>
                  <a:srgbClr val="3FB950"/>
                </a:solidFill>
              </a:rPr>
              <a:t/>
            </a:r>
          </a:p>
          <a:p xmlns:a="http://schemas.openxmlformats.org/drawingml/2006/main">
            <a:r>
              <a:rPr lang="en-US" sz="1000">
                <a:solidFill>
                  <a:srgbClr val="3FB950"/>
                </a:solidFill>
              </a:rPr>
              <a:t>→ Dashboard Agent</a:t>
            </a:r>
          </a:p>
          <a:p xmlns:a="http://schemas.openxmlformats.org/drawingml/2006/main">
            <a:r>
              <a:rPr lang="en-US" sz="1000">
                <a:solidFill>
                  <a:srgbClr val="3FB950"/>
                </a:solidFill>
              </a:rPr>
              <a:t>generates priorities</a:t>
            </a:r>
          </a:p>
        </p:txBody>
      </p:sp>
      <p:sp>
        <p:nvSpPr>
          <p:cNvPr id="100298" name="ResultBg"/>
          <p:cNvSpPr txBox="1"/>
          <p:nvPr/>
        </p:nvSpPr>
        <p:spPr>
          <a:xfrm xmlns:a="http://schemas.openxmlformats.org/drawingml/2006/main">
            <a:off x="432000" y="5328000"/>
            <a:ext cx="11700000" cy="10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FB950"/>
              </a:solidFill>
            </a:endParaRPr>
          </a:p>
        </p:txBody>
      </p:sp>
      <p:sp>
        <p:nvSpPr>
          <p:cNvPr id="100299" name="ResultH"/>
          <p:cNvSpPr txBox="1"/>
          <p:nvPr/>
        </p:nvSpPr>
        <p:spPr>
          <a:xfrm xmlns:a="http://schemas.openxmlformats.org/drawingml/2006/main">
            <a:off x="540000" y="5400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3FB950"/>
                </a:solidFill>
              </a:rPr>
              <a:t>⚡  OPERATOR ACTION</a:t>
            </a:r>
          </a:p>
        </p:txBody>
      </p:sp>
      <p:sp>
        <p:nvSpPr>
          <p:cNvPr id="100300" name="ResultT"/>
          <p:cNvSpPr txBox="1"/>
          <p:nvPr/>
        </p:nvSpPr>
        <p:spPr>
          <a:xfrm xmlns:a="http://schemas.openxmlformats.org/drawingml/2006/main">
            <a:off x="540000" y="5688000"/>
            <a:ext cx="1134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E6EDF3"/>
                </a:solidFill>
              </a:rPr>
              <a:t>IBM Granite: "Schedule gearbox inspection on WT-07 within 2–4 days. Reduce load to 70% until inspection. Pre-charge storage by 11:00 for curtailment mitigation. Confidence: 87%."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301" name="Accent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B95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FB950"/>
              </a:solidFill>
            </a:endParaRPr>
          </a:p>
        </p:txBody>
      </p:sp>
      <p:sp>
        <p:nvSpPr>
          <p:cNvPr id="100302" name="SlideLbl"/>
          <p:cNvSpPr txBox="1"/>
          <p:nvPr/>
        </p:nvSpPr>
        <p:spPr>
          <a:xfrm xmlns:a="http://schemas.openxmlformats.org/drawingml/2006/main">
            <a:off x="540000" y="252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FB950"/>
                </a:solidFill>
              </a:rPr>
              <a:t>INNOVATION + IMPACT</a:t>
            </a:r>
          </a:p>
        </p:txBody>
      </p:sp>
      <p:sp>
        <p:nvSpPr>
          <p:cNvPr id="100303" name="SlideH"/>
          <p:cNvSpPr txBox="1"/>
          <p:nvPr/>
        </p:nvSpPr>
        <p:spPr>
          <a:xfrm xmlns:a="http://schemas.openxmlformats.org/drawingml/2006/main">
            <a:off x="540000" y="504000"/>
            <a:ext cx="792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 b="1">
                <a:solidFill>
                  <a:srgbClr val="E6EDF3"/>
                </a:solidFill>
              </a:rPr>
              <a:t>Why GreenPulse AI Is Different</a:t>
            </a:r>
          </a:p>
        </p:txBody>
      </p:sp>
      <p:sp>
        <p:nvSpPr>
          <p:cNvPr id="100304" name="P1Bg"/>
          <p:cNvSpPr txBox="1"/>
          <p:nvPr/>
        </p:nvSpPr>
        <p:spPr>
          <a:xfrm xmlns:a="http://schemas.openxmlformats.org/drawingml/2006/main">
            <a:off x="432000" y="1260000"/>
            <a:ext cx="55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BC8CFF"/>
              </a:solidFill>
            </a:endParaRPr>
          </a:p>
        </p:txBody>
      </p:sp>
      <p:sp>
        <p:nvSpPr>
          <p:cNvPr id="100305" name="P1Icon"/>
          <p:cNvSpPr txBox="1"/>
          <p:nvPr/>
        </p:nvSpPr>
        <p:spPr>
          <a:xfrm xmlns:a="http://schemas.openxmlformats.org/drawingml/2006/main">
            <a:off x="540000" y="1368000"/>
            <a:ext cx="72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>
                <a:solidFill>
                  <a:srgbClr val="BC8CFF"/>
                </a:solidFill>
              </a:rPr>
              <a:t>🧠</a:t>
            </a:r>
          </a:p>
        </p:txBody>
      </p:sp>
      <p:sp>
        <p:nvSpPr>
          <p:cNvPr id="100306" name="P1T"/>
          <p:cNvSpPr txBox="1"/>
          <p:nvPr/>
        </p:nvSpPr>
        <p:spPr>
          <a:xfrm xmlns:a="http://schemas.openxmlformats.org/drawingml/2006/main">
            <a:off x="1332000" y="1368000"/>
            <a:ext cx="4572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BC8CFF"/>
                </a:solidFill>
              </a:rPr>
              <a:t>Multi-Agent Intelligence</a:t>
            </a:r>
          </a:p>
        </p:txBody>
      </p:sp>
      <p:sp>
        <p:nvSpPr>
          <p:cNvPr id="100307" name="P1D"/>
          <p:cNvSpPr txBox="1"/>
          <p:nvPr/>
        </p:nvSpPr>
        <p:spPr>
          <a:xfrm xmlns:a="http://schemas.openxmlformats.org/drawingml/2006/main">
            <a:off x="540000" y="1800000"/>
            <a:ext cx="540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Specialized agents collaborate across weather, forecasting, performance, maintenance and grid domains. Each agent brings focused expertise — not a single model trying to do everything.</a:t>
            </a:r>
          </a:p>
        </p:txBody>
      </p:sp>
      <p:sp>
        <p:nvSpPr>
          <p:cNvPr id="100308" name="P2Bg"/>
          <p:cNvSpPr txBox="1"/>
          <p:nvPr/>
        </p:nvSpPr>
        <p:spPr>
          <a:xfrm xmlns:a="http://schemas.openxmlformats.org/drawingml/2006/main">
            <a:off x="6300000" y="1260000"/>
            <a:ext cx="55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58A6FF"/>
              </a:solidFill>
            </a:endParaRPr>
          </a:p>
        </p:txBody>
      </p:sp>
      <p:sp>
        <p:nvSpPr>
          <p:cNvPr id="100309" name="P2Icon"/>
          <p:cNvSpPr txBox="1"/>
          <p:nvPr/>
        </p:nvSpPr>
        <p:spPr>
          <a:xfrm xmlns:a="http://schemas.openxmlformats.org/drawingml/2006/main">
            <a:off x="6408000" y="1368000"/>
            <a:ext cx="72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>
                <a:solidFill>
                  <a:srgbClr val="58A6FF"/>
                </a:solidFill>
              </a:rPr>
              <a:t>💡</a:t>
            </a:r>
          </a:p>
        </p:txBody>
      </p:sp>
      <p:sp>
        <p:nvSpPr>
          <p:cNvPr id="100310" name="P2T"/>
          <p:cNvSpPr txBox="1"/>
          <p:nvPr/>
        </p:nvSpPr>
        <p:spPr>
          <a:xfrm xmlns:a="http://schemas.openxmlformats.org/drawingml/2006/main">
            <a:off x="7200000" y="1368000"/>
            <a:ext cx="4572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58A6FF"/>
                </a:solidFill>
              </a:rPr>
              <a:t>Explainable Recommendations</a:t>
            </a:r>
          </a:p>
        </p:txBody>
      </p:sp>
      <p:sp>
        <p:nvSpPr>
          <p:cNvPr id="100311" name="P2D"/>
          <p:cNvSpPr txBox="1"/>
          <p:nvPr/>
        </p:nvSpPr>
        <p:spPr>
          <a:xfrm xmlns:a="http://schemas.openxmlformats.org/drawingml/2006/main">
            <a:off x="6408000" y="1800000"/>
            <a:ext cx="540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Every recommendation shows:</a:t>
            </a:r>
          </a:p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WHAT detected  →  WHY it matters  →  ACTION to take  →  CONFIDENCE level</a:t>
            </a:r>
          </a:p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/>
            </a:r>
          </a:p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Operators and judges understand the AI's value immediately.</a:t>
            </a:r>
          </a:p>
        </p:txBody>
      </p:sp>
      <p:sp>
        <p:nvSpPr>
          <p:cNvPr id="100312" name="P3Bg"/>
          <p:cNvSpPr txBox="1"/>
          <p:nvPr/>
        </p:nvSpPr>
        <p:spPr>
          <a:xfrm xmlns:a="http://schemas.openxmlformats.org/drawingml/2006/main">
            <a:off x="432000" y="3312000"/>
            <a:ext cx="55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F59E0B"/>
              </a:solidFill>
            </a:endParaRPr>
          </a:p>
        </p:txBody>
      </p:sp>
      <p:sp>
        <p:nvSpPr>
          <p:cNvPr id="100313" name="P3Icon"/>
          <p:cNvSpPr txBox="1"/>
          <p:nvPr/>
        </p:nvSpPr>
        <p:spPr>
          <a:xfrm xmlns:a="http://schemas.openxmlformats.org/drawingml/2006/main">
            <a:off x="540000" y="3420000"/>
            <a:ext cx="72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>
                <a:solidFill>
                  <a:srgbClr val="F59E0B"/>
                </a:solidFill>
              </a:rPr>
              <a:t>🔗</a:t>
            </a:r>
          </a:p>
        </p:txBody>
      </p:sp>
      <p:sp>
        <p:nvSpPr>
          <p:cNvPr id="100314" name="P3T"/>
          <p:cNvSpPr txBox="1"/>
          <p:nvPr/>
        </p:nvSpPr>
        <p:spPr>
          <a:xfrm xmlns:a="http://schemas.openxmlformats.org/drawingml/2006/main">
            <a:off x="1332000" y="3420000"/>
            <a:ext cx="4572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F59E0B"/>
                </a:solidFill>
              </a:rPr>
              <a:t>Connected Operational Context</a:t>
            </a:r>
          </a:p>
        </p:txBody>
      </p:sp>
      <p:sp>
        <p:nvSpPr>
          <p:cNvPr id="100315" name="P3D"/>
          <p:cNvSpPr txBox="1"/>
          <p:nvPr/>
        </p:nvSpPr>
        <p:spPr>
          <a:xfrm xmlns:a="http://schemas.openxmlformats.org/drawingml/2006/main">
            <a:off x="540000" y="3852000"/>
            <a:ext cx="540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Asset signals + weather + grid demand + maintenance history combined into one analytical context. GreenPulse AI sees the whole picture, not isolated metrics.</a:t>
            </a:r>
          </a:p>
        </p:txBody>
      </p:sp>
      <p:sp>
        <p:nvSpPr>
          <p:cNvPr id="100316" name="P4Bg"/>
          <p:cNvSpPr txBox="1"/>
          <p:nvPr/>
        </p:nvSpPr>
        <p:spPr>
          <a:xfrm xmlns:a="http://schemas.openxmlformats.org/drawingml/2006/main">
            <a:off x="6300000" y="3312000"/>
            <a:ext cx="5580000" cy="18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FB950"/>
              </a:solidFill>
            </a:endParaRPr>
          </a:p>
        </p:txBody>
      </p:sp>
      <p:sp>
        <p:nvSpPr>
          <p:cNvPr id="100317" name="P4Icon"/>
          <p:cNvSpPr txBox="1"/>
          <p:nvPr/>
        </p:nvSpPr>
        <p:spPr>
          <a:xfrm xmlns:a="http://schemas.openxmlformats.org/drawingml/2006/main">
            <a:off x="6408000" y="3420000"/>
            <a:ext cx="720000" cy="72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>
                <a:solidFill>
                  <a:srgbClr val="3FB950"/>
                </a:solidFill>
              </a:rPr>
              <a:t>🤖</a:t>
            </a:r>
          </a:p>
        </p:txBody>
      </p:sp>
      <p:sp>
        <p:nvSpPr>
          <p:cNvPr id="100318" name="P4T"/>
          <p:cNvSpPr txBox="1"/>
          <p:nvPr/>
        </p:nvSpPr>
        <p:spPr>
          <a:xfrm xmlns:a="http://schemas.openxmlformats.org/drawingml/2006/main">
            <a:off x="7200000" y="3420000"/>
            <a:ext cx="4572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>
                <a:solidFill>
                  <a:srgbClr val="3FB950"/>
                </a:solidFill>
              </a:rPr>
              <a:t>IBM Technology Foundation</a:t>
            </a:r>
          </a:p>
        </p:txBody>
      </p:sp>
      <p:sp>
        <p:nvSpPr>
          <p:cNvPr id="100319" name="P4D"/>
          <p:cNvSpPr txBox="1"/>
          <p:nvPr/>
        </p:nvSpPr>
        <p:spPr>
          <a:xfrm xmlns:a="http://schemas.openxmlformats.org/drawingml/2006/main">
            <a:off x="6408000" y="3852000"/>
            <a:ext cx="5400000" cy="11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IBM Granite 13B — enterprise-grade LLM for generation + reasoning</a:t>
            </a:r>
          </a:p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IBM watsonx.ai — managed model inference</a:t>
            </a:r>
          </a:p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IBM Cloud — production-ready deployment</a:t>
            </a:r>
          </a:p>
          <a:p xmlns:a="http://schemas.openxmlformats.org/drawingml/2006/main">
            <a:r>
              <a:rPr lang="en-US" sz="1100">
                <a:solidFill>
                  <a:srgbClr val="7D8590"/>
                </a:solidFill>
              </a:rPr>
              <a:t>Mock fallback — always functional without credentials</a:t>
            </a:r>
          </a:p>
        </p:txBody>
      </p:sp>
      <p:sp>
        <p:nvSpPr>
          <p:cNvPr id="100320" name="ImpactBg"/>
          <p:cNvSpPr txBox="1"/>
          <p:nvPr/>
        </p:nvSpPr>
        <p:spPr>
          <a:xfrm xmlns:a="http://schemas.openxmlformats.org/drawingml/2006/main">
            <a:off x="432000" y="5292000"/>
            <a:ext cx="11700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12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FB950"/>
              </a:solidFill>
            </a:endParaRPr>
          </a:p>
        </p:txBody>
      </p:sp>
      <p:sp>
        <p:nvSpPr>
          <p:cNvPr id="100321" name="ImpactH"/>
          <p:cNvSpPr txBox="1"/>
          <p:nvPr/>
        </p:nvSpPr>
        <p:spPr>
          <a:xfrm xmlns:a="http://schemas.openxmlformats.org/drawingml/2006/main">
            <a:off x="540000" y="5364000"/>
            <a:ext cx="1152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900">
                <a:solidFill>
                  <a:srgbClr val="484F58"/>
                </a:solidFill>
              </a:rPr>
              <a:t>PROTOTYPE IMPACT  ·  Simulated estimates — not measured field results</a:t>
            </a:r>
          </a:p>
        </p:txBody>
      </p:sp>
      <p:sp>
        <p:nvSpPr>
          <p:cNvPr id="100322" name="Imp1"/>
          <p:cNvSpPr txBox="1"/>
          <p:nvPr/>
        </p:nvSpPr>
        <p:spPr>
          <a:xfrm xmlns:a="http://schemas.openxmlformats.org/drawingml/2006/main">
            <a:off x="720000" y="5652000"/>
            <a:ext cx="27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3FB950"/>
                </a:solidFill>
              </a:rPr>
              <a:t>~3.5× faster</a:t>
            </a:r>
          </a:p>
          <a:p xmlns:a="http://schemas.openxmlformats.org/drawingml/2006/main">
            <a:pPr algn="ctr"/>
            <a:r>
              <a:rPr lang="en-US" sz="1200" b="1">
                <a:solidFill>
                  <a:srgbClr val="3FB950"/>
                </a:solidFill>
              </a:rPr>
              <a:t>anomaly detection</a:t>
            </a:r>
          </a:p>
        </p:txBody>
      </p:sp>
      <p:sp>
        <p:nvSpPr>
          <p:cNvPr id="100323" name="Imp2"/>
          <p:cNvSpPr txBox="1"/>
          <p:nvPr/>
        </p:nvSpPr>
        <p:spPr>
          <a:xfrm xmlns:a="http://schemas.openxmlformats.org/drawingml/2006/main">
            <a:off x="3600000" y="5652000"/>
            <a:ext cx="27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58A6FF"/>
                </a:solidFill>
              </a:rPr>
              <a:t>72% failure risk</a:t>
            </a:r>
          </a:p>
          <a:p xmlns:a="http://schemas.openxmlformats.org/drawingml/2006/main">
            <a:pPr algn="ctr"/>
            <a:r>
              <a:rPr lang="en-US" sz="1200" b="1">
                <a:solidFill>
                  <a:srgbClr val="58A6FF"/>
                </a:solidFill>
              </a:rPr>
              <a:t>identified early</a:t>
            </a:r>
          </a:p>
        </p:txBody>
      </p:sp>
      <p:sp>
        <p:nvSpPr>
          <p:cNvPr id="100324" name="Imp3"/>
          <p:cNvSpPr txBox="1"/>
          <p:nvPr/>
        </p:nvSpPr>
        <p:spPr>
          <a:xfrm xmlns:a="http://schemas.openxmlformats.org/drawingml/2006/main">
            <a:off x="6480000" y="5652000"/>
            <a:ext cx="27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F59E0B"/>
                </a:solidFill>
              </a:rPr>
              <a:t>~8% curtailment</a:t>
            </a:r>
          </a:p>
          <a:p xmlns:a="http://schemas.openxmlformats.org/drawingml/2006/main">
            <a:pPr algn="ctr"/>
            <a:r>
              <a:rPr lang="en-US" sz="1200" b="1">
                <a:solidFill>
                  <a:srgbClr val="F59E0B"/>
                </a:solidFill>
              </a:rPr>
              <a:t>reduction potential</a:t>
            </a:r>
          </a:p>
        </p:txBody>
      </p:sp>
      <p:sp>
        <p:nvSpPr>
          <p:cNvPr id="100325" name="Imp4"/>
          <p:cNvSpPr txBox="1"/>
          <p:nvPr/>
        </p:nvSpPr>
        <p:spPr>
          <a:xfrm xmlns:a="http://schemas.openxmlformats.org/drawingml/2006/main">
            <a:off x="9360000" y="5652000"/>
            <a:ext cx="27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200" b="1">
                <a:solidFill>
                  <a:srgbClr val="BC8CFF"/>
                </a:solidFill>
              </a:rPr>
              <a:t>4,280 MWh</a:t>
            </a:r>
          </a:p>
          <a:p xmlns:a="http://schemas.openxmlformats.org/drawingml/2006/main">
            <a:pPr algn="ctr"/>
            <a:r>
              <a:rPr lang="en-US" sz="1200" b="1">
                <a:solidFill>
                  <a:srgbClr val="BC8CFF"/>
                </a:solidFill>
              </a:rPr>
              <a:t>daily forecast visibility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/>
      <p:sp>
        <p:nvSpPr>
          <p:cNvPr id="100326" name="AccentBar"/>
          <p:cNvSpPr txBox="1"/>
          <p:nvPr/>
        </p:nvSpPr>
        <p:spPr>
          <a:xfrm xmlns:a="http://schemas.openxmlformats.org/drawingml/2006/main">
            <a:off x="0" y="0"/>
            <a:ext cx="12193200" cy="1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B95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FB950"/>
              </a:solidFill>
            </a:endParaRPr>
          </a:p>
        </p:txBody>
      </p:sp>
      <p:sp>
        <p:nvSpPr>
          <p:cNvPr id="100327" name="SlideLbl"/>
          <p:cNvSpPr txBox="1"/>
          <p:nvPr/>
        </p:nvSpPr>
        <p:spPr>
          <a:xfrm xmlns:a="http://schemas.openxmlformats.org/drawingml/2006/main">
            <a:off x="540000" y="288000"/>
            <a:ext cx="54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1">
                <a:solidFill>
                  <a:srgbClr val="3FB950"/>
                </a:solidFill>
              </a:rPr>
              <a:t>FUTURE ROADMAP + CLOSING</a:t>
            </a:r>
          </a:p>
        </p:txBody>
      </p:sp>
      <p:sp>
        <p:nvSpPr>
          <p:cNvPr id="100328" name="SlideH"/>
          <p:cNvSpPr txBox="1"/>
          <p:nvPr/>
        </p:nvSpPr>
        <p:spPr>
          <a:xfrm xmlns:a="http://schemas.openxmlformats.org/drawingml/2006/main">
            <a:off x="540000" y="540000"/>
            <a:ext cx="7920000" cy="82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 b="1">
                <a:solidFill>
                  <a:srgbClr val="E6EDF3"/>
                </a:solidFill>
              </a:rPr>
              <a:t>From Hackathon Prototype to</a:t>
            </a:r>
          </a:p>
          <a:p xmlns:a="http://schemas.openxmlformats.org/drawingml/2006/main">
            <a:r>
              <a:rPr lang="en-US" sz="2200" b="1">
                <a:solidFill>
                  <a:srgbClr val="E6EDF3"/>
                </a:solidFill>
              </a:rPr>
              <a:t>Renewable Energy Operations Platform</a:t>
            </a:r>
          </a:p>
        </p:txBody>
      </p:sp>
      <p:sp>
        <p:nvSpPr>
          <p:cNvPr id="100329" name="Rd1Bg"/>
          <p:cNvSpPr txBox="1"/>
          <p:nvPr/>
        </p:nvSpPr>
        <p:spPr>
          <a:xfrm xmlns:a="http://schemas.openxmlformats.org/drawingml/2006/main">
            <a:off x="432000" y="1620000"/>
            <a:ext cx="3420000" cy="37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FB950"/>
              </a:solidFill>
            </a:endParaRPr>
          </a:p>
        </p:txBody>
      </p:sp>
      <p:sp>
        <p:nvSpPr>
          <p:cNvPr id="100330" name="Rd1Lbl"/>
          <p:cNvSpPr txBox="1"/>
          <p:nvPr/>
        </p:nvSpPr>
        <p:spPr>
          <a:xfrm xmlns:a="http://schemas.openxmlformats.org/drawingml/2006/main">
            <a:off x="540000" y="1692000"/>
            <a:ext cx="32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3FB950"/>
                </a:solidFill>
              </a:rPr>
              <a:t>TODAY</a:t>
            </a:r>
          </a:p>
        </p:txBody>
      </p:sp>
      <p:sp>
        <p:nvSpPr>
          <p:cNvPr id="100331" name="Rd1Sub"/>
          <p:cNvSpPr txBox="1"/>
          <p:nvPr/>
        </p:nvSpPr>
        <p:spPr>
          <a:xfrm xmlns:a="http://schemas.openxmlformats.org/drawingml/2006/main">
            <a:off x="540000" y="1980000"/>
            <a:ext cx="32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7D8590"/>
                </a:solidFill>
              </a:rPr>
              <a:t>Hackathon Prototype</a:t>
            </a:r>
          </a:p>
        </p:txBody>
      </p:sp>
      <p:sp>
        <p:nvSpPr>
          <p:cNvPr id="100332" name="Rd1D"/>
          <p:cNvSpPr txBox="1"/>
          <p:nvPr/>
        </p:nvSpPr>
        <p:spPr>
          <a:xfrm xmlns:a="http://schemas.openxmlformats.org/drawingml/2006/main">
            <a:off x="540000" y="2304000"/>
            <a:ext cx="32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3FB950"/>
                </a:solidFill>
              </a:rPr>
              <a:t>✓  16 simulated assets</a:t>
            </a:r>
          </a:p>
          <a:p xmlns:a="http://schemas.openxmlformats.org/drawingml/2006/main">
            <a:r>
              <a:rPr lang="en-US" sz="1000">
                <a:solidFill>
                  <a:srgbClr val="3FB950"/>
                </a:solidFill>
              </a:rPr>
              <a:t>✓  5 specialized AI agents</a:t>
            </a:r>
          </a:p>
          <a:p xmlns:a="http://schemas.openxmlformats.org/drawingml/2006/main">
            <a:r>
              <a:rPr lang="en-US" sz="1000">
                <a:solidFill>
                  <a:srgbClr val="3FB950"/>
                </a:solidFill>
              </a:rPr>
              <a:t>✓  IBM Granite integration</a:t>
            </a:r>
          </a:p>
          <a:p xmlns:a="http://schemas.openxmlformats.org/drawingml/2006/main">
            <a:r>
              <a:rPr lang="en-US" sz="1000">
                <a:solidFill>
                  <a:srgbClr val="3FB950"/>
                </a:solidFill>
              </a:rPr>
              <a:t>✓  Command Center</a:t>
            </a:r>
          </a:p>
          <a:p xmlns:a="http://schemas.openxmlformats.org/drawingml/2006/main">
            <a:r>
              <a:rPr lang="en-US" sz="1000">
                <a:solidFill>
                  <a:srgbClr val="3FB950"/>
                </a:solidFill>
              </a:rPr>
              <a:t>✓  Predictive maintenance</a:t>
            </a:r>
          </a:p>
          <a:p xmlns:a="http://schemas.openxmlformats.org/drawingml/2006/main">
            <a:r>
              <a:rPr lang="en-US" sz="1000">
                <a:solidFill>
                  <a:srgbClr val="3FB950"/>
                </a:solidFill>
              </a:rPr>
              <a:t>✓  Generation forecasting</a:t>
            </a:r>
          </a:p>
          <a:p xmlns:a="http://schemas.openxmlformats.org/drawingml/2006/main">
            <a:r>
              <a:rPr lang="en-US" sz="1000">
                <a:solidFill>
                  <a:srgbClr val="3FB950"/>
                </a:solidFill>
              </a:rPr>
              <a:t>✓  Grid optimization</a:t>
            </a:r>
          </a:p>
          <a:p xmlns:a="http://schemas.openxmlformats.org/drawingml/2006/main">
            <a:r>
              <a:rPr lang="en-US" sz="1000">
                <a:solidFill>
                  <a:srgbClr val="3FB950"/>
                </a:solidFill>
              </a:rPr>
              <a:t>✓  AI Copilot chat</a:t>
            </a:r>
          </a:p>
          <a:p xmlns:a="http://schemas.openxmlformats.org/drawingml/2006/main">
            <a:r>
              <a:rPr lang="en-US" sz="1000">
                <a:solidFill>
                  <a:srgbClr val="3FB950"/>
                </a:solidFill>
              </a:rPr>
              <a:t>✓  Agent activity timeline</a:t>
            </a:r>
          </a:p>
          <a:p xmlns:a="http://schemas.openxmlformats.org/drawingml/2006/main">
            <a:r>
              <a:rPr lang="en-US" sz="1000">
                <a:solidFill>
                  <a:srgbClr val="3FB950"/>
                </a:solidFill>
              </a:rPr>
              <a:t>✓  Alert management</a:t>
            </a:r>
          </a:p>
          <a:p xmlns:a="http://schemas.openxmlformats.org/drawingml/2006/main">
            <a:r>
              <a:rPr lang="en-US" sz="1000">
                <a:solidFill>
                  <a:srgbClr val="3FB950"/>
                </a:solidFill>
              </a:rPr>
              <a:t>✓  Gujarat schematic map</a:t>
            </a:r>
          </a:p>
          <a:p xmlns:a="http://schemas.openxmlformats.org/drawingml/2006/main">
            <a:r>
              <a:rPr lang="en-US" sz="1000">
                <a:solidFill>
                  <a:srgbClr val="3FB950"/>
                </a:solidFill>
              </a:rPr>
              <a:t>✓  Architecture page</a:t>
            </a:r>
          </a:p>
          <a:p xmlns:a="http://schemas.openxmlformats.org/drawingml/2006/main">
            <a:r>
              <a:rPr lang="en-US" sz="1000">
                <a:solidFill>
                  <a:srgbClr val="3FB950"/>
                </a:solidFill>
              </a:rPr>
              <a:t>✓  Demo scenarios</a:t>
            </a:r>
          </a:p>
        </p:txBody>
      </p:sp>
      <p:sp>
        <p:nvSpPr>
          <p:cNvPr id="100333" name="Arr1"/>
          <p:cNvSpPr txBox="1"/>
          <p:nvPr/>
        </p:nvSpPr>
        <p:spPr>
          <a:xfrm xmlns:a="http://schemas.openxmlformats.org/drawingml/2006/main">
            <a:off x="3996000" y="3348000"/>
            <a:ext cx="432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>
                <a:solidFill>
                  <a:srgbClr val="484F58"/>
                </a:solidFill>
              </a:rPr>
              <a:t>→</a:t>
            </a:r>
          </a:p>
        </p:txBody>
      </p:sp>
      <p:sp>
        <p:nvSpPr>
          <p:cNvPr id="100334" name="Rd2Bg"/>
          <p:cNvSpPr txBox="1"/>
          <p:nvPr/>
        </p:nvSpPr>
        <p:spPr>
          <a:xfrm xmlns:a="http://schemas.openxmlformats.org/drawingml/2006/main">
            <a:off x="4500000" y="1620000"/>
            <a:ext cx="3420000" cy="37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58A6FF"/>
              </a:solidFill>
            </a:endParaRPr>
          </a:p>
        </p:txBody>
      </p:sp>
      <p:sp>
        <p:nvSpPr>
          <p:cNvPr id="100335" name="Rd2Lbl"/>
          <p:cNvSpPr txBox="1"/>
          <p:nvPr/>
        </p:nvSpPr>
        <p:spPr>
          <a:xfrm xmlns:a="http://schemas.openxmlformats.org/drawingml/2006/main">
            <a:off x="4608000" y="1692000"/>
            <a:ext cx="32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58A6FF"/>
                </a:solidFill>
              </a:rPr>
              <a:t>NEXT</a:t>
            </a:r>
          </a:p>
        </p:txBody>
      </p:sp>
      <p:sp>
        <p:nvSpPr>
          <p:cNvPr id="100336" name="Rd2Sub"/>
          <p:cNvSpPr txBox="1"/>
          <p:nvPr/>
        </p:nvSpPr>
        <p:spPr>
          <a:xfrm xmlns:a="http://schemas.openxmlformats.org/drawingml/2006/main">
            <a:off x="4608000" y="1980000"/>
            <a:ext cx="32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7D8590"/>
                </a:solidFill>
              </a:rPr>
              <a:t>Production Deployment</a:t>
            </a:r>
          </a:p>
        </p:txBody>
      </p:sp>
      <p:sp>
        <p:nvSpPr>
          <p:cNvPr id="100337" name="Rd2D"/>
          <p:cNvSpPr txBox="1"/>
          <p:nvPr/>
        </p:nvSpPr>
        <p:spPr>
          <a:xfrm xmlns:a="http://schemas.openxmlformats.org/drawingml/2006/main">
            <a:off x="4608000" y="2304000"/>
            <a:ext cx="32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58A6FF"/>
                </a:solidFill>
              </a:rPr>
              <a:t>→  Real SCADA integration</a:t>
            </a:r>
          </a:p>
          <a:p xmlns:a="http://schemas.openxmlformats.org/drawingml/2006/main">
            <a:r>
              <a:rPr lang="en-US" sz="1000">
                <a:solidFill>
                  <a:srgbClr val="58A6FF"/>
                </a:solidFill>
              </a:rPr>
              <a:t>→  IoT sensor data streams</a:t>
            </a:r>
          </a:p>
          <a:p xmlns:a="http://schemas.openxmlformats.org/drawingml/2006/main">
            <a:r>
              <a:rPr lang="en-US" sz="1000">
                <a:solidFill>
                  <a:srgbClr val="58A6FF"/>
                </a:solidFill>
              </a:rPr>
              <a:t>→  Live weather APIs</a:t>
            </a:r>
          </a:p>
          <a:p xmlns:a="http://schemas.openxmlformats.org/drawingml/2006/main">
            <a:r>
              <a:rPr lang="en-US" sz="1000">
                <a:solidFill>
                  <a:srgbClr val="58A6FF"/>
                </a:solidFill>
              </a:rPr>
              <a:t>     (NASA POWER / ERA5)</a:t>
            </a:r>
          </a:p>
          <a:p xmlns:a="http://schemas.openxmlformats.org/drawingml/2006/main">
            <a:r>
              <a:rPr lang="en-US" sz="1000">
                <a:solidFill>
                  <a:srgbClr val="58A6FF"/>
                </a:solidFill>
              </a:rPr>
              <a:t>→  Digital asset twins</a:t>
            </a:r>
          </a:p>
          <a:p xmlns:a="http://schemas.openxmlformats.org/drawingml/2006/main">
            <a:r>
              <a:rPr lang="en-US" sz="1000">
                <a:solidFill>
                  <a:srgbClr val="58A6FF"/>
                </a:solidFill>
              </a:rPr>
              <a:t>→  Battery optimization</a:t>
            </a:r>
          </a:p>
          <a:p xmlns:a="http://schemas.openxmlformats.org/drawingml/2006/main">
            <a:r>
              <a:rPr lang="en-US" sz="1000">
                <a:solidFill>
                  <a:srgbClr val="58A6FF"/>
                </a:solidFill>
              </a:rPr>
              <a:t>→  Real-time grid APIs</a:t>
            </a:r>
          </a:p>
          <a:p xmlns:a="http://schemas.openxmlformats.org/drawingml/2006/main">
            <a:r>
              <a:rPr lang="en-US" sz="1000">
                <a:solidFill>
                  <a:srgbClr val="58A6FF"/>
                </a:solidFill>
              </a:rPr>
              <a:t>→  Verified GPS mapping</a:t>
            </a:r>
          </a:p>
          <a:p xmlns:a="http://schemas.openxmlformats.org/drawingml/2006/main">
            <a:r>
              <a:rPr lang="en-US" sz="1000">
                <a:solidFill>
                  <a:srgbClr val="58A6FF"/>
                </a:solidFill>
              </a:rPr>
              <a:t>→  Multi-user roles</a:t>
            </a:r>
          </a:p>
        </p:txBody>
      </p:sp>
      <p:sp>
        <p:nvSpPr>
          <p:cNvPr id="100338" name="Arr2"/>
          <p:cNvSpPr txBox="1"/>
          <p:nvPr/>
        </p:nvSpPr>
        <p:spPr>
          <a:xfrm xmlns:a="http://schemas.openxmlformats.org/drawingml/2006/main">
            <a:off x="8064000" y="3348000"/>
            <a:ext cx="432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2400">
                <a:solidFill>
                  <a:srgbClr val="484F58"/>
                </a:solidFill>
              </a:rPr>
              <a:t>→</a:t>
            </a:r>
          </a:p>
        </p:txBody>
      </p:sp>
      <p:sp>
        <p:nvSpPr>
          <p:cNvPr id="100339" name="Rd3Bg"/>
          <p:cNvSpPr txBox="1"/>
          <p:nvPr/>
        </p:nvSpPr>
        <p:spPr>
          <a:xfrm xmlns:a="http://schemas.openxmlformats.org/drawingml/2006/main">
            <a:off x="8568000" y="1620000"/>
            <a:ext cx="3420000" cy="37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BC8CFF"/>
              </a:solidFill>
            </a:endParaRPr>
          </a:p>
        </p:txBody>
      </p:sp>
      <p:sp>
        <p:nvSpPr>
          <p:cNvPr id="100340" name="Rd3Lbl"/>
          <p:cNvSpPr txBox="1"/>
          <p:nvPr/>
        </p:nvSpPr>
        <p:spPr>
          <a:xfrm xmlns:a="http://schemas.openxmlformats.org/drawingml/2006/main">
            <a:off x="8676000" y="1692000"/>
            <a:ext cx="324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1">
                <a:solidFill>
                  <a:srgbClr val="BC8CFF"/>
                </a:solidFill>
              </a:rPr>
              <a:t>SCALE</a:t>
            </a:r>
          </a:p>
        </p:txBody>
      </p:sp>
      <p:sp>
        <p:nvSpPr>
          <p:cNvPr id="100341" name="Rd3Sub"/>
          <p:cNvSpPr txBox="1"/>
          <p:nvPr/>
        </p:nvSpPr>
        <p:spPr>
          <a:xfrm xmlns:a="http://schemas.openxmlformats.org/drawingml/2006/main">
            <a:off x="8676000" y="1980000"/>
            <a:ext cx="3240000" cy="1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7D8590"/>
                </a:solidFill>
              </a:rPr>
              <a:t>Enterprise Platform</a:t>
            </a:r>
          </a:p>
        </p:txBody>
      </p:sp>
      <p:sp>
        <p:nvSpPr>
          <p:cNvPr id="100342" name="Rd3D"/>
          <p:cNvSpPr txBox="1"/>
          <p:nvPr/>
        </p:nvSpPr>
        <p:spPr>
          <a:xfrm xmlns:a="http://schemas.openxmlformats.org/drawingml/2006/main">
            <a:off x="8676000" y="2304000"/>
            <a:ext cx="3240000" cy="28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>
                <a:solidFill>
                  <a:srgbClr val="BC8CFF"/>
                </a:solidFill>
              </a:rPr>
              <a:t>→  Multi-site portfolio</a:t>
            </a:r>
          </a:p>
          <a:p xmlns:a="http://schemas.openxmlformats.org/drawingml/2006/main">
            <a:r>
              <a:rPr lang="en-US" sz="1000">
                <a:solidFill>
                  <a:srgbClr val="BC8CFF"/>
                </a:solidFill>
              </a:rPr>
              <a:t>→  Cross-region intelligence</a:t>
            </a:r>
          </a:p>
          <a:p xmlns:a="http://schemas.openxmlformats.org/drawingml/2006/main">
            <a:r>
              <a:rPr lang="en-US" sz="1000">
                <a:solidFill>
                  <a:srgbClr val="BC8CFF"/>
                </a:solidFill>
              </a:rPr>
              <a:t>→  Federated forecasting</a:t>
            </a:r>
          </a:p>
          <a:p xmlns:a="http://schemas.openxmlformats.org/drawingml/2006/main">
            <a:r>
              <a:rPr lang="en-US" sz="1000">
                <a:solidFill>
                  <a:srgbClr val="BC8CFF"/>
                </a:solidFill>
              </a:rPr>
              <a:t>→  Autonomous workflows</a:t>
            </a:r>
          </a:p>
          <a:p xmlns:a="http://schemas.openxmlformats.org/drawingml/2006/main">
            <a:r>
              <a:rPr lang="en-US" sz="1000">
                <a:solidFill>
                  <a:srgbClr val="BC8CFF"/>
                </a:solidFill>
              </a:rPr>
              <a:t>→  Carbon tracking</a:t>
            </a:r>
          </a:p>
          <a:p xmlns:a="http://schemas.openxmlformats.org/drawingml/2006/main">
            <a:r>
              <a:rPr lang="en-US" sz="1000">
                <a:solidFill>
                  <a:srgbClr val="BC8CFF"/>
                </a:solidFill>
              </a:rPr>
              <a:t>→  Grid operator APIs</a:t>
            </a:r>
          </a:p>
          <a:p xmlns:a="http://schemas.openxmlformats.org/drawingml/2006/main">
            <a:r>
              <a:rPr lang="en-US" sz="1000">
                <a:solidFill>
                  <a:srgbClr val="BC8CFF"/>
                </a:solidFill>
              </a:rPr>
              <a:t>→  Utility-scale</a:t>
            </a:r>
          </a:p>
          <a:p xmlns:a="http://schemas.openxmlformats.org/drawingml/2006/main">
            <a:r>
              <a:rPr lang="en-US" sz="1000">
                <a:solidFill>
                  <a:srgbClr val="BC8CFF"/>
                </a:solidFill>
              </a:rPr>
              <a:t>     deployment</a:t>
            </a:r>
          </a:p>
          <a:p xmlns:a="http://schemas.openxmlformats.org/drawingml/2006/main">
            <a:r>
              <a:rPr lang="en-US" sz="1000">
                <a:solidFill>
                  <a:srgbClr val="BC8CFF"/>
                </a:solidFill>
              </a:rPr>
              <a:t>→  Real-time markets</a:t>
            </a:r>
          </a:p>
        </p:txBody>
      </p:sp>
      <p:sp>
        <p:nvSpPr>
          <p:cNvPr id="100343" name="ClosingBg"/>
          <p:cNvSpPr txBox="1"/>
          <p:nvPr/>
        </p:nvSpPr>
        <p:spPr>
          <a:xfrm xmlns:a="http://schemas.openxmlformats.org/drawingml/2006/main">
            <a:off x="0" y="5580000"/>
            <a:ext cx="12193200" cy="13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B22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161B22"/>
              </a:solidFill>
            </a:endParaRPr>
          </a:p>
        </p:txBody>
      </p:sp>
      <p:sp>
        <p:nvSpPr>
          <p:cNvPr id="100344" name="ClosingLine"/>
          <p:cNvSpPr txBox="1"/>
          <p:nvPr/>
        </p:nvSpPr>
        <p:spPr>
          <a:xfrm xmlns:a="http://schemas.openxmlformats.org/drawingml/2006/main">
            <a:off x="0" y="5580000"/>
            <a:ext cx="12193200" cy="2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B95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 sz="800">
              <a:solidFill>
                <a:srgbClr val="3FB950"/>
              </a:solidFill>
            </a:endParaRPr>
          </a:p>
        </p:txBody>
      </p:sp>
      <p:sp>
        <p:nvSpPr>
          <p:cNvPr id="100345" name="ClosingLeaf"/>
          <p:cNvSpPr txBox="1"/>
          <p:nvPr/>
        </p:nvSpPr>
        <p:spPr>
          <a:xfrm xmlns:a="http://schemas.openxmlformats.org/drawingml/2006/main">
            <a:off x="1440000" y="5724000"/>
            <a:ext cx="72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>
                <a:solidFill>
                  <a:srgbClr val="3FB950"/>
                </a:solidFill>
              </a:rPr>
              <a:t>🌿</a:t>
            </a:r>
          </a:p>
        </p:txBody>
      </p:sp>
      <p:sp>
        <p:nvSpPr>
          <p:cNvPr id="100346" name="ClosingBrand"/>
          <p:cNvSpPr txBox="1"/>
          <p:nvPr/>
        </p:nvSpPr>
        <p:spPr>
          <a:xfrm xmlns:a="http://schemas.openxmlformats.org/drawingml/2006/main">
            <a:off x="2340000" y="5796000"/>
            <a:ext cx="504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3FB950"/>
                </a:solidFill>
              </a:rPr>
              <a:t>GreenPulse AI</a:t>
            </a:r>
          </a:p>
        </p:txBody>
      </p:sp>
      <p:sp>
        <p:nvSpPr>
          <p:cNvPr id="100347" name="ClosingTagline"/>
          <p:cNvSpPr txBox="1"/>
          <p:nvPr/>
        </p:nvSpPr>
        <p:spPr>
          <a:xfrm xmlns:a="http://schemas.openxmlformats.org/drawingml/2006/main">
            <a:off x="540000" y="6264000"/>
            <a:ext cx="792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E6EDF3"/>
                </a:solidFill>
              </a:rPr>
              <a:t>Turning Renewable Energy Data Into Intelligent Action.</a:t>
            </a:r>
          </a:p>
        </p:txBody>
      </p:sp>
      <p:sp>
        <p:nvSpPr>
          <p:cNvPr id="100348" name="ClosingTech"/>
          <p:cNvSpPr txBox="1"/>
          <p:nvPr/>
        </p:nvSpPr>
        <p:spPr>
          <a:xfrm xmlns:a="http://schemas.openxmlformats.org/drawingml/2006/main">
            <a:off x="540000" y="6588000"/>
            <a:ext cx="9000000" cy="2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484F58"/>
                </a:solidFill>
              </a:rPr>
              <a:t>IBM Granite  ·  IBM Cloud  ·  Agentic AI  ·  React  ·  TypeScript  ·  Node.js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OfficeCLI/1.0.146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2026-09-02T08:48:16Z</dcterms:created>
  <cp:lastModifiedBy>OfficeCLI</cp:lastModifiedBy>
  <dcterms:modified xsi:type="dcterms:W3CDTF">2026-09-02T08:48:16Z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1.0.146</vt:lpwstr>
  </op:property>
  <op:property fmtid="{D5CDD505-2E9C-101B-9397-08002B2CF9AE}" pid="3" name="OfficeCLI.LastModified">
    <vt:lpwstr xmlns:vt="http://schemas.openxmlformats.org/officeDocument/2006/docPropsVTypes">2026-09-02T08:54:45Z</vt:lpwstr>
  </op:property>
</op:Properties>
</file>